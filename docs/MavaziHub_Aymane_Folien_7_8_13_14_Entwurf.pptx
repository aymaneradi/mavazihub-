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3"/>
  </p:sldMasterIdLst>
  <p:notesMasterIdLst>
    <p:notesMasterId r:id="rId4"/>
  </p:notesMasterIdLst>
  <p:sldIdLst>
    <p:sldId id="262" r:id="rId11"/>
    <p:sldId id="263" r:id="rId12"/>
    <p:sldId id="268" r:id="rId17"/>
    <p:sldId id="269" r:id="rId18"/>
  </p:sldIdLst>
  <p:sldSz cy="6858000" cx="12191675"/>
  <p:notesSz cx="6858000" cy="12191675"/>
  <p:embeddedFontLst>
    <p:embeddedFont>
      <p:font typeface="Raleway"/>
      <p:regular r:id="rId19"/>
      <p:bold r:id="rId20"/>
      <p:italic r:id="rId21"/>
      <p:boldItalic r:id="rId22"/>
    </p:embeddedFont>
    <p:embeddedFont>
      <p:font typeface="Play"/>
      <p:regular r:id="rId23"/>
      <p:bold r:id="rId24"/>
    </p:embeddedFont>
    <p:embeddedFont>
      <p:font typeface="Roboto"/>
      <p:regular r:id="rId25"/>
      <p:bold r:id="rId26"/>
      <p:italic r:id="rId27"/>
      <p:boldItalic r:id="rId28"/>
    </p:embeddedFont>
    <p:embeddedFont>
      <p:font typeface="Lato"/>
      <p:regular r:id="rId29"/>
      <p:bold r:id="rId30"/>
      <p:italic r:id="rId31"/>
      <p:boldItalic r:id="rId32"/>
    </p:embeddedFont>
    <p:embeddedFont>
      <p:font typeface="Roboto Mono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7" Type="http://schemas.openxmlformats.org/officeDocument/2006/relationships/slide" Target="slides/slide3.xml"/><Relationship Id="rId18" Type="http://schemas.openxmlformats.org/officeDocument/2006/relationships/slide" Target="slides/slide4.xml"/><Relationship Id="rId19" Type="http://schemas.openxmlformats.org/officeDocument/2006/relationships/font" Target="fonts/Raleway-regular.fntdata"/><Relationship Id="rId20" Type="http://schemas.openxmlformats.org/officeDocument/2006/relationships/font" Target="fonts/Raleway-bold.fntdata"/><Relationship Id="rId21" Type="http://schemas.openxmlformats.org/officeDocument/2006/relationships/font" Target="fonts/Raleway-italic.fntdata"/><Relationship Id="rId22" Type="http://schemas.openxmlformats.org/officeDocument/2006/relationships/font" Target="fonts/Raleway-boldItalic.fntdata"/><Relationship Id="rId23" Type="http://schemas.openxmlformats.org/officeDocument/2006/relationships/font" Target="fonts/Play-regular.fntdata"/><Relationship Id="rId24" Type="http://schemas.openxmlformats.org/officeDocument/2006/relationships/font" Target="fonts/Play-bold.fntdata"/><Relationship Id="rId25" Type="http://schemas.openxmlformats.org/officeDocument/2006/relationships/font" Target="fonts/Roboto-regular.fntdata"/><Relationship Id="rId26" Type="http://schemas.openxmlformats.org/officeDocument/2006/relationships/font" Target="fonts/Roboto-bold.fntdata"/><Relationship Id="rId27" Type="http://schemas.openxmlformats.org/officeDocument/2006/relationships/font" Target="fonts/Roboto-italic.fntdata"/><Relationship Id="rId28" Type="http://schemas.openxmlformats.org/officeDocument/2006/relationships/font" Target="fonts/Roboto-boldItalic.fntdata"/><Relationship Id="rId29" Type="http://schemas.openxmlformats.org/officeDocument/2006/relationships/font" Target="fonts/Lato-regular.fntdata"/><Relationship Id="rId30" Type="http://schemas.openxmlformats.org/officeDocument/2006/relationships/font" Target="fonts/Lato-bold.fntdata"/><Relationship Id="rId31" Type="http://schemas.openxmlformats.org/officeDocument/2006/relationships/font" Target="fonts/Lato-italic.fntdata"/><Relationship Id="rId32" Type="http://schemas.openxmlformats.org/officeDocument/2006/relationships/font" Target="fonts/Lato-boldItalic.fntdata"/><Relationship Id="rId33" Type="http://schemas.openxmlformats.org/officeDocument/2006/relationships/font" Target="fonts/RobotoMono-regular.fntdata"/><Relationship Id="rId34" Type="http://schemas.openxmlformats.org/officeDocument/2006/relationships/font" Target="fonts/RobotoMono-bold.fntdata"/><Relationship Id="rId35" Type="http://schemas.openxmlformats.org/officeDocument/2006/relationships/font" Target="fonts/RobotoMono-italic.fntdata"/><Relationship Id="rId36" Type="http://schemas.openxmlformats.org/officeDocument/2006/relationships/font" Target="fonts/RobotoMono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Dauer ca. 2 Minuten. Nicht jedes Detail erklären, nur die wichtigsten Use Cases und die Verbindung zum MVP.</a:t>
            </a:r>
            <a:endParaRPr/>
          </a:p>
        </p:txBody>
      </p:sp>
      <p:sp>
        <p:nvSpPr>
          <p:cNvPr id="241" name="Google Shape;24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0" name="Google Shape;26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Dauer ca. 2 Minuten. Kurz begründen: warum dieser Stack für ein Laborprojekt praktisch ist.</a:t>
            </a:r>
            <a:endParaRPr/>
          </a:p>
        </p:txBody>
      </p:sp>
      <p:sp>
        <p:nvSpPr>
          <p:cNvPr id="261" name="Google Shape;26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7" name="Google Shape;35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Dauer Demo: 5 Minuten. Eine Person klickt, eine Person erklärt.</a:t>
            </a:r>
            <a:endParaRPr/>
          </a:p>
        </p:txBody>
      </p:sp>
      <p:sp>
        <p:nvSpPr>
          <p:cNvPr id="358" name="Google Shape;358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0" name="Google Shape;38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Dauer ca. 1 Minute. Abschluss stark und kurz: Nutzen + Erweiterbarkeit.</a:t>
            </a:r>
            <a:endParaRPr/>
          </a:p>
        </p:txBody>
      </p:sp>
      <p:sp>
        <p:nvSpPr>
          <p:cNvPr id="381" name="Google Shape;381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/>
          <p:nvPr/>
        </p:nvSpPr>
        <p:spPr>
          <a:xfrm>
            <a:off x="0" y="0"/>
            <a:ext cx="12191700" cy="650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" name="Google Shape;15;p2"/>
          <p:cNvGrpSpPr/>
          <p:nvPr/>
        </p:nvGrpSpPr>
        <p:grpSpPr>
          <a:xfrm>
            <a:off x="1107121" y="1588427"/>
            <a:ext cx="994316" cy="61102"/>
            <a:chOff x="4580561" y="2589004"/>
            <a:chExt cx="1064464" cy="25200"/>
          </a:xfrm>
        </p:grpSpPr>
        <p:sp>
          <p:nvSpPr>
            <p:cNvPr id="16" name="Google Shape;16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" name="Google Shape;18;p2"/>
          <p:cNvSpPr txBox="1"/>
          <p:nvPr>
            <p:ph type="ctrTitle"/>
          </p:nvPr>
        </p:nvSpPr>
        <p:spPr>
          <a:xfrm>
            <a:off x="972574" y="1763267"/>
            <a:ext cx="10250400" cy="2219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972811" y="4230533"/>
            <a:ext cx="10250400" cy="721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11381433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oogle Shape;22;p3"/>
          <p:cNvGrpSpPr/>
          <p:nvPr/>
        </p:nvGrpSpPr>
        <p:grpSpPr>
          <a:xfrm>
            <a:off x="1107121" y="1588427"/>
            <a:ext cx="994316" cy="61102"/>
            <a:chOff x="4580561" y="2589004"/>
            <a:chExt cx="1064464" cy="25200"/>
          </a:xfrm>
        </p:grpSpPr>
        <p:sp>
          <p:nvSpPr>
            <p:cNvPr id="23" name="Google Shape;23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" name="Google Shape;25;p3"/>
          <p:cNvSpPr txBox="1"/>
          <p:nvPr>
            <p:ph type="title"/>
          </p:nvPr>
        </p:nvSpPr>
        <p:spPr>
          <a:xfrm>
            <a:off x="972574" y="1763267"/>
            <a:ext cx="10251000" cy="202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11381433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/>
          <p:nvPr/>
        </p:nvSpPr>
        <p:spPr>
          <a:xfrm>
            <a:off x="0" y="0"/>
            <a:ext cx="121917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9" name="Google Shape;29;p4"/>
          <p:cNvGrpSpPr/>
          <p:nvPr/>
        </p:nvGrpSpPr>
        <p:grpSpPr>
          <a:xfrm>
            <a:off x="1107121" y="1588427"/>
            <a:ext cx="994316" cy="61102"/>
            <a:chOff x="4580561" y="2589004"/>
            <a:chExt cx="1064464" cy="25200"/>
          </a:xfrm>
        </p:grpSpPr>
        <p:sp>
          <p:nvSpPr>
            <p:cNvPr id="30" name="Google Shape;30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" name="Google Shape;32;p4"/>
          <p:cNvSpPr txBox="1"/>
          <p:nvPr>
            <p:ph type="title"/>
          </p:nvPr>
        </p:nvSpPr>
        <p:spPr>
          <a:xfrm>
            <a:off x="972574" y="1758200"/>
            <a:ext cx="10251300" cy="713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33" name="Google Shape;33;p4"/>
          <p:cNvSpPr txBox="1"/>
          <p:nvPr>
            <p:ph idx="1" type="body"/>
          </p:nvPr>
        </p:nvSpPr>
        <p:spPr>
          <a:xfrm>
            <a:off x="972574" y="2771833"/>
            <a:ext cx="10251300" cy="301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12" type="sldNum"/>
          </p:nvPr>
        </p:nvSpPr>
        <p:spPr>
          <a:xfrm>
            <a:off x="11381433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"/>
          <p:cNvSpPr/>
          <p:nvPr/>
        </p:nvSpPr>
        <p:spPr>
          <a:xfrm>
            <a:off x="0" y="0"/>
            <a:ext cx="121917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7" name="Google Shape;37;p5"/>
          <p:cNvGrpSpPr/>
          <p:nvPr/>
        </p:nvGrpSpPr>
        <p:grpSpPr>
          <a:xfrm>
            <a:off x="1107121" y="1588427"/>
            <a:ext cx="994316" cy="61102"/>
            <a:chOff x="4580561" y="2589004"/>
            <a:chExt cx="1064464" cy="25200"/>
          </a:xfrm>
        </p:grpSpPr>
        <p:sp>
          <p:nvSpPr>
            <p:cNvPr id="38" name="Google Shape;38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" name="Google Shape;39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0" name="Google Shape;40;p5"/>
          <p:cNvSpPr txBox="1"/>
          <p:nvPr>
            <p:ph type="title"/>
          </p:nvPr>
        </p:nvSpPr>
        <p:spPr>
          <a:xfrm>
            <a:off x="972574" y="1758200"/>
            <a:ext cx="10251000" cy="713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41" name="Google Shape;41;p5"/>
          <p:cNvSpPr txBox="1"/>
          <p:nvPr>
            <p:ph idx="1" type="body"/>
          </p:nvPr>
        </p:nvSpPr>
        <p:spPr>
          <a:xfrm>
            <a:off x="972408" y="2771833"/>
            <a:ext cx="5032200" cy="301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2" type="body"/>
          </p:nvPr>
        </p:nvSpPr>
        <p:spPr>
          <a:xfrm>
            <a:off x="6191306" y="2771833"/>
            <a:ext cx="5032200" cy="301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12" type="sldNum"/>
          </p:nvPr>
        </p:nvSpPr>
        <p:spPr>
          <a:xfrm>
            <a:off x="11381433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6"/>
          <p:cNvSpPr/>
          <p:nvPr/>
        </p:nvSpPr>
        <p:spPr>
          <a:xfrm>
            <a:off x="0" y="0"/>
            <a:ext cx="121917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6" name="Google Shape;46;p6"/>
          <p:cNvGrpSpPr/>
          <p:nvPr/>
        </p:nvGrpSpPr>
        <p:grpSpPr>
          <a:xfrm>
            <a:off x="1107121" y="1588427"/>
            <a:ext cx="994316" cy="61102"/>
            <a:chOff x="4580561" y="2589004"/>
            <a:chExt cx="1064464" cy="25200"/>
          </a:xfrm>
        </p:grpSpPr>
        <p:sp>
          <p:nvSpPr>
            <p:cNvPr id="47" name="Google Shape;47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" name="Google Shape;48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9" name="Google Shape;49;p6"/>
          <p:cNvSpPr txBox="1"/>
          <p:nvPr>
            <p:ph type="title"/>
          </p:nvPr>
        </p:nvSpPr>
        <p:spPr>
          <a:xfrm>
            <a:off x="972574" y="1758200"/>
            <a:ext cx="10251000" cy="713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50" name="Google Shape;50;p6"/>
          <p:cNvSpPr txBox="1"/>
          <p:nvPr>
            <p:ph idx="12" type="sldNum"/>
          </p:nvPr>
        </p:nvSpPr>
        <p:spPr>
          <a:xfrm>
            <a:off x="11381433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7"/>
          <p:cNvSpPr/>
          <p:nvPr/>
        </p:nvSpPr>
        <p:spPr>
          <a:xfrm>
            <a:off x="0" y="0"/>
            <a:ext cx="121917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3" name="Google Shape;53;p7"/>
          <p:cNvGrpSpPr/>
          <p:nvPr/>
        </p:nvGrpSpPr>
        <p:grpSpPr>
          <a:xfrm>
            <a:off x="1107121" y="1588427"/>
            <a:ext cx="994316" cy="61102"/>
            <a:chOff x="4580561" y="2589004"/>
            <a:chExt cx="1064464" cy="25200"/>
          </a:xfrm>
        </p:grpSpPr>
        <p:sp>
          <p:nvSpPr>
            <p:cNvPr id="54" name="Google Shape;54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6" name="Google Shape;56;p7"/>
          <p:cNvSpPr txBox="1"/>
          <p:nvPr>
            <p:ph type="title"/>
          </p:nvPr>
        </p:nvSpPr>
        <p:spPr>
          <a:xfrm>
            <a:off x="973307" y="1758200"/>
            <a:ext cx="4401000" cy="1842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57" name="Google Shape;57;p7"/>
          <p:cNvSpPr txBox="1"/>
          <p:nvPr>
            <p:ph idx="1" type="body"/>
          </p:nvPr>
        </p:nvSpPr>
        <p:spPr>
          <a:xfrm>
            <a:off x="961608" y="3708967"/>
            <a:ext cx="4401000" cy="2130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58" name="Google Shape;58;p7"/>
          <p:cNvSpPr txBox="1"/>
          <p:nvPr>
            <p:ph idx="12" type="sldNum"/>
          </p:nvPr>
        </p:nvSpPr>
        <p:spPr>
          <a:xfrm>
            <a:off x="11381433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oogle Shape;60;p8"/>
          <p:cNvGrpSpPr/>
          <p:nvPr/>
        </p:nvGrpSpPr>
        <p:grpSpPr>
          <a:xfrm>
            <a:off x="1107121" y="5558926"/>
            <a:ext cx="994316" cy="61102"/>
            <a:chOff x="4580561" y="2589004"/>
            <a:chExt cx="1064464" cy="25200"/>
          </a:xfrm>
        </p:grpSpPr>
        <p:sp>
          <p:nvSpPr>
            <p:cNvPr id="61" name="Google Shape;61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3" name="Google Shape;63;p8"/>
          <p:cNvSpPr txBox="1"/>
          <p:nvPr>
            <p:ph type="title"/>
          </p:nvPr>
        </p:nvSpPr>
        <p:spPr>
          <a:xfrm>
            <a:off x="972574" y="1152400"/>
            <a:ext cx="9361500" cy="39801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4" name="Google Shape;64;p8"/>
          <p:cNvSpPr txBox="1"/>
          <p:nvPr>
            <p:ph idx="12" type="sldNum"/>
          </p:nvPr>
        </p:nvSpPr>
        <p:spPr>
          <a:xfrm>
            <a:off x="11381433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9"/>
          <p:cNvSpPr/>
          <p:nvPr/>
        </p:nvSpPr>
        <p:spPr>
          <a:xfrm>
            <a:off x="0" y="0"/>
            <a:ext cx="60957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7" name="Google Shape;67;p9"/>
          <p:cNvGrpSpPr/>
          <p:nvPr/>
        </p:nvGrpSpPr>
        <p:grpSpPr>
          <a:xfrm>
            <a:off x="1107121" y="1588427"/>
            <a:ext cx="994316" cy="61102"/>
            <a:chOff x="4580561" y="2589004"/>
            <a:chExt cx="1064464" cy="25200"/>
          </a:xfrm>
        </p:grpSpPr>
        <p:sp>
          <p:nvSpPr>
            <p:cNvPr id="68" name="Google Shape;68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0" name="Google Shape;70;p9"/>
          <p:cNvSpPr txBox="1"/>
          <p:nvPr>
            <p:ph type="title"/>
          </p:nvPr>
        </p:nvSpPr>
        <p:spPr>
          <a:xfrm>
            <a:off x="973307" y="1758200"/>
            <a:ext cx="4401000" cy="2249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71" name="Google Shape;71;p9"/>
          <p:cNvSpPr txBox="1"/>
          <p:nvPr>
            <p:ph idx="1" type="subTitle"/>
          </p:nvPr>
        </p:nvSpPr>
        <p:spPr>
          <a:xfrm>
            <a:off x="966574" y="4215367"/>
            <a:ext cx="4401000" cy="1011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72" name="Google Shape;72;p9"/>
          <p:cNvSpPr txBox="1"/>
          <p:nvPr>
            <p:ph idx="2" type="body"/>
          </p:nvPr>
        </p:nvSpPr>
        <p:spPr>
          <a:xfrm>
            <a:off x="6898783" y="1803500"/>
            <a:ext cx="4499100" cy="4034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73" name="Google Shape;73;p9"/>
          <p:cNvSpPr txBox="1"/>
          <p:nvPr>
            <p:ph idx="12" type="sldNum"/>
          </p:nvPr>
        </p:nvSpPr>
        <p:spPr>
          <a:xfrm>
            <a:off x="11381433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0"/>
          <p:cNvSpPr txBox="1"/>
          <p:nvPr>
            <p:ph idx="1" type="body"/>
          </p:nvPr>
        </p:nvSpPr>
        <p:spPr>
          <a:xfrm>
            <a:off x="966574" y="5830068"/>
            <a:ext cx="10263000" cy="6141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</a:lstStyle>
          <a:p/>
        </p:txBody>
      </p:sp>
      <p:sp>
        <p:nvSpPr>
          <p:cNvPr id="76" name="Google Shape;76;p10"/>
          <p:cNvSpPr txBox="1"/>
          <p:nvPr>
            <p:ph idx="12" type="sldNum"/>
          </p:nvPr>
        </p:nvSpPr>
        <p:spPr>
          <a:xfrm>
            <a:off x="11381433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" name="Google Shape;78;p11"/>
          <p:cNvGrpSpPr/>
          <p:nvPr/>
        </p:nvGrpSpPr>
        <p:grpSpPr>
          <a:xfrm>
            <a:off x="1107121" y="5558926"/>
            <a:ext cx="994316" cy="61102"/>
            <a:chOff x="4580561" y="2589004"/>
            <a:chExt cx="1064464" cy="25200"/>
          </a:xfrm>
        </p:grpSpPr>
        <p:sp>
          <p:nvSpPr>
            <p:cNvPr id="79" name="Google Shape;79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1" name="Google Shape;81;p11"/>
          <p:cNvSpPr txBox="1"/>
          <p:nvPr>
            <p:ph hasCustomPrompt="1" type="title"/>
          </p:nvPr>
        </p:nvSpPr>
        <p:spPr>
          <a:xfrm>
            <a:off x="972574" y="978600"/>
            <a:ext cx="10251000" cy="1659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2" name="Google Shape;82;p11"/>
          <p:cNvSpPr txBox="1"/>
          <p:nvPr>
            <p:ph idx="1" type="body"/>
          </p:nvPr>
        </p:nvSpPr>
        <p:spPr>
          <a:xfrm>
            <a:off x="972574" y="3030517"/>
            <a:ext cx="10251000" cy="2107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>
                <a:solidFill>
                  <a:schemeClr val="lt1"/>
                </a:solidFill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>
                <a:solidFill>
                  <a:schemeClr val="lt1"/>
                </a:solidFill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>
                <a:solidFill>
                  <a:schemeClr val="lt1"/>
                </a:solidFill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>
                <a:solidFill>
                  <a:schemeClr val="lt1"/>
                </a:solidFill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>
                <a:solidFill>
                  <a:schemeClr val="lt1"/>
                </a:solidFill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11"/>
          <p:cNvSpPr txBox="1"/>
          <p:nvPr>
            <p:ph idx="12" type="sldNum"/>
          </p:nvPr>
        </p:nvSpPr>
        <p:spPr>
          <a:xfrm>
            <a:off x="11381433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11381433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VAZI_MASTER">
  <p:cSld name="MAVAZI_MASTER">
    <p:bg>
      <p:bgPr>
        <a:solidFill>
          <a:srgbClr val="FBF7EF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4"/>
          <p:cNvSpPr/>
          <p:nvPr/>
        </p:nvSpPr>
        <p:spPr>
          <a:xfrm>
            <a:off x="0" y="0"/>
            <a:ext cx="12191700" cy="292500"/>
          </a:xfrm>
          <a:prstGeom prst="rect">
            <a:avLst/>
          </a:prstGeom>
          <a:solidFill>
            <a:srgbClr val="17120E"/>
          </a:solidFill>
          <a:ln cap="flat" cmpd="sng" w="12700">
            <a:solidFill>
              <a:srgbClr val="1712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4"/>
          <p:cNvSpPr/>
          <p:nvPr/>
        </p:nvSpPr>
        <p:spPr>
          <a:xfrm>
            <a:off x="0" y="6565392"/>
            <a:ext cx="12191700" cy="292500"/>
          </a:xfrm>
          <a:prstGeom prst="rect">
            <a:avLst/>
          </a:prstGeom>
          <a:solidFill>
            <a:srgbClr val="17120E"/>
          </a:solidFill>
          <a:ln cap="flat" cmpd="sng" w="12700">
            <a:solidFill>
              <a:srgbClr val="1712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4"/>
          <p:cNvSpPr/>
          <p:nvPr/>
        </p:nvSpPr>
        <p:spPr>
          <a:xfrm>
            <a:off x="384048" y="6601968"/>
            <a:ext cx="43890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F2E8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F9F2E8"/>
                </a:solidFill>
                <a:latin typeface="Arial"/>
                <a:ea typeface="Arial"/>
                <a:cs typeface="Arial"/>
                <a:sym typeface="Arial"/>
              </a:rPr>
              <a:t>MavaziHub · L03 Abschlusspräsentation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4"/>
          <p:cNvSpPr/>
          <p:nvPr/>
        </p:nvSpPr>
        <p:spPr>
          <a:xfrm>
            <a:off x="9646920" y="6601968"/>
            <a:ext cx="20574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9F2E8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F9F2E8"/>
                </a:solidFill>
                <a:latin typeface="Arial"/>
                <a:ea typeface="Arial"/>
                <a:cs typeface="Arial"/>
                <a:sym typeface="Arial"/>
              </a:rPr>
              <a:t>NordByte Solutions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4"/>
          <p:cNvSpPr txBox="1"/>
          <p:nvPr>
            <p:ph idx="12" type="sldNum"/>
          </p:nvPr>
        </p:nvSpPr>
        <p:spPr>
          <a:xfrm>
            <a:off x="11795760" y="6601968"/>
            <a:ext cx="8001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0" lvl="0" marL="0" marR="0" algn="l">
              <a:spcBef>
                <a:spcPts val="0"/>
              </a:spcBef>
              <a:buNone/>
              <a:defRPr b="0" i="0" sz="750" u="none" cap="none" strike="noStrike">
                <a:solidFill>
                  <a:srgbClr val="F9F2E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spcBef>
                <a:spcPts val="0"/>
              </a:spcBef>
              <a:buNone/>
              <a:defRPr b="0" i="0" sz="750" u="none" cap="none" strike="noStrike">
                <a:solidFill>
                  <a:srgbClr val="F9F2E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spcBef>
                <a:spcPts val="0"/>
              </a:spcBef>
              <a:buNone/>
              <a:defRPr b="0" i="0" sz="750" u="none" cap="none" strike="noStrike">
                <a:solidFill>
                  <a:srgbClr val="F9F2E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spcBef>
                <a:spcPts val="0"/>
              </a:spcBef>
              <a:buNone/>
              <a:defRPr b="0" i="0" sz="750" u="none" cap="none" strike="noStrike">
                <a:solidFill>
                  <a:srgbClr val="F9F2E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spcBef>
                <a:spcPts val="0"/>
              </a:spcBef>
              <a:buNone/>
              <a:defRPr b="0" i="0" sz="750" u="none" cap="none" strike="noStrike">
                <a:solidFill>
                  <a:srgbClr val="F9F2E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spcBef>
                <a:spcPts val="0"/>
              </a:spcBef>
              <a:buNone/>
              <a:defRPr b="0" i="0" sz="750" u="none" cap="none" strike="noStrike">
                <a:solidFill>
                  <a:srgbClr val="F9F2E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spcBef>
                <a:spcPts val="0"/>
              </a:spcBef>
              <a:buNone/>
              <a:defRPr b="0" i="0" sz="750" u="none" cap="none" strike="noStrike">
                <a:solidFill>
                  <a:srgbClr val="F9F2E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spcBef>
                <a:spcPts val="0"/>
              </a:spcBef>
              <a:buNone/>
              <a:defRPr b="0" i="0" sz="750" u="none" cap="none" strike="noStrike">
                <a:solidFill>
                  <a:srgbClr val="F9F2E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spcBef>
                <a:spcPts val="0"/>
              </a:spcBef>
              <a:buNone/>
              <a:defRPr b="0" i="0" sz="750" u="none" cap="none" strike="noStrike">
                <a:solidFill>
                  <a:srgbClr val="F9F2E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15589" y="593367"/>
            <a:ext cx="113604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15589" y="1536633"/>
            <a:ext cx="113604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Lato"/>
              <a:buChar char="●"/>
              <a:defRPr sz="17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238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○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■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238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●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238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○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238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■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238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●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238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○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238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■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11381433" y="6333134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8F2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0907"/>
          </a:solidFill>
          <a:ln cap="flat" cmpd="sng" w="12700">
            <a:solidFill>
              <a:srgbClr val="0B090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21"/>
          <p:cNvSpPr/>
          <p:nvPr/>
        </p:nvSpPr>
        <p:spPr>
          <a:xfrm>
            <a:off x="621792" y="118872"/>
            <a:ext cx="42976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MavaziHub · African Fashion Store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21"/>
          <p:cNvSpPr/>
          <p:nvPr/>
        </p:nvSpPr>
        <p:spPr>
          <a:xfrm>
            <a:off x="621792" y="621792"/>
            <a:ext cx="329184" cy="329184"/>
          </a:xfrm>
          <a:prstGeom prst="ellipse">
            <a:avLst/>
          </a:prstGeom>
          <a:solidFill>
            <a:srgbClr val="5B2619"/>
          </a:solidFill>
          <a:ln cap="flat" cmpd="sng" w="12700">
            <a:solidFill>
              <a:srgbClr val="5B261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21"/>
          <p:cNvSpPr/>
          <p:nvPr/>
        </p:nvSpPr>
        <p:spPr>
          <a:xfrm>
            <a:off x="667512" y="717804"/>
            <a:ext cx="237744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Arial"/>
              <a:buNone/>
            </a:pPr>
            <a:r>
              <a:rPr b="1" lang="en-US" sz="6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MH</a:t>
            </a:r>
            <a:endParaRPr sz="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21"/>
          <p:cNvSpPr/>
          <p:nvPr/>
        </p:nvSpPr>
        <p:spPr>
          <a:xfrm>
            <a:off x="1024128" y="585216"/>
            <a:ext cx="19202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440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2E3440"/>
                </a:solidFill>
                <a:latin typeface="Arial"/>
                <a:ea typeface="Arial"/>
                <a:cs typeface="Arial"/>
                <a:sym typeface="Arial"/>
              </a:rPr>
              <a:t>MavaziHub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21"/>
          <p:cNvSpPr/>
          <p:nvPr/>
        </p:nvSpPr>
        <p:spPr>
          <a:xfrm>
            <a:off x="1024128" y="877824"/>
            <a:ext cx="201168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752A"/>
              </a:buClr>
              <a:buSzPts val="650"/>
              <a:buFont typeface="Arial"/>
              <a:buNone/>
            </a:pPr>
            <a:r>
              <a:rPr b="1" lang="en-US" sz="650">
                <a:solidFill>
                  <a:srgbClr val="C8752A"/>
                </a:solidFill>
                <a:latin typeface="Arial"/>
                <a:ea typeface="Arial"/>
                <a:cs typeface="Arial"/>
                <a:sym typeface="Arial"/>
              </a:rPr>
              <a:t>African Fashion Store</a:t>
            </a:r>
            <a:endParaRPr sz="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21"/>
          <p:cNvSpPr/>
          <p:nvPr/>
        </p:nvSpPr>
        <p:spPr>
          <a:xfrm>
            <a:off x="713232" y="1243584"/>
            <a:ext cx="667512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32" lIns="73152" spcFirstLastPara="1" rIns="73152" wrap="square" tIns="27432">
            <a:noAutofit/>
          </a:bodyPr>
          <a:lstStyle/>
          <a:p>
            <a:r>
              <a:rPr sz="2700" b="1">
                <a:solidFill>
                  <a:srgbClr val="2E3440"/>
                </a:solidFill>
                <a:latin typeface="Arial"/>
              </a:rPr>
              <a:t>Wichtige Use Cases</a:t>
            </a:r>
          </a:p>
        </p:txBody>
      </p:sp>
      <p:sp>
        <p:nvSpPr>
          <p:cNvPr id="251" name="Google Shape;251;p21"/>
          <p:cNvSpPr/>
          <p:nvPr/>
        </p:nvSpPr>
        <p:spPr>
          <a:xfrm>
            <a:off x="713232" y="1847088"/>
            <a:ext cx="66751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32" lIns="73152" spcFirstLastPara="1" rIns="73152" wrap="square" tIns="27432">
            <a:noAutofit/>
          </a:bodyPr>
          <a:lstStyle/>
          <a:p>
            <a:r>
              <a:rPr sz="1150" b="0">
                <a:solidFill>
                  <a:srgbClr val="77716A"/>
                </a:solidFill>
                <a:latin typeface="Arial"/>
              </a:rPr>
              <a:t>Vom Kundenprozess bis zur internen Bearbeitung</a:t>
            </a:r>
          </a:p>
        </p:txBody>
      </p:sp>
      <p:sp>
        <p:nvSpPr>
          <p:cNvPr id="253" name="Google Shape;253;p21"/>
          <p:cNvSpPr/>
          <p:nvPr/>
        </p:nvSpPr>
        <p:spPr>
          <a:xfrm>
            <a:off x="8823960" y="694944"/>
            <a:ext cx="2651760" cy="310896"/>
          </a:xfrm>
          <a:prstGeom prst="roundRect">
            <a:avLst>
              <a:gd fmla="val 11765" name="adj"/>
            </a:avLst>
          </a:prstGeom>
          <a:solidFill>
            <a:srgbClr val="FFFDF8"/>
          </a:solidFill>
          <a:ln cap="flat" cmpd="sng" w="9525">
            <a:solidFill>
              <a:srgbClr val="E7DD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21"/>
          <p:cNvSpPr/>
          <p:nvPr/>
        </p:nvSpPr>
        <p:spPr>
          <a:xfrm>
            <a:off x="8961120" y="786384"/>
            <a:ext cx="2377440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32" lIns="73152" spcFirstLastPara="1" rIns="73152" wrap="square" tIns="27432">
            <a:noAutofit/>
          </a:bodyPr>
          <a:lstStyle/>
          <a:p>
            <a:r>
              <a:rPr sz="750" b="0">
                <a:solidFill>
                  <a:srgbClr val="77716A"/>
                </a:solidFill>
                <a:latin typeface="Arial"/>
              </a:rPr>
              <a:t>Verantwortlich: Person 3</a:t>
            </a:r>
          </a:p>
        </p:txBody>
      </p:sp>
      <p:sp>
        <p:nvSpPr>
          <p:cNvPr id="255" name="TextBox 254"/>
          <p:cNvSpPr txBox="1"/>
          <p:nvPr/>
        </p:nvSpPr>
        <p:spPr>
          <a:xfrm>
            <a:off x="868680" y="2487168"/>
            <a:ext cx="4937760" cy="347472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r>
              <a:rPr sz="1400" b="1">
                <a:solidFill>
                  <a:srgbClr val="C8752A"/>
                </a:solidFill>
                <a:latin typeface="Arial"/>
              </a:rPr>
              <a:t>Kernprozess aus Kundensicht</a:t>
            </a:r>
          </a:p>
        </p:txBody>
      </p:sp>
      <p:sp>
        <p:nvSpPr>
          <p:cNvPr id="256" name="Rounded Rectangle 255"/>
          <p:cNvSpPr/>
          <p:nvPr/>
        </p:nvSpPr>
        <p:spPr>
          <a:xfrm>
            <a:off x="868680" y="2953512"/>
            <a:ext cx="502920" cy="502920"/>
          </a:xfrm>
          <a:prstGeom prst="roundRect">
            <a:avLst/>
          </a:prstGeom>
          <a:solidFill>
            <a:srgbClr val="C8752A"/>
          </a:solidFill>
          <a:ln w="12700">
            <a:solidFill>
              <a:srgbClr val="C875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57" name="TextBox 256"/>
          <p:cNvSpPr txBox="1"/>
          <p:nvPr/>
        </p:nvSpPr>
        <p:spPr>
          <a:xfrm>
            <a:off x="667512" y="3575304"/>
            <a:ext cx="932688" cy="475488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ctr"/>
            <a:r>
              <a:rPr sz="919" b="0">
                <a:solidFill>
                  <a:srgbClr val="2E3440"/>
                </a:solidFill>
                <a:latin typeface="Arial"/>
              </a:rPr>
              <a:t>Produkt ansehen</a:t>
            </a:r>
          </a:p>
        </p:txBody>
      </p:sp>
      <p:cxnSp>
        <p:nvCxnSpPr>
          <p:cNvPr id="258" name="Connector 257"/>
          <p:cNvCxnSpPr/>
          <p:nvPr/>
        </p:nvCxnSpPr>
        <p:spPr>
          <a:xfrm>
            <a:off x="1371600" y="3209544"/>
            <a:ext cx="484632" cy="0"/>
          </a:xfrm>
          <a:prstGeom prst="line">
            <a:avLst/>
          </a:prstGeom>
          <a:ln w="22860">
            <a:solidFill>
              <a:srgbClr val="C8752A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9" name="Rounded Rectangle 258"/>
          <p:cNvSpPr/>
          <p:nvPr/>
        </p:nvSpPr>
        <p:spPr>
          <a:xfrm>
            <a:off x="1856232" y="2953512"/>
            <a:ext cx="502920" cy="502920"/>
          </a:xfrm>
          <a:prstGeom prst="roundRect">
            <a:avLst/>
          </a:prstGeom>
          <a:solidFill>
            <a:srgbClr val="C8752A"/>
          </a:solidFill>
          <a:ln w="12700">
            <a:solidFill>
              <a:srgbClr val="C875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60" name="TextBox 259"/>
          <p:cNvSpPr txBox="1"/>
          <p:nvPr/>
        </p:nvSpPr>
        <p:spPr>
          <a:xfrm>
            <a:off x="1655064" y="3575304"/>
            <a:ext cx="932688" cy="475488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ctr"/>
            <a:r>
              <a:rPr sz="919" b="0">
                <a:solidFill>
                  <a:srgbClr val="2E3440"/>
                </a:solidFill>
                <a:latin typeface="Arial"/>
              </a:rPr>
              <a:t>In den Warenkorb legen</a:t>
            </a:r>
          </a:p>
        </p:txBody>
      </p:sp>
      <p:cxnSp>
        <p:nvCxnSpPr>
          <p:cNvPr id="261" name="Connector 260"/>
          <p:cNvCxnSpPr/>
          <p:nvPr/>
        </p:nvCxnSpPr>
        <p:spPr>
          <a:xfrm>
            <a:off x="2359152" y="3209544"/>
            <a:ext cx="484632" cy="0"/>
          </a:xfrm>
          <a:prstGeom prst="line">
            <a:avLst/>
          </a:prstGeom>
          <a:ln w="22860">
            <a:solidFill>
              <a:srgbClr val="C8752A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2" name="Rounded Rectangle 261"/>
          <p:cNvSpPr/>
          <p:nvPr/>
        </p:nvSpPr>
        <p:spPr>
          <a:xfrm>
            <a:off x="2843784" y="2953512"/>
            <a:ext cx="502920" cy="502920"/>
          </a:xfrm>
          <a:prstGeom prst="roundRect">
            <a:avLst/>
          </a:prstGeom>
          <a:solidFill>
            <a:srgbClr val="C8752A"/>
          </a:solidFill>
          <a:ln w="12700">
            <a:solidFill>
              <a:srgbClr val="C875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3" name="TextBox 262"/>
          <p:cNvSpPr txBox="1"/>
          <p:nvPr/>
        </p:nvSpPr>
        <p:spPr>
          <a:xfrm>
            <a:off x="2642616" y="3575304"/>
            <a:ext cx="932688" cy="475488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ctr"/>
            <a:r>
              <a:rPr sz="919" b="0">
                <a:solidFill>
                  <a:srgbClr val="2E3440"/>
                </a:solidFill>
                <a:latin typeface="Arial"/>
              </a:rPr>
              <a:t>Bestellung abschließen</a:t>
            </a:r>
          </a:p>
        </p:txBody>
      </p:sp>
      <p:cxnSp>
        <p:nvCxnSpPr>
          <p:cNvPr id="264" name="Connector 263"/>
          <p:cNvCxnSpPr/>
          <p:nvPr/>
        </p:nvCxnSpPr>
        <p:spPr>
          <a:xfrm>
            <a:off x="3346704" y="3209544"/>
            <a:ext cx="484632" cy="0"/>
          </a:xfrm>
          <a:prstGeom prst="line">
            <a:avLst/>
          </a:prstGeom>
          <a:ln w="22860">
            <a:solidFill>
              <a:srgbClr val="C8752A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5" name="Rounded Rectangle 264"/>
          <p:cNvSpPr/>
          <p:nvPr/>
        </p:nvSpPr>
        <p:spPr>
          <a:xfrm>
            <a:off x="3831336" y="2953512"/>
            <a:ext cx="502920" cy="502920"/>
          </a:xfrm>
          <a:prstGeom prst="roundRect">
            <a:avLst/>
          </a:prstGeom>
          <a:solidFill>
            <a:srgbClr val="C8752A"/>
          </a:solidFill>
          <a:ln w="12700">
            <a:solidFill>
              <a:srgbClr val="C875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6" name="TextBox 265"/>
          <p:cNvSpPr txBox="1"/>
          <p:nvPr/>
        </p:nvSpPr>
        <p:spPr>
          <a:xfrm>
            <a:off x="3630168" y="3575304"/>
            <a:ext cx="932688" cy="475488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ctr"/>
            <a:r>
              <a:rPr sz="919" b="0">
                <a:solidFill>
                  <a:srgbClr val="2E3440"/>
                </a:solidFill>
                <a:latin typeface="Arial"/>
              </a:rPr>
              <a:t>Bestellhistorie öffnen</a:t>
            </a:r>
          </a:p>
        </p:txBody>
      </p:sp>
      <p:cxnSp>
        <p:nvCxnSpPr>
          <p:cNvPr id="267" name="Connector 266"/>
          <p:cNvCxnSpPr/>
          <p:nvPr/>
        </p:nvCxnSpPr>
        <p:spPr>
          <a:xfrm>
            <a:off x="4334256" y="3209544"/>
            <a:ext cx="484632" cy="0"/>
          </a:xfrm>
          <a:prstGeom prst="line">
            <a:avLst/>
          </a:prstGeom>
          <a:ln w="22860">
            <a:solidFill>
              <a:srgbClr val="C8752A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8" name="Rounded Rectangle 267"/>
          <p:cNvSpPr/>
          <p:nvPr/>
        </p:nvSpPr>
        <p:spPr>
          <a:xfrm>
            <a:off x="4818888" y="2953512"/>
            <a:ext cx="502920" cy="502920"/>
          </a:xfrm>
          <a:prstGeom prst="roundRect">
            <a:avLst/>
          </a:prstGeom>
          <a:solidFill>
            <a:srgbClr val="C8752A"/>
          </a:solidFill>
          <a:ln w="12700">
            <a:solidFill>
              <a:srgbClr val="C875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69" name="TextBox 268"/>
          <p:cNvSpPr txBox="1"/>
          <p:nvPr/>
        </p:nvSpPr>
        <p:spPr>
          <a:xfrm>
            <a:off x="4617720" y="3575304"/>
            <a:ext cx="932688" cy="475488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ctr"/>
            <a:r>
              <a:rPr sz="919" b="0">
                <a:solidFill>
                  <a:srgbClr val="2E3440"/>
                </a:solidFill>
                <a:latin typeface="Arial"/>
              </a:rPr>
              <a:t>Rücksendung anfragen</a:t>
            </a:r>
          </a:p>
        </p:txBody>
      </p:sp>
      <p:sp>
        <p:nvSpPr>
          <p:cNvPr id="270" name="TextBox 269"/>
          <p:cNvSpPr txBox="1"/>
          <p:nvPr/>
        </p:nvSpPr>
        <p:spPr>
          <a:xfrm>
            <a:off x="6400800" y="2487168"/>
            <a:ext cx="4023360" cy="347472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r>
              <a:rPr sz="1400" b="1">
                <a:solidFill>
                  <a:srgbClr val="C8752A"/>
                </a:solidFill>
                <a:latin typeface="Arial"/>
              </a:rPr>
              <a:t>Rollen im System</a:t>
            </a:r>
          </a:p>
        </p:txBody>
      </p:sp>
      <p:sp>
        <p:nvSpPr>
          <p:cNvPr id="271" name="Rounded Rectangle 270"/>
          <p:cNvSpPr/>
          <p:nvPr/>
        </p:nvSpPr>
        <p:spPr>
          <a:xfrm>
            <a:off x="6400800" y="2880360"/>
            <a:ext cx="1325880" cy="438912"/>
          </a:xfrm>
          <a:prstGeom prst="roundRect">
            <a:avLst/>
          </a:prstGeom>
          <a:solidFill>
            <a:srgbClr val="E0EEE5"/>
          </a:solidFill>
          <a:ln w="12700">
            <a:solidFill>
              <a:srgbClr val="DCD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1">
                <a:solidFill>
                  <a:srgbClr val="2E3440"/>
                </a:solidFill>
                <a:latin typeface="Arial"/>
              </a:rPr>
              <a:t>Kunde</a:t>
            </a:r>
          </a:p>
        </p:txBody>
      </p:sp>
      <p:sp>
        <p:nvSpPr>
          <p:cNvPr id="272" name="Rounded Rectangle 271"/>
          <p:cNvSpPr/>
          <p:nvPr/>
        </p:nvSpPr>
        <p:spPr>
          <a:xfrm>
            <a:off x="8001000" y="2880360"/>
            <a:ext cx="242316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950" b="0">
                <a:solidFill>
                  <a:srgbClr val="2E3440"/>
                </a:solidFill>
                <a:latin typeface="Arial"/>
              </a:rPr>
              <a:t>registrieren, bestellen, Rücksendung anfragen</a:t>
            </a:r>
          </a:p>
        </p:txBody>
      </p:sp>
      <p:cxnSp>
        <p:nvCxnSpPr>
          <p:cNvPr id="273" name="Connector 272"/>
          <p:cNvCxnSpPr/>
          <p:nvPr/>
        </p:nvCxnSpPr>
        <p:spPr>
          <a:xfrm>
            <a:off x="7726679" y="3099815"/>
            <a:ext cx="274321" cy="0"/>
          </a:xfrm>
          <a:prstGeom prst="line">
            <a:avLst/>
          </a:prstGeom>
          <a:ln w="13970">
            <a:solidFill>
              <a:srgbClr val="DCD4CA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4" name="Rounded Rectangle 273"/>
          <p:cNvSpPr/>
          <p:nvPr/>
        </p:nvSpPr>
        <p:spPr>
          <a:xfrm>
            <a:off x="6400800" y="3749039"/>
            <a:ext cx="1325880" cy="438912"/>
          </a:xfrm>
          <a:prstGeom prst="roundRect">
            <a:avLst/>
          </a:prstGeom>
          <a:solidFill>
            <a:srgbClr val="E5EBF4"/>
          </a:solidFill>
          <a:ln w="12700">
            <a:solidFill>
              <a:srgbClr val="DCD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1">
                <a:solidFill>
                  <a:srgbClr val="2E3440"/>
                </a:solidFill>
                <a:latin typeface="Arial"/>
              </a:rPr>
              <a:t>Mitarbeiter</a:t>
            </a:r>
          </a:p>
        </p:txBody>
      </p:sp>
      <p:sp>
        <p:nvSpPr>
          <p:cNvPr id="275" name="Rounded Rectangle 274"/>
          <p:cNvSpPr/>
          <p:nvPr/>
        </p:nvSpPr>
        <p:spPr>
          <a:xfrm>
            <a:off x="8001000" y="3749039"/>
            <a:ext cx="242316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950" b="0">
                <a:solidFill>
                  <a:srgbClr val="2E3440"/>
                </a:solidFill>
                <a:latin typeface="Arial"/>
              </a:rPr>
              <a:t>Produkte und Rücksendungen bearbeiten</a:t>
            </a:r>
          </a:p>
        </p:txBody>
      </p:sp>
      <p:cxnSp>
        <p:nvCxnSpPr>
          <p:cNvPr id="276" name="Connector 275"/>
          <p:cNvCxnSpPr/>
          <p:nvPr/>
        </p:nvCxnSpPr>
        <p:spPr>
          <a:xfrm>
            <a:off x="7726679" y="3968496"/>
            <a:ext cx="274321" cy="0"/>
          </a:xfrm>
          <a:prstGeom prst="line">
            <a:avLst/>
          </a:prstGeom>
          <a:ln w="13970">
            <a:solidFill>
              <a:srgbClr val="DCD4CA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7" name="Rounded Rectangle 276"/>
          <p:cNvSpPr/>
          <p:nvPr/>
        </p:nvSpPr>
        <p:spPr>
          <a:xfrm>
            <a:off x="6400800" y="4617720"/>
            <a:ext cx="1325880" cy="438912"/>
          </a:xfrm>
          <a:prstGeom prst="roundRect">
            <a:avLst/>
          </a:prstGeom>
          <a:solidFill>
            <a:srgbClr val="F2E2D3"/>
          </a:solidFill>
          <a:ln w="12700">
            <a:solidFill>
              <a:srgbClr val="DCD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1">
                <a:solidFill>
                  <a:srgbClr val="2E3440"/>
                </a:solidFill>
                <a:latin typeface="Arial"/>
              </a:rPr>
              <a:t>Admin</a:t>
            </a:r>
          </a:p>
        </p:txBody>
      </p:sp>
      <p:sp>
        <p:nvSpPr>
          <p:cNvPr id="278" name="Rounded Rectangle 277"/>
          <p:cNvSpPr/>
          <p:nvPr/>
        </p:nvSpPr>
        <p:spPr>
          <a:xfrm>
            <a:off x="8001000" y="4617720"/>
            <a:ext cx="242316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950" b="0">
                <a:solidFill>
                  <a:srgbClr val="2E3440"/>
                </a:solidFill>
                <a:latin typeface="Arial"/>
              </a:rPr>
              <a:t>Rollen und Zugriffe verwalten</a:t>
            </a:r>
          </a:p>
        </p:txBody>
      </p:sp>
      <p:cxnSp>
        <p:nvCxnSpPr>
          <p:cNvPr id="279" name="Connector 278"/>
          <p:cNvCxnSpPr/>
          <p:nvPr/>
        </p:nvCxnSpPr>
        <p:spPr>
          <a:xfrm>
            <a:off x="7726679" y="4837176"/>
            <a:ext cx="274321" cy="0"/>
          </a:xfrm>
          <a:prstGeom prst="line">
            <a:avLst/>
          </a:prstGeom>
          <a:ln w="13970">
            <a:solidFill>
              <a:srgbClr val="DCD4CA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0" name="Rounded Rectangle 279"/>
          <p:cNvSpPr/>
          <p:nvPr/>
        </p:nvSpPr>
        <p:spPr>
          <a:xfrm>
            <a:off x="868680" y="5257800"/>
            <a:ext cx="9555480" cy="566928"/>
          </a:xfrm>
          <a:prstGeom prst="roundRect">
            <a:avLst/>
          </a:prstGeom>
          <a:solidFill>
            <a:srgbClr val="F8F5F1"/>
          </a:solidFill>
          <a:ln w="12700">
            <a:solidFill>
              <a:srgbClr val="DCD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1200" b="0">
                <a:solidFill>
                  <a:srgbClr val="2E3440"/>
                </a:solidFill>
                <a:latin typeface="Arial"/>
              </a:rPr>
              <a:t>Fokus der Version 1.0: Ein stabiler Bestell- und Rücksendeprozess, der die Mindestanforderungen des Shops abdeckt.</a:t>
            </a:r>
          </a:p>
        </p:txBody>
      </p:sp>
      <p:sp>
        <p:nvSpPr>
          <p:cNvPr id="281" name="TextBox 280"/>
          <p:cNvSpPr txBox="1"/>
          <p:nvPr/>
        </p:nvSpPr>
        <p:spPr>
          <a:xfrm>
            <a:off x="11109960" y="6355080"/>
            <a:ext cx="54864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77716A"/>
                </a:solidFill>
                <a:latin typeface="Arial"/>
              </a:rPr>
              <a:t>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8F2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2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0907"/>
          </a:solidFill>
          <a:ln cap="flat" cmpd="sng" w="12700">
            <a:solidFill>
              <a:srgbClr val="0B090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22"/>
          <p:cNvSpPr/>
          <p:nvPr/>
        </p:nvSpPr>
        <p:spPr>
          <a:xfrm>
            <a:off x="621792" y="118872"/>
            <a:ext cx="42976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MavaziHub · African Fashion Store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22"/>
          <p:cNvSpPr/>
          <p:nvPr/>
        </p:nvSpPr>
        <p:spPr>
          <a:xfrm>
            <a:off x="621792" y="621792"/>
            <a:ext cx="329184" cy="329184"/>
          </a:xfrm>
          <a:prstGeom prst="ellipse">
            <a:avLst/>
          </a:prstGeom>
          <a:solidFill>
            <a:srgbClr val="5B2619"/>
          </a:solidFill>
          <a:ln cap="flat" cmpd="sng" w="12700">
            <a:solidFill>
              <a:srgbClr val="5B261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2"/>
          <p:cNvSpPr/>
          <p:nvPr/>
        </p:nvSpPr>
        <p:spPr>
          <a:xfrm>
            <a:off x="667512" y="717804"/>
            <a:ext cx="237744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Arial"/>
              <a:buNone/>
            </a:pPr>
            <a:r>
              <a:rPr b="1" lang="en-US" sz="6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MH</a:t>
            </a:r>
            <a:endParaRPr sz="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22"/>
          <p:cNvSpPr/>
          <p:nvPr/>
        </p:nvSpPr>
        <p:spPr>
          <a:xfrm>
            <a:off x="1024128" y="585216"/>
            <a:ext cx="19202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440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2E3440"/>
                </a:solidFill>
                <a:latin typeface="Arial"/>
                <a:ea typeface="Arial"/>
                <a:cs typeface="Arial"/>
                <a:sym typeface="Arial"/>
              </a:rPr>
              <a:t>MavaziHub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22"/>
          <p:cNvSpPr/>
          <p:nvPr/>
        </p:nvSpPr>
        <p:spPr>
          <a:xfrm>
            <a:off x="1024128" y="877824"/>
            <a:ext cx="201168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752A"/>
              </a:buClr>
              <a:buSzPts val="650"/>
              <a:buFont typeface="Arial"/>
              <a:buNone/>
            </a:pPr>
            <a:r>
              <a:rPr b="1" lang="en-US" sz="650">
                <a:solidFill>
                  <a:srgbClr val="C8752A"/>
                </a:solidFill>
                <a:latin typeface="Arial"/>
                <a:ea typeface="Arial"/>
                <a:cs typeface="Arial"/>
                <a:sym typeface="Arial"/>
              </a:rPr>
              <a:t>African Fashion Store</a:t>
            </a:r>
            <a:endParaRPr sz="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22"/>
          <p:cNvSpPr/>
          <p:nvPr/>
        </p:nvSpPr>
        <p:spPr>
          <a:xfrm>
            <a:off x="713232" y="1243584"/>
            <a:ext cx="667512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32" lIns="73152" spcFirstLastPara="1" rIns="73152" wrap="square" tIns="27432">
            <a:noAutofit/>
          </a:bodyPr>
          <a:lstStyle/>
          <a:p>
            <a:r>
              <a:rPr sz="2700" b="1">
                <a:solidFill>
                  <a:srgbClr val="2E3440"/>
                </a:solidFill>
                <a:latin typeface="Arial"/>
              </a:rPr>
              <a:t>Architektur &amp; Tech Stack</a:t>
            </a:r>
          </a:p>
        </p:txBody>
      </p:sp>
      <p:sp>
        <p:nvSpPr>
          <p:cNvPr id="271" name="Google Shape;271;p22"/>
          <p:cNvSpPr/>
          <p:nvPr/>
        </p:nvSpPr>
        <p:spPr>
          <a:xfrm>
            <a:off x="713232" y="1847088"/>
            <a:ext cx="66751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32" lIns="73152" spcFirstLastPara="1" rIns="73152" wrap="square" tIns="27432">
            <a:noAutofit/>
          </a:bodyPr>
          <a:lstStyle/>
          <a:p>
            <a:r>
              <a:rPr sz="1150" b="0">
                <a:solidFill>
                  <a:srgbClr val="77716A"/>
                </a:solidFill>
                <a:latin typeface="Arial"/>
              </a:rPr>
              <a:t>Vom React-Frontend bis zur PostgreSQL-Datenbank</a:t>
            </a:r>
          </a:p>
        </p:txBody>
      </p:sp>
      <p:sp>
        <p:nvSpPr>
          <p:cNvPr id="273" name="Google Shape;273;p22"/>
          <p:cNvSpPr/>
          <p:nvPr/>
        </p:nvSpPr>
        <p:spPr>
          <a:xfrm>
            <a:off x="8823960" y="694944"/>
            <a:ext cx="2651760" cy="310896"/>
          </a:xfrm>
          <a:prstGeom prst="roundRect">
            <a:avLst>
              <a:gd fmla="val 11765" name="adj"/>
            </a:avLst>
          </a:prstGeom>
          <a:solidFill>
            <a:srgbClr val="FFFDF8"/>
          </a:solidFill>
          <a:ln cap="flat" cmpd="sng" w="9525">
            <a:solidFill>
              <a:srgbClr val="E7DD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22"/>
          <p:cNvSpPr/>
          <p:nvPr/>
        </p:nvSpPr>
        <p:spPr>
          <a:xfrm>
            <a:off x="8961120" y="786384"/>
            <a:ext cx="2377440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32" lIns="73152" spcFirstLastPara="1" rIns="73152" wrap="square" tIns="27432">
            <a:noAutofit/>
          </a:bodyPr>
          <a:lstStyle/>
          <a:p>
            <a:r>
              <a:rPr sz="750" b="0">
                <a:solidFill>
                  <a:srgbClr val="77716A"/>
                </a:solidFill>
                <a:latin typeface="Arial"/>
              </a:rPr>
              <a:t>Verantwortlich: Person 3</a:t>
            </a:r>
          </a:p>
        </p:txBody>
      </p:sp>
      <p:sp>
        <p:nvSpPr>
          <p:cNvPr id="275" name="Rounded Rectangle 274"/>
          <p:cNvSpPr/>
          <p:nvPr/>
        </p:nvSpPr>
        <p:spPr>
          <a:xfrm>
            <a:off x="822960" y="2743200"/>
            <a:ext cx="2377440" cy="960120"/>
          </a:xfrm>
          <a:prstGeom prst="roundRect">
            <a:avLst/>
          </a:prstGeom>
          <a:solidFill>
            <a:srgbClr val="E0EEE5"/>
          </a:solidFill>
          <a:ln w="12700">
            <a:solidFill>
              <a:srgbClr val="DCD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>
                <a:solidFill>
                  <a:srgbClr val="2E3440"/>
                </a:solidFill>
                <a:latin typeface="Arial"/>
              </a:rPr>
              <a:t>Frontend</a:t>
            </a:r>
          </a:p>
          <a:p>
            <a:pPr algn="ctr"/>
            <a:r>
              <a:rPr sz="1300" b="1">
                <a:solidFill>
                  <a:srgbClr val="2E3440"/>
                </a:solidFill>
                <a:latin typeface="Arial"/>
              </a:rPr>
              <a:t>React + TypeScript</a:t>
            </a:r>
          </a:p>
        </p:txBody>
      </p:sp>
      <p:sp>
        <p:nvSpPr>
          <p:cNvPr id="276" name="Rounded Rectangle 275"/>
          <p:cNvSpPr/>
          <p:nvPr/>
        </p:nvSpPr>
        <p:spPr>
          <a:xfrm>
            <a:off x="4572000" y="2578608"/>
            <a:ext cx="2560320" cy="1298448"/>
          </a:xfrm>
          <a:prstGeom prst="roundRect">
            <a:avLst/>
          </a:prstGeom>
          <a:solidFill>
            <a:srgbClr val="F2E2D3"/>
          </a:solidFill>
          <a:ln w="12700">
            <a:solidFill>
              <a:srgbClr val="DCD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>
                <a:solidFill>
                  <a:srgbClr val="2E3440"/>
                </a:solidFill>
                <a:latin typeface="Arial"/>
              </a:rPr>
              <a:t>Backend</a:t>
            </a:r>
          </a:p>
          <a:p>
            <a:pPr algn="ctr"/>
            <a:r>
              <a:rPr sz="1300" b="1">
                <a:solidFill>
                  <a:srgbClr val="2E3440"/>
                </a:solidFill>
                <a:latin typeface="Arial"/>
              </a:rPr>
              <a:t>Spring Boot REST-API</a:t>
            </a:r>
          </a:p>
        </p:txBody>
      </p:sp>
      <p:sp>
        <p:nvSpPr>
          <p:cNvPr id="277" name="Rounded Rectangle 276"/>
          <p:cNvSpPr/>
          <p:nvPr/>
        </p:nvSpPr>
        <p:spPr>
          <a:xfrm>
            <a:off x="8458200" y="2743200"/>
            <a:ext cx="2148840" cy="960120"/>
          </a:xfrm>
          <a:prstGeom prst="roundRect">
            <a:avLst/>
          </a:prstGeom>
          <a:solidFill>
            <a:srgbClr val="E5EBF4"/>
          </a:solidFill>
          <a:ln w="12700">
            <a:solidFill>
              <a:srgbClr val="DCD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>
                <a:solidFill>
                  <a:srgbClr val="2E3440"/>
                </a:solidFill>
                <a:latin typeface="Arial"/>
              </a:rPr>
              <a:t>Datenbank</a:t>
            </a:r>
          </a:p>
          <a:p>
            <a:pPr algn="ctr"/>
            <a:r>
              <a:rPr sz="1300" b="1">
                <a:solidFill>
                  <a:srgbClr val="2E3440"/>
                </a:solidFill>
                <a:latin typeface="Arial"/>
              </a:rPr>
              <a:t>PostgreSQL</a:t>
            </a:r>
          </a:p>
        </p:txBody>
      </p:sp>
      <p:cxnSp>
        <p:nvCxnSpPr>
          <p:cNvPr id="278" name="Connector 277"/>
          <p:cNvCxnSpPr/>
          <p:nvPr/>
        </p:nvCxnSpPr>
        <p:spPr>
          <a:xfrm>
            <a:off x="3200400" y="3218688"/>
            <a:ext cx="1371600" cy="0"/>
          </a:xfrm>
          <a:prstGeom prst="line">
            <a:avLst/>
          </a:prstGeom>
          <a:ln w="25400">
            <a:solidFill>
              <a:srgbClr val="C8752A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9" name="TextBox 278"/>
          <p:cNvSpPr txBox="1"/>
          <p:nvPr/>
        </p:nvSpPr>
        <p:spPr>
          <a:xfrm>
            <a:off x="3310128" y="2880360"/>
            <a:ext cx="1005840" cy="237744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ctr"/>
            <a:r>
              <a:rPr sz="1000" b="1">
                <a:solidFill>
                  <a:srgbClr val="77716A"/>
                </a:solidFill>
                <a:latin typeface="Arial"/>
              </a:rPr>
              <a:t>REST</a:t>
            </a:r>
          </a:p>
        </p:txBody>
      </p:sp>
      <p:cxnSp>
        <p:nvCxnSpPr>
          <p:cNvPr id="280" name="Connector 279"/>
          <p:cNvCxnSpPr/>
          <p:nvPr/>
        </p:nvCxnSpPr>
        <p:spPr>
          <a:xfrm>
            <a:off x="7132320" y="3218688"/>
            <a:ext cx="1325880" cy="0"/>
          </a:xfrm>
          <a:prstGeom prst="line">
            <a:avLst/>
          </a:prstGeom>
          <a:ln w="25400">
            <a:solidFill>
              <a:srgbClr val="C8752A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1" name="TextBox 280"/>
          <p:cNvSpPr txBox="1"/>
          <p:nvPr/>
        </p:nvSpPr>
        <p:spPr>
          <a:xfrm>
            <a:off x="7315200" y="2880360"/>
            <a:ext cx="960120" cy="237744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ctr"/>
            <a:r>
              <a:rPr sz="1000" b="1">
                <a:solidFill>
                  <a:srgbClr val="77716A"/>
                </a:solidFill>
                <a:latin typeface="Arial"/>
              </a:rPr>
              <a:t>JPA</a:t>
            </a:r>
          </a:p>
        </p:txBody>
      </p:sp>
      <p:sp>
        <p:nvSpPr>
          <p:cNvPr id="282" name="TextBox 281"/>
          <p:cNvSpPr txBox="1"/>
          <p:nvPr/>
        </p:nvSpPr>
        <p:spPr>
          <a:xfrm>
            <a:off x="4160520" y="4187952"/>
            <a:ext cx="3429000" cy="256032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ctr"/>
            <a:r>
              <a:rPr sz="1200" b="1">
                <a:solidFill>
                  <a:srgbClr val="C8752A"/>
                </a:solidFill>
                <a:latin typeface="Arial"/>
              </a:rPr>
              <a:t>Backend-Module</a:t>
            </a:r>
          </a:p>
        </p:txBody>
      </p:sp>
      <p:sp>
        <p:nvSpPr>
          <p:cNvPr id="283" name="Rounded Rectangle 282"/>
          <p:cNvSpPr/>
          <p:nvPr/>
        </p:nvSpPr>
        <p:spPr>
          <a:xfrm>
            <a:off x="3246120" y="4553712"/>
            <a:ext cx="86868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950" b="1">
                <a:solidFill>
                  <a:srgbClr val="2E3440"/>
                </a:solidFill>
                <a:latin typeface="Arial"/>
              </a:rPr>
              <a:t>Auth</a:t>
            </a:r>
          </a:p>
        </p:txBody>
      </p:sp>
      <p:sp>
        <p:nvSpPr>
          <p:cNvPr id="284" name="Rounded Rectangle 283"/>
          <p:cNvSpPr/>
          <p:nvPr/>
        </p:nvSpPr>
        <p:spPr>
          <a:xfrm>
            <a:off x="4251960" y="4553712"/>
            <a:ext cx="86868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950" b="1">
                <a:solidFill>
                  <a:srgbClr val="2E3440"/>
                </a:solidFill>
                <a:latin typeface="Arial"/>
              </a:rPr>
              <a:t>Product</a:t>
            </a:r>
          </a:p>
        </p:txBody>
      </p:sp>
      <p:sp>
        <p:nvSpPr>
          <p:cNvPr id="285" name="Rounded Rectangle 284"/>
          <p:cNvSpPr/>
          <p:nvPr/>
        </p:nvSpPr>
        <p:spPr>
          <a:xfrm>
            <a:off x="5257800" y="4553712"/>
            <a:ext cx="86868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950" b="1">
                <a:solidFill>
                  <a:srgbClr val="2E3440"/>
                </a:solidFill>
                <a:latin typeface="Arial"/>
              </a:rPr>
              <a:t>Cart</a:t>
            </a:r>
          </a:p>
        </p:txBody>
      </p:sp>
      <p:sp>
        <p:nvSpPr>
          <p:cNvPr id="286" name="Rounded Rectangle 285"/>
          <p:cNvSpPr/>
          <p:nvPr/>
        </p:nvSpPr>
        <p:spPr>
          <a:xfrm>
            <a:off x="6263640" y="4553712"/>
            <a:ext cx="86868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950" b="1">
                <a:solidFill>
                  <a:srgbClr val="2E3440"/>
                </a:solidFill>
                <a:latin typeface="Arial"/>
              </a:rPr>
              <a:t>Order</a:t>
            </a:r>
          </a:p>
        </p:txBody>
      </p:sp>
      <p:sp>
        <p:nvSpPr>
          <p:cNvPr id="287" name="Rounded Rectangle 286"/>
          <p:cNvSpPr/>
          <p:nvPr/>
        </p:nvSpPr>
        <p:spPr>
          <a:xfrm>
            <a:off x="7269480" y="4553712"/>
            <a:ext cx="86868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950" b="1">
                <a:solidFill>
                  <a:srgbClr val="2E3440"/>
                </a:solidFill>
                <a:latin typeface="Arial"/>
              </a:rPr>
              <a:t>Return</a:t>
            </a:r>
          </a:p>
        </p:txBody>
      </p:sp>
      <p:sp>
        <p:nvSpPr>
          <p:cNvPr id="288" name="Rounded Rectangle 287"/>
          <p:cNvSpPr/>
          <p:nvPr/>
        </p:nvSpPr>
        <p:spPr>
          <a:xfrm>
            <a:off x="822960" y="5230368"/>
            <a:ext cx="2880360" cy="585216"/>
          </a:xfrm>
          <a:prstGeom prst="roundRect">
            <a:avLst/>
          </a:prstGeom>
          <a:solidFill>
            <a:srgbClr val="F8F5F1"/>
          </a:solidFill>
          <a:ln w="12700">
            <a:solidFill>
              <a:srgbClr val="DCD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869" b="0">
                <a:solidFill>
                  <a:srgbClr val="2E3440"/>
                </a:solidFill>
                <a:latin typeface="Arial"/>
              </a:rPr>
              <a:t>Shop-Oberfläche</a:t>
            </a:r>
          </a:p>
          <a:p>
            <a:pPr algn="l"/>
            <a:r>
              <a:rPr sz="869" b="0">
                <a:solidFill>
                  <a:srgbClr val="2E3440"/>
                </a:solidFill>
                <a:latin typeface="Arial"/>
              </a:rPr>
              <a:t>Produktliste, Detailseite, Warenkorb, Profil</a:t>
            </a:r>
          </a:p>
        </p:txBody>
      </p:sp>
      <p:sp>
        <p:nvSpPr>
          <p:cNvPr id="289" name="Rounded Rectangle 288"/>
          <p:cNvSpPr/>
          <p:nvPr/>
        </p:nvSpPr>
        <p:spPr>
          <a:xfrm>
            <a:off x="4069080" y="5230368"/>
            <a:ext cx="2880360" cy="585216"/>
          </a:xfrm>
          <a:prstGeom prst="roundRect">
            <a:avLst/>
          </a:prstGeom>
          <a:solidFill>
            <a:srgbClr val="F8F5F1"/>
          </a:solidFill>
          <a:ln w="12700">
            <a:solidFill>
              <a:srgbClr val="DCD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869" b="0">
                <a:solidFill>
                  <a:srgbClr val="2E3440"/>
                </a:solidFill>
                <a:latin typeface="Arial"/>
              </a:rPr>
              <a:t>Security</a:t>
            </a:r>
          </a:p>
          <a:p>
            <a:pPr algn="l"/>
            <a:r>
              <a:rPr sz="869" b="0">
                <a:solidFill>
                  <a:srgbClr val="2E3440"/>
                </a:solidFill>
                <a:latin typeface="Arial"/>
              </a:rPr>
              <a:t>JWT-Login, Rollen: User, Mitarbeiter, Admin</a:t>
            </a:r>
          </a:p>
        </p:txBody>
      </p:sp>
      <p:sp>
        <p:nvSpPr>
          <p:cNvPr id="290" name="Rounded Rectangle 289"/>
          <p:cNvSpPr/>
          <p:nvPr/>
        </p:nvSpPr>
        <p:spPr>
          <a:xfrm>
            <a:off x="7315200" y="5230368"/>
            <a:ext cx="2880360" cy="585216"/>
          </a:xfrm>
          <a:prstGeom prst="roundRect">
            <a:avLst/>
          </a:prstGeom>
          <a:solidFill>
            <a:srgbClr val="F8F5F1"/>
          </a:solidFill>
          <a:ln w="12700">
            <a:solidFill>
              <a:srgbClr val="DCD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869" b="0">
                <a:solidFill>
                  <a:srgbClr val="2E3440"/>
                </a:solidFill>
                <a:latin typeface="Arial"/>
              </a:rPr>
              <a:t>Migrationen</a:t>
            </a:r>
          </a:p>
          <a:p>
            <a:pPr algn="l"/>
            <a:r>
              <a:rPr sz="869" b="0">
                <a:solidFill>
                  <a:srgbClr val="2E3440"/>
                </a:solidFill>
                <a:latin typeface="Arial"/>
              </a:rPr>
              <a:t>Flyway hält die Datenbankstruktur nachvollziehbar</a:t>
            </a:r>
          </a:p>
        </p:txBody>
      </p:sp>
      <p:sp>
        <p:nvSpPr>
          <p:cNvPr id="291" name="TextBox 290"/>
          <p:cNvSpPr txBox="1"/>
          <p:nvPr/>
        </p:nvSpPr>
        <p:spPr>
          <a:xfrm>
            <a:off x="11109960" y="6355080"/>
            <a:ext cx="54864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77716A"/>
                </a:solidFill>
                <a:latin typeface="Arial"/>
              </a:rPr>
              <a:t>08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8F2"/>
        </a:solidFill>
      </p:bgPr>
    </p:bg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27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0907"/>
          </a:solidFill>
          <a:ln cap="flat" cmpd="sng" w="12700">
            <a:solidFill>
              <a:srgbClr val="0B090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27"/>
          <p:cNvSpPr/>
          <p:nvPr/>
        </p:nvSpPr>
        <p:spPr>
          <a:xfrm>
            <a:off x="621792" y="118872"/>
            <a:ext cx="42976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MavaziHub · African Fashion Store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27"/>
          <p:cNvSpPr/>
          <p:nvPr/>
        </p:nvSpPr>
        <p:spPr>
          <a:xfrm>
            <a:off x="8686800" y="118872"/>
            <a:ext cx="283464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L03 Abschlusspräsentation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27"/>
          <p:cNvSpPr/>
          <p:nvPr/>
        </p:nvSpPr>
        <p:spPr>
          <a:xfrm>
            <a:off x="621792" y="621792"/>
            <a:ext cx="329184" cy="329184"/>
          </a:xfrm>
          <a:prstGeom prst="ellipse">
            <a:avLst/>
          </a:prstGeom>
          <a:solidFill>
            <a:srgbClr val="5B2619"/>
          </a:solidFill>
          <a:ln cap="flat" cmpd="sng" w="12700">
            <a:solidFill>
              <a:srgbClr val="5B261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27"/>
          <p:cNvSpPr/>
          <p:nvPr/>
        </p:nvSpPr>
        <p:spPr>
          <a:xfrm>
            <a:off x="667512" y="717804"/>
            <a:ext cx="237744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Arial"/>
              <a:buNone/>
            </a:pPr>
            <a:r>
              <a:rPr b="1" lang="en-US" sz="6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MH</a:t>
            </a:r>
            <a:endParaRPr sz="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27"/>
          <p:cNvSpPr/>
          <p:nvPr/>
        </p:nvSpPr>
        <p:spPr>
          <a:xfrm>
            <a:off x="1024128" y="585216"/>
            <a:ext cx="19202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440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2E3440"/>
                </a:solidFill>
                <a:latin typeface="Arial"/>
                <a:ea typeface="Arial"/>
                <a:cs typeface="Arial"/>
                <a:sym typeface="Arial"/>
              </a:rPr>
              <a:t>MavaziHub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27"/>
          <p:cNvSpPr/>
          <p:nvPr/>
        </p:nvSpPr>
        <p:spPr>
          <a:xfrm>
            <a:off x="1024128" y="877824"/>
            <a:ext cx="201168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752A"/>
              </a:buClr>
              <a:buSzPts val="650"/>
              <a:buFont typeface="Arial"/>
              <a:buNone/>
            </a:pPr>
            <a:r>
              <a:rPr b="1" lang="en-US" sz="650">
                <a:solidFill>
                  <a:srgbClr val="C8752A"/>
                </a:solidFill>
                <a:latin typeface="Arial"/>
                <a:ea typeface="Arial"/>
                <a:cs typeface="Arial"/>
                <a:sym typeface="Arial"/>
              </a:rPr>
              <a:t>African Fashion Store</a:t>
            </a:r>
            <a:endParaRPr sz="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27"/>
          <p:cNvSpPr/>
          <p:nvPr/>
        </p:nvSpPr>
        <p:spPr>
          <a:xfrm>
            <a:off x="713232" y="1243584"/>
            <a:ext cx="667512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32" lIns="73152" spcFirstLastPara="1" rIns="73152" wrap="square" tIns="27432">
            <a:noAutofit/>
          </a:bodyPr>
          <a:lstStyle/>
          <a:p>
            <a:r>
              <a:rPr sz="2700" b="1">
                <a:solidFill>
                  <a:srgbClr val="2E3440"/>
                </a:solidFill>
                <a:latin typeface="Arial"/>
              </a:rPr>
              <a:t>Live-Demo Ablauf</a:t>
            </a:r>
          </a:p>
        </p:txBody>
      </p:sp>
      <p:sp>
        <p:nvSpPr>
          <p:cNvPr id="369" name="Google Shape;369;p27"/>
          <p:cNvSpPr/>
          <p:nvPr/>
        </p:nvSpPr>
        <p:spPr>
          <a:xfrm>
            <a:off x="713232" y="1847088"/>
            <a:ext cx="66751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32" lIns="73152" spcFirstLastPara="1" rIns="73152" wrap="square" tIns="27432">
            <a:noAutofit/>
          </a:bodyPr>
          <a:lstStyle/>
          <a:p>
            <a:r>
              <a:rPr sz="1150" b="0">
                <a:solidFill>
                  <a:srgbClr val="77716A"/>
                </a:solidFill>
                <a:latin typeface="Arial"/>
              </a:rPr>
              <a:t>Die Demo folgt einem realistischen Kaufprozess</a:t>
            </a:r>
          </a:p>
        </p:txBody>
      </p:sp>
      <p:sp>
        <p:nvSpPr>
          <p:cNvPr id="371" name="Google Shape;371;p27"/>
          <p:cNvSpPr/>
          <p:nvPr/>
        </p:nvSpPr>
        <p:spPr>
          <a:xfrm>
            <a:off x="8823960" y="694944"/>
            <a:ext cx="2651760" cy="310896"/>
          </a:xfrm>
          <a:prstGeom prst="roundRect">
            <a:avLst>
              <a:gd fmla="val 11765" name="adj"/>
            </a:avLst>
          </a:prstGeom>
          <a:solidFill>
            <a:srgbClr val="FFFDF8"/>
          </a:solidFill>
          <a:ln cap="flat" cmpd="sng" w="9525">
            <a:solidFill>
              <a:srgbClr val="E7DD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27"/>
          <p:cNvSpPr/>
          <p:nvPr/>
        </p:nvSpPr>
        <p:spPr>
          <a:xfrm>
            <a:off x="8961120" y="786384"/>
            <a:ext cx="2377440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32" lIns="73152" spcFirstLastPara="1" rIns="73152" wrap="square" tIns="27432">
            <a:noAutofit/>
          </a:bodyPr>
          <a:lstStyle/>
          <a:p>
            <a:r>
              <a:rPr sz="750" b="0">
                <a:solidFill>
                  <a:srgbClr val="77716A"/>
                </a:solidFill>
                <a:latin typeface="Arial"/>
              </a:rPr>
              <a:t>Verantwortlich: Demo-Team</a:t>
            </a:r>
          </a:p>
        </p:txBody>
      </p:sp>
      <p:sp>
        <p:nvSpPr>
          <p:cNvPr id="373" name="TextBox 372"/>
          <p:cNvSpPr txBox="1"/>
          <p:nvPr/>
        </p:nvSpPr>
        <p:spPr>
          <a:xfrm>
            <a:off x="868680" y="2395728"/>
            <a:ext cx="4389120" cy="27432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r>
              <a:rPr sz="1400" b="1">
                <a:solidFill>
                  <a:srgbClr val="C8752A"/>
                </a:solidFill>
                <a:latin typeface="Arial"/>
              </a:rPr>
              <a:t>Ablauf</a:t>
            </a:r>
          </a:p>
        </p:txBody>
      </p:sp>
      <p:sp>
        <p:nvSpPr>
          <p:cNvPr id="374" name="Rounded Rectangle 373"/>
          <p:cNvSpPr/>
          <p:nvPr/>
        </p:nvSpPr>
        <p:spPr>
          <a:xfrm>
            <a:off x="868680" y="2761488"/>
            <a:ext cx="292608" cy="256032"/>
          </a:xfrm>
          <a:prstGeom prst="roundRect">
            <a:avLst/>
          </a:prstGeom>
          <a:solidFill>
            <a:srgbClr val="C8752A"/>
          </a:solidFill>
          <a:ln w="12700">
            <a:solidFill>
              <a:srgbClr val="C875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375" name="TextBox 374"/>
          <p:cNvSpPr txBox="1"/>
          <p:nvPr/>
        </p:nvSpPr>
        <p:spPr>
          <a:xfrm>
            <a:off x="1280160" y="2752344"/>
            <a:ext cx="4526280" cy="27432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r>
              <a:rPr sz="1040" b="0">
                <a:solidFill>
                  <a:srgbClr val="2E3440"/>
                </a:solidFill>
                <a:latin typeface="Arial"/>
              </a:rPr>
              <a:t>Startseite und Produktübersicht öffnen</a:t>
            </a:r>
          </a:p>
        </p:txBody>
      </p:sp>
      <p:cxnSp>
        <p:nvCxnSpPr>
          <p:cNvPr id="376" name="Connector 375"/>
          <p:cNvCxnSpPr/>
          <p:nvPr/>
        </p:nvCxnSpPr>
        <p:spPr>
          <a:xfrm>
            <a:off x="1014984" y="3017520"/>
            <a:ext cx="0" cy="73152"/>
          </a:xfrm>
          <a:prstGeom prst="line">
            <a:avLst/>
          </a:prstGeom>
          <a:ln w="12700">
            <a:solidFill>
              <a:srgbClr val="DCD4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7" name="Rounded Rectangle 376"/>
          <p:cNvSpPr/>
          <p:nvPr/>
        </p:nvSpPr>
        <p:spPr>
          <a:xfrm>
            <a:off x="868680" y="3090672"/>
            <a:ext cx="292608" cy="256032"/>
          </a:xfrm>
          <a:prstGeom prst="roundRect">
            <a:avLst/>
          </a:prstGeom>
          <a:solidFill>
            <a:srgbClr val="C8752A"/>
          </a:solidFill>
          <a:ln w="12700">
            <a:solidFill>
              <a:srgbClr val="C875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78" name="TextBox 377"/>
          <p:cNvSpPr txBox="1"/>
          <p:nvPr/>
        </p:nvSpPr>
        <p:spPr>
          <a:xfrm>
            <a:off x="1280160" y="3081528"/>
            <a:ext cx="4526280" cy="27432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r>
              <a:rPr sz="1040" b="0">
                <a:solidFill>
                  <a:srgbClr val="2E3440"/>
                </a:solidFill>
                <a:latin typeface="Arial"/>
              </a:rPr>
              <a:t>Produktdetail ansehen</a:t>
            </a:r>
          </a:p>
        </p:txBody>
      </p:sp>
      <p:cxnSp>
        <p:nvCxnSpPr>
          <p:cNvPr id="379" name="Connector 378"/>
          <p:cNvCxnSpPr/>
          <p:nvPr/>
        </p:nvCxnSpPr>
        <p:spPr>
          <a:xfrm>
            <a:off x="1014984" y="3346704"/>
            <a:ext cx="0" cy="73152"/>
          </a:xfrm>
          <a:prstGeom prst="line">
            <a:avLst/>
          </a:prstGeom>
          <a:ln w="12700">
            <a:solidFill>
              <a:srgbClr val="DCD4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0" name="Rounded Rectangle 379"/>
          <p:cNvSpPr/>
          <p:nvPr/>
        </p:nvSpPr>
        <p:spPr>
          <a:xfrm>
            <a:off x="868680" y="3419856"/>
            <a:ext cx="292608" cy="256032"/>
          </a:xfrm>
          <a:prstGeom prst="roundRect">
            <a:avLst/>
          </a:prstGeom>
          <a:solidFill>
            <a:srgbClr val="C8752A"/>
          </a:solidFill>
          <a:ln w="12700">
            <a:solidFill>
              <a:srgbClr val="C875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81" name="TextBox 380"/>
          <p:cNvSpPr txBox="1"/>
          <p:nvPr/>
        </p:nvSpPr>
        <p:spPr>
          <a:xfrm>
            <a:off x="1280160" y="3410712"/>
            <a:ext cx="4526280" cy="27432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r>
              <a:rPr sz="1040" b="0">
                <a:solidFill>
                  <a:srgbClr val="2E3440"/>
                </a:solidFill>
                <a:latin typeface="Arial"/>
              </a:rPr>
              <a:t>Einloggen oder registrieren</a:t>
            </a:r>
          </a:p>
        </p:txBody>
      </p:sp>
      <p:cxnSp>
        <p:nvCxnSpPr>
          <p:cNvPr id="382" name="Connector 381"/>
          <p:cNvCxnSpPr/>
          <p:nvPr/>
        </p:nvCxnSpPr>
        <p:spPr>
          <a:xfrm>
            <a:off x="1014984" y="3675888"/>
            <a:ext cx="0" cy="73152"/>
          </a:xfrm>
          <a:prstGeom prst="line">
            <a:avLst/>
          </a:prstGeom>
          <a:ln w="12700">
            <a:solidFill>
              <a:srgbClr val="DCD4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3" name="Rounded Rectangle 382"/>
          <p:cNvSpPr/>
          <p:nvPr/>
        </p:nvSpPr>
        <p:spPr>
          <a:xfrm>
            <a:off x="868680" y="3749039"/>
            <a:ext cx="292608" cy="256032"/>
          </a:xfrm>
          <a:prstGeom prst="roundRect">
            <a:avLst/>
          </a:prstGeom>
          <a:solidFill>
            <a:srgbClr val="C8752A"/>
          </a:solidFill>
          <a:ln w="12700">
            <a:solidFill>
              <a:srgbClr val="C875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4" name="TextBox 383"/>
          <p:cNvSpPr txBox="1"/>
          <p:nvPr/>
        </p:nvSpPr>
        <p:spPr>
          <a:xfrm>
            <a:off x="1280160" y="3739896"/>
            <a:ext cx="4526280" cy="27432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r>
              <a:rPr sz="1040" b="0">
                <a:solidFill>
                  <a:srgbClr val="2E3440"/>
                </a:solidFill>
                <a:latin typeface="Arial"/>
              </a:rPr>
              <a:t>Produkt in den Warenkorb legen</a:t>
            </a:r>
          </a:p>
        </p:txBody>
      </p:sp>
      <p:cxnSp>
        <p:nvCxnSpPr>
          <p:cNvPr id="385" name="Connector 384"/>
          <p:cNvCxnSpPr/>
          <p:nvPr/>
        </p:nvCxnSpPr>
        <p:spPr>
          <a:xfrm>
            <a:off x="1014984" y="4005072"/>
            <a:ext cx="0" cy="73152"/>
          </a:xfrm>
          <a:prstGeom prst="line">
            <a:avLst/>
          </a:prstGeom>
          <a:ln w="12700">
            <a:solidFill>
              <a:srgbClr val="DCD4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6" name="Rounded Rectangle 385"/>
          <p:cNvSpPr/>
          <p:nvPr/>
        </p:nvSpPr>
        <p:spPr>
          <a:xfrm>
            <a:off x="868680" y="4078224"/>
            <a:ext cx="292608" cy="256032"/>
          </a:xfrm>
          <a:prstGeom prst="roundRect">
            <a:avLst/>
          </a:prstGeom>
          <a:solidFill>
            <a:srgbClr val="C8752A"/>
          </a:solidFill>
          <a:ln w="12700">
            <a:solidFill>
              <a:srgbClr val="C875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7" name="TextBox 386"/>
          <p:cNvSpPr txBox="1"/>
          <p:nvPr/>
        </p:nvSpPr>
        <p:spPr>
          <a:xfrm>
            <a:off x="1280160" y="4069080"/>
            <a:ext cx="4526280" cy="27432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r>
              <a:rPr sz="1040" b="0">
                <a:solidFill>
                  <a:srgbClr val="2E3440"/>
                </a:solidFill>
                <a:latin typeface="Arial"/>
              </a:rPr>
              <a:t>Bestellung abschließen</a:t>
            </a:r>
          </a:p>
        </p:txBody>
      </p:sp>
      <p:cxnSp>
        <p:nvCxnSpPr>
          <p:cNvPr id="388" name="Connector 387"/>
          <p:cNvCxnSpPr/>
          <p:nvPr/>
        </p:nvCxnSpPr>
        <p:spPr>
          <a:xfrm>
            <a:off x="1014984" y="4334256"/>
            <a:ext cx="0" cy="73152"/>
          </a:xfrm>
          <a:prstGeom prst="line">
            <a:avLst/>
          </a:prstGeom>
          <a:ln w="12700">
            <a:solidFill>
              <a:srgbClr val="DCD4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9" name="Rounded Rectangle 388"/>
          <p:cNvSpPr/>
          <p:nvPr/>
        </p:nvSpPr>
        <p:spPr>
          <a:xfrm>
            <a:off x="868680" y="4407408"/>
            <a:ext cx="292608" cy="256032"/>
          </a:xfrm>
          <a:prstGeom prst="roundRect">
            <a:avLst/>
          </a:prstGeom>
          <a:solidFill>
            <a:srgbClr val="C8752A"/>
          </a:solidFill>
          <a:ln w="12700">
            <a:solidFill>
              <a:srgbClr val="C875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90" name="TextBox 389"/>
          <p:cNvSpPr txBox="1"/>
          <p:nvPr/>
        </p:nvSpPr>
        <p:spPr>
          <a:xfrm>
            <a:off x="1280160" y="4398264"/>
            <a:ext cx="4526280" cy="27432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r>
              <a:rPr sz="1040" b="0">
                <a:solidFill>
                  <a:srgbClr val="2E3440"/>
                </a:solidFill>
                <a:latin typeface="Arial"/>
              </a:rPr>
              <a:t>Bestellhistorie öffnen</a:t>
            </a:r>
          </a:p>
        </p:txBody>
      </p:sp>
      <p:cxnSp>
        <p:nvCxnSpPr>
          <p:cNvPr id="391" name="Connector 390"/>
          <p:cNvCxnSpPr/>
          <p:nvPr/>
        </p:nvCxnSpPr>
        <p:spPr>
          <a:xfrm>
            <a:off x="1014984" y="4663440"/>
            <a:ext cx="0" cy="73152"/>
          </a:xfrm>
          <a:prstGeom prst="line">
            <a:avLst/>
          </a:prstGeom>
          <a:ln w="12700">
            <a:solidFill>
              <a:srgbClr val="DCD4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2" name="Rounded Rectangle 391"/>
          <p:cNvSpPr/>
          <p:nvPr/>
        </p:nvSpPr>
        <p:spPr>
          <a:xfrm>
            <a:off x="868680" y="4736592"/>
            <a:ext cx="292608" cy="256032"/>
          </a:xfrm>
          <a:prstGeom prst="roundRect">
            <a:avLst/>
          </a:prstGeom>
          <a:solidFill>
            <a:srgbClr val="C8752A"/>
          </a:solidFill>
          <a:ln w="12700">
            <a:solidFill>
              <a:srgbClr val="C875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393" name="TextBox 392"/>
          <p:cNvSpPr txBox="1"/>
          <p:nvPr/>
        </p:nvSpPr>
        <p:spPr>
          <a:xfrm>
            <a:off x="1280160" y="4727448"/>
            <a:ext cx="4526280" cy="27432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r>
              <a:rPr sz="1040" b="0">
                <a:solidFill>
                  <a:srgbClr val="2E3440"/>
                </a:solidFill>
                <a:latin typeface="Arial"/>
              </a:rPr>
              <a:t>Rücksendung anfragen</a:t>
            </a:r>
          </a:p>
        </p:txBody>
      </p:sp>
      <p:cxnSp>
        <p:nvCxnSpPr>
          <p:cNvPr id="394" name="Connector 393"/>
          <p:cNvCxnSpPr/>
          <p:nvPr/>
        </p:nvCxnSpPr>
        <p:spPr>
          <a:xfrm>
            <a:off x="1014984" y="4992624"/>
            <a:ext cx="0" cy="73152"/>
          </a:xfrm>
          <a:prstGeom prst="line">
            <a:avLst/>
          </a:prstGeom>
          <a:ln w="12700">
            <a:solidFill>
              <a:srgbClr val="DCD4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5" name="Rounded Rectangle 394"/>
          <p:cNvSpPr/>
          <p:nvPr/>
        </p:nvSpPr>
        <p:spPr>
          <a:xfrm>
            <a:off x="868680" y="5065776"/>
            <a:ext cx="292608" cy="256032"/>
          </a:xfrm>
          <a:prstGeom prst="roundRect">
            <a:avLst/>
          </a:prstGeom>
          <a:solidFill>
            <a:srgbClr val="C8752A"/>
          </a:solidFill>
          <a:ln w="12700">
            <a:solidFill>
              <a:srgbClr val="C875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396" name="TextBox 395"/>
          <p:cNvSpPr txBox="1"/>
          <p:nvPr/>
        </p:nvSpPr>
        <p:spPr>
          <a:xfrm>
            <a:off x="1280160" y="5056632"/>
            <a:ext cx="4526280" cy="27432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r>
              <a:rPr sz="1040" b="0">
                <a:solidFill>
                  <a:srgbClr val="2E3440"/>
                </a:solidFill>
                <a:latin typeface="Arial"/>
              </a:rPr>
              <a:t>Mitarbeiterbereich: Rücksendung prüfen</a:t>
            </a:r>
          </a:p>
        </p:txBody>
      </p:sp>
      <p:sp>
        <p:nvSpPr>
          <p:cNvPr id="397" name="TextBox 396"/>
          <p:cNvSpPr txBox="1"/>
          <p:nvPr/>
        </p:nvSpPr>
        <p:spPr>
          <a:xfrm>
            <a:off x="6400800" y="2395728"/>
            <a:ext cx="4206240" cy="27432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r>
              <a:rPr sz="1400" b="1">
                <a:solidFill>
                  <a:srgbClr val="C8752A"/>
                </a:solidFill>
                <a:latin typeface="Arial"/>
              </a:rPr>
              <a:t>Screenshots einsetzen</a:t>
            </a:r>
          </a:p>
        </p:txBody>
      </p:sp>
      <p:sp>
        <p:nvSpPr>
          <p:cNvPr id="398" name="Rounded Rectangle 397"/>
          <p:cNvSpPr/>
          <p:nvPr/>
        </p:nvSpPr>
        <p:spPr>
          <a:xfrm>
            <a:off x="6400800" y="2761488"/>
            <a:ext cx="1874519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1">
                <a:solidFill>
                  <a:srgbClr val="77716A"/>
                </a:solidFill>
                <a:latin typeface="Arial"/>
              </a:rPr>
              <a:t>Produktübersicht</a:t>
            </a:r>
          </a:p>
          <a:p>
            <a:pPr algn="ctr"/>
            <a:r>
              <a:rPr sz="1100" b="1">
                <a:solidFill>
                  <a:srgbClr val="77716A"/>
                </a:solidFill>
                <a:latin typeface="Arial"/>
              </a:rPr>
              <a:t>Screenshot</a:t>
            </a:r>
          </a:p>
        </p:txBody>
      </p:sp>
      <p:sp>
        <p:nvSpPr>
          <p:cNvPr id="399" name="Rectangle 398"/>
          <p:cNvSpPr/>
          <p:nvPr/>
        </p:nvSpPr>
        <p:spPr>
          <a:xfrm>
            <a:off x="6510528" y="2889504"/>
            <a:ext cx="1655064" cy="658368"/>
          </a:xfrm>
          <a:prstGeom prst="rect">
            <a:avLst/>
          </a:prstGeom>
          <a:solidFill>
            <a:srgbClr val="F8F5F1"/>
          </a:solidFill>
          <a:ln w="12700">
            <a:solidFill>
              <a:srgbClr val="DCD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400" name="Rounded Rectangle 399"/>
          <p:cNvSpPr/>
          <p:nvPr/>
        </p:nvSpPr>
        <p:spPr>
          <a:xfrm>
            <a:off x="8549640" y="2761488"/>
            <a:ext cx="1874519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1">
                <a:solidFill>
                  <a:srgbClr val="77716A"/>
                </a:solidFill>
                <a:latin typeface="Arial"/>
              </a:rPr>
              <a:t>Checkout</a:t>
            </a:r>
          </a:p>
          <a:p>
            <a:pPr algn="ctr"/>
            <a:r>
              <a:rPr sz="1100" b="1">
                <a:solidFill>
                  <a:srgbClr val="77716A"/>
                </a:solidFill>
                <a:latin typeface="Arial"/>
              </a:rPr>
              <a:t>Screenshot</a:t>
            </a:r>
          </a:p>
        </p:txBody>
      </p:sp>
      <p:sp>
        <p:nvSpPr>
          <p:cNvPr id="401" name="Rectangle 400"/>
          <p:cNvSpPr/>
          <p:nvPr/>
        </p:nvSpPr>
        <p:spPr>
          <a:xfrm>
            <a:off x="8659367" y="2889504"/>
            <a:ext cx="1655064" cy="658368"/>
          </a:xfrm>
          <a:prstGeom prst="rect">
            <a:avLst/>
          </a:prstGeom>
          <a:solidFill>
            <a:srgbClr val="F8F5F1"/>
          </a:solidFill>
          <a:ln w="12700">
            <a:solidFill>
              <a:srgbClr val="DCD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402" name="Rounded Rectangle 401"/>
          <p:cNvSpPr/>
          <p:nvPr/>
        </p:nvSpPr>
        <p:spPr>
          <a:xfrm>
            <a:off x="7479792" y="4407408"/>
            <a:ext cx="1874519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1">
                <a:solidFill>
                  <a:srgbClr val="77716A"/>
                </a:solidFill>
                <a:latin typeface="Arial"/>
              </a:rPr>
              <a:t>Mitarbeiterbereich</a:t>
            </a:r>
          </a:p>
          <a:p>
            <a:pPr algn="ctr"/>
            <a:r>
              <a:rPr sz="1100" b="1">
                <a:solidFill>
                  <a:srgbClr val="77716A"/>
                </a:solidFill>
                <a:latin typeface="Arial"/>
              </a:rPr>
              <a:t>Screenshot</a:t>
            </a:r>
          </a:p>
        </p:txBody>
      </p:sp>
      <p:sp>
        <p:nvSpPr>
          <p:cNvPr id="403" name="Rectangle 402"/>
          <p:cNvSpPr/>
          <p:nvPr/>
        </p:nvSpPr>
        <p:spPr>
          <a:xfrm>
            <a:off x="7589519" y="4535424"/>
            <a:ext cx="1655064" cy="658368"/>
          </a:xfrm>
          <a:prstGeom prst="rect">
            <a:avLst/>
          </a:prstGeom>
          <a:solidFill>
            <a:srgbClr val="F8F5F1"/>
          </a:solidFill>
          <a:ln w="12700">
            <a:solidFill>
              <a:srgbClr val="DCD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404" name="Rounded Rectangle 403"/>
          <p:cNvSpPr/>
          <p:nvPr/>
        </p:nvSpPr>
        <p:spPr>
          <a:xfrm>
            <a:off x="6400800" y="5532120"/>
            <a:ext cx="4023360" cy="411480"/>
          </a:xfrm>
          <a:prstGeom prst="roundRect">
            <a:avLst/>
          </a:prstGeom>
          <a:solidFill>
            <a:srgbClr val="F8F5F1"/>
          </a:solidFill>
          <a:ln w="12700">
            <a:solidFill>
              <a:srgbClr val="DCD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1080" b="0">
                <a:solidFill>
                  <a:srgbClr val="2E3440"/>
                </a:solidFill>
                <a:latin typeface="Arial"/>
              </a:rPr>
              <a:t>Backup: Screenshots vorbereiten, falls die Live-Demo technisch hakt.</a:t>
            </a:r>
          </a:p>
        </p:txBody>
      </p:sp>
      <p:sp>
        <p:nvSpPr>
          <p:cNvPr id="405" name="TextBox 404"/>
          <p:cNvSpPr txBox="1"/>
          <p:nvPr/>
        </p:nvSpPr>
        <p:spPr>
          <a:xfrm>
            <a:off x="11109960" y="6355080"/>
            <a:ext cx="54864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77716A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8F2"/>
        </a:solidFill>
      </p:bgPr>
    </p:bg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28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0907"/>
          </a:solidFill>
          <a:ln cap="flat" cmpd="sng" w="12700">
            <a:solidFill>
              <a:srgbClr val="0B090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28"/>
          <p:cNvSpPr/>
          <p:nvPr/>
        </p:nvSpPr>
        <p:spPr>
          <a:xfrm>
            <a:off x="621792" y="118872"/>
            <a:ext cx="42976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MavaziHub · African Fashion Store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28"/>
          <p:cNvSpPr/>
          <p:nvPr/>
        </p:nvSpPr>
        <p:spPr>
          <a:xfrm>
            <a:off x="8686800" y="118872"/>
            <a:ext cx="283464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L03 Abschlusspräsentation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28"/>
          <p:cNvSpPr/>
          <p:nvPr/>
        </p:nvSpPr>
        <p:spPr>
          <a:xfrm>
            <a:off x="621792" y="621792"/>
            <a:ext cx="329184" cy="329184"/>
          </a:xfrm>
          <a:prstGeom prst="ellipse">
            <a:avLst/>
          </a:prstGeom>
          <a:solidFill>
            <a:srgbClr val="5B2619"/>
          </a:solidFill>
          <a:ln cap="flat" cmpd="sng" w="12700">
            <a:solidFill>
              <a:srgbClr val="5B261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28"/>
          <p:cNvSpPr/>
          <p:nvPr/>
        </p:nvSpPr>
        <p:spPr>
          <a:xfrm>
            <a:off x="667512" y="717804"/>
            <a:ext cx="237744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Arial"/>
              <a:buNone/>
            </a:pPr>
            <a:r>
              <a:rPr b="1" lang="en-US" sz="6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MH</a:t>
            </a:r>
            <a:endParaRPr sz="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28"/>
          <p:cNvSpPr/>
          <p:nvPr/>
        </p:nvSpPr>
        <p:spPr>
          <a:xfrm>
            <a:off x="1024128" y="585216"/>
            <a:ext cx="19202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440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2E3440"/>
                </a:solidFill>
                <a:latin typeface="Arial"/>
                <a:ea typeface="Arial"/>
                <a:cs typeface="Arial"/>
                <a:sym typeface="Arial"/>
              </a:rPr>
              <a:t>MavaziHub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28"/>
          <p:cNvSpPr/>
          <p:nvPr/>
        </p:nvSpPr>
        <p:spPr>
          <a:xfrm>
            <a:off x="1024128" y="877824"/>
            <a:ext cx="201168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752A"/>
              </a:buClr>
              <a:buSzPts val="650"/>
              <a:buFont typeface="Arial"/>
              <a:buNone/>
            </a:pPr>
            <a:r>
              <a:rPr b="1" lang="en-US" sz="650">
                <a:solidFill>
                  <a:srgbClr val="C8752A"/>
                </a:solidFill>
                <a:latin typeface="Arial"/>
                <a:ea typeface="Arial"/>
                <a:cs typeface="Arial"/>
                <a:sym typeface="Arial"/>
              </a:rPr>
              <a:t>African Fashion Store</a:t>
            </a:r>
            <a:endParaRPr sz="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28"/>
          <p:cNvSpPr/>
          <p:nvPr/>
        </p:nvSpPr>
        <p:spPr>
          <a:xfrm>
            <a:off x="713232" y="1243584"/>
            <a:ext cx="667512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32" lIns="73152" spcFirstLastPara="1" rIns="73152" wrap="square" tIns="27432">
            <a:noAutofit/>
          </a:bodyPr>
          <a:lstStyle/>
          <a:p>
            <a:r>
              <a:rPr sz="2700" b="1">
                <a:solidFill>
                  <a:srgbClr val="2E3440"/>
                </a:solidFill>
                <a:latin typeface="Arial"/>
              </a:rPr>
              <a:t>Ausblick &amp; Fazit</a:t>
            </a:r>
          </a:p>
        </p:txBody>
      </p:sp>
      <p:sp>
        <p:nvSpPr>
          <p:cNvPr id="392" name="Google Shape;392;p28"/>
          <p:cNvSpPr/>
          <p:nvPr/>
        </p:nvSpPr>
        <p:spPr>
          <a:xfrm>
            <a:off x="713232" y="1847088"/>
            <a:ext cx="66751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32" lIns="73152" spcFirstLastPara="1" rIns="73152" wrap="square" tIns="27432">
            <a:noAutofit/>
          </a:bodyPr>
          <a:lstStyle/>
          <a:p>
            <a:r>
              <a:rPr sz="1150" b="0">
                <a:solidFill>
                  <a:srgbClr val="77716A"/>
                </a:solidFill>
                <a:latin typeface="Arial"/>
              </a:rPr>
              <a:t>Was bereits steht und wie MavaziHub weiterentwickelt werden kann</a:t>
            </a:r>
          </a:p>
        </p:txBody>
      </p:sp>
      <p:sp>
        <p:nvSpPr>
          <p:cNvPr id="394" name="Google Shape;394;p28"/>
          <p:cNvSpPr/>
          <p:nvPr/>
        </p:nvSpPr>
        <p:spPr>
          <a:xfrm>
            <a:off x="8823960" y="694944"/>
            <a:ext cx="2651760" cy="310896"/>
          </a:xfrm>
          <a:prstGeom prst="roundRect">
            <a:avLst>
              <a:gd fmla="val 11765" name="adj"/>
            </a:avLst>
          </a:prstGeom>
          <a:solidFill>
            <a:srgbClr val="FFFDF8"/>
          </a:solidFill>
          <a:ln cap="flat" cmpd="sng" w="9525">
            <a:solidFill>
              <a:srgbClr val="E7DD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28"/>
          <p:cNvSpPr/>
          <p:nvPr/>
        </p:nvSpPr>
        <p:spPr>
          <a:xfrm>
            <a:off x="8961120" y="786384"/>
            <a:ext cx="2377440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32" lIns="73152" spcFirstLastPara="1" rIns="73152" wrap="square" tIns="27432">
            <a:noAutofit/>
          </a:bodyPr>
          <a:lstStyle/>
          <a:p>
            <a:r>
              <a:rPr sz="750" b="0">
                <a:solidFill>
                  <a:srgbClr val="77716A"/>
                </a:solidFill>
                <a:latin typeface="Arial"/>
              </a:rPr>
              <a:t>Verantwortlich: Person 3</a:t>
            </a:r>
          </a:p>
        </p:txBody>
      </p:sp>
      <p:sp>
        <p:nvSpPr>
          <p:cNvPr id="396" name="TextBox 395"/>
          <p:cNvSpPr txBox="1"/>
          <p:nvPr/>
        </p:nvSpPr>
        <p:spPr>
          <a:xfrm>
            <a:off x="868680" y="2377440"/>
            <a:ext cx="4846320" cy="27432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r>
              <a:rPr sz="1400" b="1">
                <a:solidFill>
                  <a:srgbClr val="C8752A"/>
                </a:solidFill>
                <a:latin typeface="Arial"/>
              </a:rPr>
              <a:t>Roadmap</a:t>
            </a:r>
          </a:p>
        </p:txBody>
      </p:sp>
      <p:sp>
        <p:nvSpPr>
          <p:cNvPr id="397" name="Rounded Rectangle 396"/>
          <p:cNvSpPr/>
          <p:nvPr/>
        </p:nvSpPr>
        <p:spPr>
          <a:xfrm>
            <a:off x="868680" y="2880360"/>
            <a:ext cx="2514600" cy="804672"/>
          </a:xfrm>
          <a:prstGeom prst="roundRect">
            <a:avLst/>
          </a:prstGeom>
          <a:solidFill>
            <a:srgbClr val="E0EEE5"/>
          </a:solidFill>
          <a:ln w="12700">
            <a:solidFill>
              <a:srgbClr val="DCD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019" b="0">
                <a:solidFill>
                  <a:srgbClr val="2E3440"/>
                </a:solidFill>
                <a:latin typeface="Arial"/>
              </a:rPr>
              <a:t>MVP heute</a:t>
            </a:r>
          </a:p>
          <a:p>
            <a:pPr algn="ctr"/>
            <a:r>
              <a:rPr sz="1019" b="0">
                <a:solidFill>
                  <a:srgbClr val="2E3440"/>
                </a:solidFill>
                <a:latin typeface="Arial"/>
              </a:rPr>
              <a:t>Produkte, Login, Warenkorb, Bestellung, Rücksendung</a:t>
            </a:r>
          </a:p>
        </p:txBody>
      </p:sp>
      <p:cxnSp>
        <p:nvCxnSpPr>
          <p:cNvPr id="398" name="Connector 397"/>
          <p:cNvCxnSpPr/>
          <p:nvPr/>
        </p:nvCxnSpPr>
        <p:spPr>
          <a:xfrm>
            <a:off x="3383280" y="3282696"/>
            <a:ext cx="777240" cy="0"/>
          </a:xfrm>
          <a:prstGeom prst="line">
            <a:avLst/>
          </a:prstGeom>
          <a:ln w="22860">
            <a:solidFill>
              <a:srgbClr val="C8752A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9" name="Rounded Rectangle 398"/>
          <p:cNvSpPr/>
          <p:nvPr/>
        </p:nvSpPr>
        <p:spPr>
          <a:xfrm>
            <a:off x="4160520" y="2880360"/>
            <a:ext cx="2514600" cy="804672"/>
          </a:xfrm>
          <a:prstGeom prst="roundRect">
            <a:avLst/>
          </a:prstGeom>
          <a:solidFill>
            <a:srgbClr val="F2E2D3"/>
          </a:solidFill>
          <a:ln w="12700">
            <a:solidFill>
              <a:srgbClr val="DCD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019" b="0">
                <a:solidFill>
                  <a:srgbClr val="2E3440"/>
                </a:solidFill>
                <a:latin typeface="Arial"/>
              </a:rPr>
              <a:t>Shop-Ausbau</a:t>
            </a:r>
          </a:p>
          <a:p>
            <a:pPr algn="ctr"/>
            <a:r>
              <a:rPr sz="1019" b="0">
                <a:solidFill>
                  <a:srgbClr val="2E3440"/>
                </a:solidFill>
                <a:latin typeface="Arial"/>
              </a:rPr>
              <a:t>Zahlung, Versandlabel, bessere Suche, Produktbilder</a:t>
            </a:r>
          </a:p>
        </p:txBody>
      </p:sp>
      <p:cxnSp>
        <p:nvCxnSpPr>
          <p:cNvPr id="400" name="Connector 399"/>
          <p:cNvCxnSpPr/>
          <p:nvPr/>
        </p:nvCxnSpPr>
        <p:spPr>
          <a:xfrm>
            <a:off x="6675120" y="3282696"/>
            <a:ext cx="777240" cy="0"/>
          </a:xfrm>
          <a:prstGeom prst="line">
            <a:avLst/>
          </a:prstGeom>
          <a:ln w="22860">
            <a:solidFill>
              <a:srgbClr val="C8752A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1" name="Rounded Rectangle 400"/>
          <p:cNvSpPr/>
          <p:nvPr/>
        </p:nvSpPr>
        <p:spPr>
          <a:xfrm>
            <a:off x="7452360" y="2880360"/>
            <a:ext cx="2514600" cy="804672"/>
          </a:xfrm>
          <a:prstGeom prst="roundRect">
            <a:avLst/>
          </a:prstGeom>
          <a:solidFill>
            <a:srgbClr val="E5EBF4"/>
          </a:solidFill>
          <a:ln w="12700">
            <a:solidFill>
              <a:srgbClr val="DCD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019" b="0">
                <a:solidFill>
                  <a:srgbClr val="2E3440"/>
                </a:solidFill>
                <a:latin typeface="Arial"/>
              </a:rPr>
              <a:t>Produktiver Betrieb</a:t>
            </a:r>
          </a:p>
          <a:p>
            <a:pPr algn="ctr"/>
            <a:r>
              <a:rPr sz="1019" b="0">
                <a:solidFill>
                  <a:srgbClr val="2E3440"/>
                </a:solidFill>
                <a:latin typeface="Arial"/>
              </a:rPr>
              <a:t>Cloud-Deployment, Monitoring, Reporting</a:t>
            </a:r>
          </a:p>
        </p:txBody>
      </p:sp>
      <p:sp>
        <p:nvSpPr>
          <p:cNvPr id="402" name="TextBox 401"/>
          <p:cNvSpPr txBox="1"/>
          <p:nvPr/>
        </p:nvSpPr>
        <p:spPr>
          <a:xfrm>
            <a:off x="868680" y="4224528"/>
            <a:ext cx="4114800" cy="27432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r>
              <a:rPr sz="1400" b="1">
                <a:solidFill>
                  <a:srgbClr val="C8752A"/>
                </a:solidFill>
                <a:latin typeface="Arial"/>
              </a:rPr>
              <a:t>Nächste sinnvolle Erweiterungen</a:t>
            </a:r>
          </a:p>
        </p:txBody>
      </p:sp>
      <p:sp>
        <p:nvSpPr>
          <p:cNvPr id="403" name="Rounded Rectangle 402"/>
          <p:cNvSpPr/>
          <p:nvPr/>
        </p:nvSpPr>
        <p:spPr>
          <a:xfrm>
            <a:off x="868680" y="4590288"/>
            <a:ext cx="164592" cy="164592"/>
          </a:xfrm>
          <a:prstGeom prst="roundRect">
            <a:avLst/>
          </a:prstGeom>
          <a:solidFill>
            <a:srgbClr val="C8752A"/>
          </a:solidFill>
          <a:ln w="12700">
            <a:solidFill>
              <a:srgbClr val="C875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404" name="TextBox 403"/>
          <p:cNvSpPr txBox="1"/>
          <p:nvPr/>
        </p:nvSpPr>
        <p:spPr>
          <a:xfrm>
            <a:off x="1170432" y="4535424"/>
            <a:ext cx="4434840" cy="256032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r>
              <a:rPr sz="1050" b="0">
                <a:solidFill>
                  <a:srgbClr val="2E3440"/>
                </a:solidFill>
                <a:latin typeface="Arial"/>
              </a:rPr>
              <a:t>Online-Zahlung integrieren</a:t>
            </a:r>
          </a:p>
        </p:txBody>
      </p:sp>
      <p:sp>
        <p:nvSpPr>
          <p:cNvPr id="405" name="Rounded Rectangle 404"/>
          <p:cNvSpPr/>
          <p:nvPr/>
        </p:nvSpPr>
        <p:spPr>
          <a:xfrm>
            <a:off x="868680" y="4901183"/>
            <a:ext cx="164592" cy="164592"/>
          </a:xfrm>
          <a:prstGeom prst="roundRect">
            <a:avLst/>
          </a:prstGeom>
          <a:solidFill>
            <a:srgbClr val="C8752A"/>
          </a:solidFill>
          <a:ln w="12700">
            <a:solidFill>
              <a:srgbClr val="C875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406" name="TextBox 405"/>
          <p:cNvSpPr txBox="1"/>
          <p:nvPr/>
        </p:nvSpPr>
        <p:spPr>
          <a:xfrm>
            <a:off x="1170432" y="4846320"/>
            <a:ext cx="4434840" cy="256032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r>
              <a:rPr sz="1050" b="0">
                <a:solidFill>
                  <a:srgbClr val="2E3440"/>
                </a:solidFill>
                <a:latin typeface="Arial"/>
              </a:rPr>
              <a:t>Versand- und Retourenlabel vorbereiten</a:t>
            </a:r>
          </a:p>
        </p:txBody>
      </p:sp>
      <p:sp>
        <p:nvSpPr>
          <p:cNvPr id="407" name="Rounded Rectangle 406"/>
          <p:cNvSpPr/>
          <p:nvPr/>
        </p:nvSpPr>
        <p:spPr>
          <a:xfrm>
            <a:off x="868680" y="5212079"/>
            <a:ext cx="164592" cy="164592"/>
          </a:xfrm>
          <a:prstGeom prst="roundRect">
            <a:avLst/>
          </a:prstGeom>
          <a:solidFill>
            <a:srgbClr val="C8752A"/>
          </a:solidFill>
          <a:ln w="12700">
            <a:solidFill>
              <a:srgbClr val="C875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408" name="TextBox 407"/>
          <p:cNvSpPr txBox="1"/>
          <p:nvPr/>
        </p:nvSpPr>
        <p:spPr>
          <a:xfrm>
            <a:off x="1170432" y="5157216"/>
            <a:ext cx="4434840" cy="256032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r>
              <a:rPr sz="1050" b="0">
                <a:solidFill>
                  <a:srgbClr val="2E3440"/>
                </a:solidFill>
                <a:latin typeface="Arial"/>
              </a:rPr>
              <a:t>Admin-Dashboard erweitern</a:t>
            </a:r>
          </a:p>
        </p:txBody>
      </p:sp>
      <p:sp>
        <p:nvSpPr>
          <p:cNvPr id="409" name="Rounded Rectangle 408"/>
          <p:cNvSpPr/>
          <p:nvPr/>
        </p:nvSpPr>
        <p:spPr>
          <a:xfrm>
            <a:off x="868680" y="5522975"/>
            <a:ext cx="164592" cy="164592"/>
          </a:xfrm>
          <a:prstGeom prst="roundRect">
            <a:avLst/>
          </a:prstGeom>
          <a:solidFill>
            <a:srgbClr val="C8752A"/>
          </a:solidFill>
          <a:ln w="12700">
            <a:solidFill>
              <a:srgbClr val="C875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410" name="TextBox 409"/>
          <p:cNvSpPr txBox="1"/>
          <p:nvPr/>
        </p:nvSpPr>
        <p:spPr>
          <a:xfrm>
            <a:off x="1170432" y="5468112"/>
            <a:ext cx="4434840" cy="256032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r>
              <a:rPr sz="1050" b="0">
                <a:solidFill>
                  <a:srgbClr val="2E3440"/>
                </a:solidFill>
                <a:latin typeface="Arial"/>
              </a:rPr>
              <a:t>Produktbilder und Varianten ausbauen</a:t>
            </a:r>
          </a:p>
        </p:txBody>
      </p:sp>
      <p:sp>
        <p:nvSpPr>
          <p:cNvPr id="411" name="TextBox 410"/>
          <p:cNvSpPr txBox="1"/>
          <p:nvPr/>
        </p:nvSpPr>
        <p:spPr>
          <a:xfrm>
            <a:off x="6400800" y="4224528"/>
            <a:ext cx="3017520" cy="27432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r>
              <a:rPr sz="1400" b="1">
                <a:solidFill>
                  <a:srgbClr val="C8752A"/>
                </a:solidFill>
                <a:latin typeface="Arial"/>
              </a:rPr>
              <a:t>Fazit</a:t>
            </a:r>
          </a:p>
        </p:txBody>
      </p:sp>
      <p:sp>
        <p:nvSpPr>
          <p:cNvPr id="412" name="Rounded Rectangle 411"/>
          <p:cNvSpPr/>
          <p:nvPr/>
        </p:nvSpPr>
        <p:spPr>
          <a:xfrm>
            <a:off x="6400800" y="4590288"/>
            <a:ext cx="4069080" cy="1051560"/>
          </a:xfrm>
          <a:prstGeom prst="roundRect">
            <a:avLst/>
          </a:prstGeom>
          <a:solidFill>
            <a:srgbClr val="F8F5F1"/>
          </a:solidFill>
          <a:ln w="12700">
            <a:solidFill>
              <a:srgbClr val="DCD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1550" b="1">
                <a:solidFill>
                  <a:srgbClr val="2E3440"/>
                </a:solidFill>
                <a:latin typeface="Arial"/>
              </a:rPr>
              <a:t>MavaziHub bildet den Kernprozess eines B2C-Shops ab und schafft eine stabile Grundlage für die nächste Ausbaustufe.</a:t>
            </a:r>
          </a:p>
        </p:txBody>
      </p:sp>
      <p:sp>
        <p:nvSpPr>
          <p:cNvPr id="413" name="TextBox 412"/>
          <p:cNvSpPr txBox="1"/>
          <p:nvPr/>
        </p:nvSpPr>
        <p:spPr>
          <a:xfrm>
            <a:off x="6537960" y="5760720"/>
            <a:ext cx="3703320" cy="256032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ctr"/>
            <a:r>
              <a:rPr sz="1050" b="0">
                <a:solidFill>
                  <a:srgbClr val="77716A"/>
                </a:solidFill>
                <a:latin typeface="Arial"/>
              </a:rPr>
              <a:t>Damit ist das Projekt fachlich nutzbar und technisch erweiterbar.</a:t>
            </a:r>
          </a:p>
        </p:txBody>
      </p:sp>
      <p:sp>
        <p:nvSpPr>
          <p:cNvPr id="414" name="TextBox 413"/>
          <p:cNvSpPr txBox="1"/>
          <p:nvPr/>
        </p:nvSpPr>
        <p:spPr>
          <a:xfrm>
            <a:off x="11109960" y="6355080"/>
            <a:ext cx="54864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77716A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