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1675"/>
  <p:notesSz cx="6858000" cy="12191675"/>
  <p:embeddedFontLst>
    <p:embeddedFont>
      <p:font typeface="Raleway"/>
      <p:regular r:id="rId19"/>
      <p:bold r:id="rId20"/>
      <p:italic r:id="rId21"/>
      <p:boldItalic r:id="rId22"/>
    </p:embeddedFont>
    <p:embeddedFont>
      <p:font typeface="Play"/>
      <p:regular r:id="rId23"/>
      <p:bold r:id="rId24"/>
    </p:embeddedFont>
    <p:embeddedFont>
      <p:font typeface="Roboto"/>
      <p:regular r:id="rId25"/>
      <p:bold r:id="rId26"/>
      <p:italic r:id="rId27"/>
      <p:boldItalic r:id="rId28"/>
    </p:embeddedFont>
    <p:embeddedFont>
      <p:font typeface="Lato"/>
      <p:regular r:id="rId29"/>
      <p:bold r:id="rId30"/>
      <p:italic r:id="rId31"/>
      <p:boldItalic r:id="rId32"/>
    </p:embeddedFont>
    <p:embeddedFont>
      <p:font typeface="Roboto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font" Target="fonts/Raleway-regular.fntdata"/><Relationship Id="rId20" Type="http://schemas.openxmlformats.org/officeDocument/2006/relationships/font" Target="fonts/Raleway-bold.fntdata"/><Relationship Id="rId21" Type="http://schemas.openxmlformats.org/officeDocument/2006/relationships/font" Target="fonts/Raleway-italic.fntdata"/><Relationship Id="rId22" Type="http://schemas.openxmlformats.org/officeDocument/2006/relationships/font" Target="fonts/Raleway-boldItalic.fntdata"/><Relationship Id="rId23" Type="http://schemas.openxmlformats.org/officeDocument/2006/relationships/font" Target="fonts/Play-regular.fntdata"/><Relationship Id="rId24" Type="http://schemas.openxmlformats.org/officeDocument/2006/relationships/font" Target="fonts/Play-bold.fntdata"/><Relationship Id="rId25" Type="http://schemas.openxmlformats.org/officeDocument/2006/relationships/font" Target="fonts/Roboto-regular.fntdata"/><Relationship Id="rId26" Type="http://schemas.openxmlformats.org/officeDocument/2006/relationships/font" Target="fonts/Roboto-bold.fntdata"/><Relationship Id="rId27" Type="http://schemas.openxmlformats.org/officeDocument/2006/relationships/font" Target="fonts/Roboto-italic.fntdata"/><Relationship Id="rId28" Type="http://schemas.openxmlformats.org/officeDocument/2006/relationships/font" Target="fonts/Roboto-boldItalic.fntdata"/><Relationship Id="rId29" Type="http://schemas.openxmlformats.org/officeDocument/2006/relationships/font" Target="fonts/Lato-regular.fntdata"/><Relationship Id="rId30" Type="http://schemas.openxmlformats.org/officeDocument/2006/relationships/font" Target="fonts/Lato-bold.fntdata"/><Relationship Id="rId31" Type="http://schemas.openxmlformats.org/officeDocument/2006/relationships/font" Target="fonts/Lato-italic.fntdata"/><Relationship Id="rId32" Type="http://schemas.openxmlformats.org/officeDocument/2006/relationships/font" Target="fonts/Lato-boldItalic.fntdata"/><Relationship Id="rId33" Type="http://schemas.openxmlformats.org/officeDocument/2006/relationships/font" Target="fonts/RobotoMono-regular.fntdata"/><Relationship Id="rId34" Type="http://schemas.openxmlformats.org/officeDocument/2006/relationships/font" Target="fonts/RobotoMono-bold.fntdata"/><Relationship Id="rId35" Type="http://schemas.openxmlformats.org/officeDocument/2006/relationships/font" Target="fonts/RobotoMono-italic.fntdata"/><Relationship Id="rId36" Type="http://schemas.openxmlformats.org/officeDocument/2006/relationships/font" Target="fonts/Roboto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Einstieg: Projektname, Team, kurzer Kontext. Nicht zu viel erklären, direkt zur Ausgangslage überleiten.</a:t>
            </a:r>
            <a:endParaRPr/>
          </a:p>
        </p:txBody>
      </p:sp>
      <p:sp>
        <p:nvSpPr>
          <p:cNvPr id="96" name="Google Shape;9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46c166b69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f46c166b69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Ich starte mit der Ausgangslage. Tamu Fashion verkauft bisher eher über informelle Kanäle wie Social Media, E-Mail oder direkte Kommunikation. Das funktioniert am Anfang gut, wird aber schwierig, sobald mehr Produkte, mehr Kunden und mehr Bestellungen dazukommen. Dann müssen Bestellungen manuell verfolgt werden, Rückfragen laufen über verschiedene Kanäle und Rücksendungen sind nicht zentral nachvollziehbar. Genau hier entsteht das eigentliche Problem: Das Unternehmen hat Wachstumspotenzial, aber der bisherige Verkaufsprozess skaliert nicht zuverlässig mit. Deshalb braucht Tamu Fashion eine digitale Plattform, die Produktdaten, Kundendaten, Bestellungen und Rücksendungen an einem Ort zusammenführt.</a:t>
            </a:r>
            <a:endParaRPr/>
          </a:p>
        </p:txBody>
      </p:sp>
      <p:sp>
        <p:nvSpPr>
          <p:cNvPr id="116" name="Google Shape;116;g3f46c166b69_0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46c166b69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f46c166b69_0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Unsere Vision ist es, Tamu Fashion von einem eher informellen Verkaufsprozess zu einer strukturierten digitalen E-Commerce-Plattform zu führen. MavaziHub soll also nicht nur eine Webseite sein, sondern ein klarer digitaler Verkaufsprozess. Kunden sollen Produkte entdecken, in den Warenkorb legen, bestellen und später Bestellhistorie und Rücksendungen im Kundenkonto verwalten können. Der Business Value liegt vor allem in vier Punkten: Erstens steigt die Reichweite, weil ein eigener Online-Shop unabhängiger von Social Media macht. Zweitens sinkt der manuelle Aufwand, weil Bestellungen und Rücksendungen zentral verwaltet werden. Drittens wirkt der Verkaufsprozess professioneller und vertrauenswürdiger. Viertens ist die Lösung erweiterbar, zum Beispiel für Zahlungsanbieter, Versandlabel oder ein erweitertes Admin-Dashboard. Wichtig ist: Wir haben Version 1.0 bewusst realistisch begrenzt. Sie konzentriert sich auf den Kernprozess Produkt ansehen, bestellen, Bestellhistorie einsehen und Rücksendung anfordern.</a:t>
            </a:r>
            <a:endParaRPr/>
          </a:p>
        </p:txBody>
      </p:sp>
      <p:sp>
        <p:nvSpPr>
          <p:cNvPr id="145" name="Google Shape;145;g3f46c166b69_0_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Dauer ca. 1,5 Minuten. Rollen knapp erklären.</a:t>
            </a:r>
            <a:endParaRPr/>
          </a:p>
        </p:txBody>
      </p:sp>
      <p:sp>
        <p:nvSpPr>
          <p:cNvPr id="183" name="Google Shape;1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Dauer ca. 1,5 Minuten. Die Journey ist der rote Faden zur Demo.</a:t>
            </a:r>
            <a:endParaRPr/>
          </a:p>
        </p:txBody>
      </p:sp>
      <p:sp>
        <p:nvSpPr>
          <p:cNvPr id="214" name="Google Shape;2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Dauer ca. 2 Minuten. Wichtig: Scope wirkt realistisch und begründet.</a:t>
            </a:r>
            <a:endParaRPr/>
          </a:p>
        </p:txBody>
      </p:sp>
      <p:sp>
        <p:nvSpPr>
          <p:cNvPr id="221" name="Google Shape;2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Dauer ca. 2 Minuten. Nicht jedes Detail erklären, nur die wichtigsten Use Cases und die Verbindung zum MVP.</a:t>
            </a:r>
            <a:endParaRPr/>
          </a:p>
        </p:txBody>
      </p:sp>
      <p:sp>
        <p:nvSpPr>
          <p:cNvPr id="241" name="Google Shape;24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Dauer ca. 2 Minuten. Kurz begründen: warum dieser Stack für ein Laborprojekt praktisch ist.</a:t>
            </a:r>
            <a:endParaRPr/>
          </a:p>
        </p:txBody>
      </p:sp>
      <p:sp>
        <p:nvSpPr>
          <p:cNvPr id="261" name="Google Shape;26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449cae28d_2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g3f449cae28d_2_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Das Backend basiert auf Spring Boot 3.5 mit Java 17, als Datenbank nutzen wir PostgreSQL, das Schema verwalten wir versioniert über Flyway, und alles läuft reproduzierbar über Docker Compose. Wichtig ist der Aufbau: Wir haben das System domänenorientiert in acht Fachmodule geschnitten — Auth, User, Role, Token, Product, Cart, Order und Returns. Jedes Modul folgt derselben Schichtung: Controller → Service → Repository → Entity und an den Rändern arbeiten wir mit DTOs, die die API von der Datenbank entkoppeln. </a:t>
            </a:r>
            <a:endParaRPr/>
          </a:p>
          <a:p>
            <a:pPr indent="0" lvl="0" marL="0" rtl="0" algn="l">
              <a:spcBef>
                <a:spcPts val="0"/>
              </a:spcBef>
              <a:spcAft>
                <a:spcPts val="0"/>
              </a:spcAft>
              <a:buNone/>
            </a:pPr>
            <a:r>
              <a:rPr lang="en-US"/>
              <a:t>In Zahlen: 16 Controller, 11 Repositories, 12 Entities und 12 Flyway-Migrationen. Dieser modulare Schnitt hält den Code wartbar und hat uns erlaubt, im Team parallel zu arbeiten.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Domänenorientiert → Der Code ist nach fachlich Themen organisiert, nicht nach technischen Typen. Jedes Package ist ein Fachthema und enthält alles, was zu diesem Thema gehört.</a:t>
            </a:r>
            <a:endParaRPr/>
          </a:p>
        </p:txBody>
      </p:sp>
      <p:sp>
        <p:nvSpPr>
          <p:cNvPr id="286" name="Google Shape;286;g3f449cae28d_2_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Roboto"/>
                <a:ea typeface="Roboto"/>
                <a:cs typeface="Roboto"/>
                <a:sym typeface="Roboto"/>
              </a:rPr>
              <a:t>Das Datenmodell besteht aus 12 Entitäten in vier klar getrennten Kontexten.</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Erstens Identität und Zugriff: </a:t>
            </a:r>
            <a:r>
              <a:rPr lang="en-US">
                <a:latin typeface="Roboto Mono"/>
                <a:ea typeface="Roboto Mono"/>
                <a:cs typeface="Roboto Mono"/>
                <a:sym typeface="Roboto Mono"/>
              </a:rPr>
              <a:t>User</a:t>
            </a:r>
            <a:r>
              <a:rPr lang="en-US">
                <a:latin typeface="Roboto"/>
                <a:ea typeface="Roboto"/>
                <a:cs typeface="Roboto"/>
                <a:sym typeface="Roboto"/>
              </a:rPr>
              <a:t> und </a:t>
            </a:r>
            <a:r>
              <a:rPr lang="en-US">
                <a:latin typeface="Roboto Mono"/>
                <a:ea typeface="Roboto Mono"/>
                <a:cs typeface="Roboto Mono"/>
                <a:sym typeface="Roboto Mono"/>
              </a:rPr>
              <a:t>Role</a:t>
            </a:r>
            <a:r>
              <a:rPr lang="en-US">
                <a:latin typeface="Roboto"/>
                <a:ea typeface="Roboto"/>
                <a:cs typeface="Roboto"/>
                <a:sym typeface="Roboto"/>
              </a:rPr>
              <a:t> in einer n-zu-m-Beziehung über die Tabelle </a:t>
            </a:r>
            <a:r>
              <a:rPr lang="en-US">
                <a:latin typeface="Roboto Mono"/>
                <a:ea typeface="Roboto Mono"/>
                <a:cs typeface="Roboto Mono"/>
                <a:sym typeface="Roboto Mono"/>
              </a:rPr>
              <a:t>users_roles</a:t>
            </a:r>
            <a:r>
              <a:rPr lang="en-US">
                <a:latin typeface="Roboto"/>
                <a:ea typeface="Roboto"/>
                <a:cs typeface="Roboto"/>
                <a:sym typeface="Roboto"/>
              </a:rPr>
              <a:t>, dazu der </a:t>
            </a:r>
            <a:r>
              <a:rPr lang="en-US">
                <a:latin typeface="Roboto Mono"/>
                <a:ea typeface="Roboto Mono"/>
                <a:cs typeface="Roboto Mono"/>
                <a:sym typeface="Roboto Mono"/>
              </a:rPr>
              <a:t>RefreshToken</a:t>
            </a:r>
            <a:r>
              <a:rPr lang="en-US">
                <a:latin typeface="Roboto"/>
                <a:ea typeface="Roboto"/>
                <a:cs typeface="Roboto"/>
                <a:sym typeface="Roboto"/>
              </a:rPr>
              <a:t> für die Anmeldung.</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Zweitens der Katalog: eine </a:t>
            </a:r>
            <a:r>
              <a:rPr lang="en-US">
                <a:latin typeface="Roboto Mono"/>
                <a:ea typeface="Roboto Mono"/>
                <a:cs typeface="Roboto Mono"/>
                <a:sym typeface="Roboto Mono"/>
              </a:rPr>
              <a:t>Category</a:t>
            </a:r>
            <a:r>
              <a:rPr lang="en-US">
                <a:latin typeface="Roboto"/>
                <a:ea typeface="Roboto"/>
                <a:cs typeface="Roboto"/>
                <a:sym typeface="Roboto"/>
              </a:rPr>
              <a:t> hat viele </a:t>
            </a:r>
            <a:r>
              <a:rPr lang="en-US">
                <a:latin typeface="Roboto Mono"/>
                <a:ea typeface="Roboto Mono"/>
                <a:cs typeface="Roboto Mono"/>
                <a:sym typeface="Roboto Mono"/>
              </a:rPr>
              <a:t>Product</a:t>
            </a:r>
            <a:r>
              <a:rPr lang="en-US">
                <a:latin typeface="Roboto"/>
                <a:ea typeface="Roboto"/>
                <a:cs typeface="Roboto"/>
                <a:sym typeface="Roboto"/>
              </a:rPr>
              <a:t>s, und jedes Produkt hat mehrere </a:t>
            </a:r>
            <a:r>
              <a:rPr lang="en-US">
                <a:latin typeface="Roboto Mono"/>
                <a:ea typeface="Roboto Mono"/>
                <a:cs typeface="Roboto Mono"/>
                <a:sym typeface="Roboto Mono"/>
              </a:rPr>
              <a:t>ProductVariant</a:t>
            </a:r>
            <a:r>
              <a:rPr lang="en-US">
                <a:latin typeface="Roboto"/>
                <a:ea typeface="Roboto"/>
                <a:cs typeface="Roboto"/>
                <a:sym typeface="Roboto"/>
              </a:rPr>
              <a:t>s — also Größen, Farben, Muster.</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Drittens Warenkorb und Bestellung: </a:t>
            </a:r>
            <a:r>
              <a:rPr lang="en-US">
                <a:latin typeface="Roboto Mono"/>
                <a:ea typeface="Roboto Mono"/>
                <a:cs typeface="Roboto Mono"/>
                <a:sym typeface="Roboto Mono"/>
              </a:rPr>
              <a:t>CartItem</a:t>
            </a:r>
            <a:r>
              <a:rPr lang="en-US">
                <a:latin typeface="Roboto"/>
                <a:ea typeface="Roboto"/>
                <a:cs typeface="Roboto"/>
                <a:sym typeface="Roboto"/>
              </a:rPr>
              <a:t> pro Kunde, und die </a:t>
            </a:r>
            <a:r>
              <a:rPr lang="en-US">
                <a:latin typeface="Roboto Mono"/>
                <a:ea typeface="Roboto Mono"/>
                <a:cs typeface="Roboto Mono"/>
                <a:sym typeface="Roboto Mono"/>
              </a:rPr>
              <a:t>Order</a:t>
            </a:r>
            <a:r>
              <a:rPr lang="en-US">
                <a:latin typeface="Roboto"/>
                <a:ea typeface="Roboto"/>
                <a:cs typeface="Roboto"/>
                <a:sym typeface="Roboto"/>
              </a:rPr>
              <a:t> mit ihren </a:t>
            </a:r>
            <a:r>
              <a:rPr lang="en-US">
                <a:latin typeface="Roboto Mono"/>
                <a:ea typeface="Roboto Mono"/>
                <a:cs typeface="Roboto Mono"/>
                <a:sym typeface="Roboto Mono"/>
              </a:rPr>
              <a:t>OrderItem</a:t>
            </a:r>
            <a:r>
              <a:rPr lang="en-US">
                <a:latin typeface="Roboto"/>
                <a:ea typeface="Roboto"/>
                <a:cs typeface="Roboto"/>
                <a:sym typeface="Roboto"/>
              </a:rPr>
              <a:t>s.</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Und viertens die Retouren mit </a:t>
            </a:r>
            <a:r>
              <a:rPr lang="en-US">
                <a:latin typeface="Roboto Mono"/>
                <a:ea typeface="Roboto Mono"/>
                <a:cs typeface="Roboto Mono"/>
                <a:sym typeface="Roboto Mono"/>
              </a:rPr>
              <a:t>ReturnRequest</a:t>
            </a:r>
            <a:r>
              <a:rPr lang="en-US">
                <a:latin typeface="Roboto"/>
                <a:ea typeface="Roboto"/>
                <a:cs typeface="Roboto"/>
                <a:sym typeface="Roboto"/>
              </a:rPr>
              <a:t> und </a:t>
            </a:r>
            <a:r>
              <a:rPr lang="en-US">
                <a:latin typeface="Roboto Mono"/>
                <a:ea typeface="Roboto Mono"/>
                <a:cs typeface="Roboto Mono"/>
                <a:sym typeface="Roboto Mono"/>
              </a:rPr>
              <a:t>ReturnItem</a:t>
            </a:r>
            <a:r>
              <a:rPr lang="en-US">
                <a:latin typeface="Roboto"/>
                <a:ea typeface="Roboto"/>
                <a:cs typeface="Roboto"/>
                <a:sym typeface="Roboto"/>
              </a:rPr>
              <a:t>.</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Der entscheidende Punkt unten: Wir nutzen zwei ID-Strategien — </a:t>
            </a:r>
            <a:r>
              <a:rPr lang="en-US">
                <a:latin typeface="Roboto Mono"/>
                <a:ea typeface="Roboto Mono"/>
                <a:cs typeface="Roboto Mono"/>
                <a:sym typeface="Roboto Mono"/>
              </a:rPr>
              <a:t>UUID</a:t>
            </a:r>
            <a:r>
              <a:rPr lang="en-US">
                <a:latin typeface="Roboto"/>
                <a:ea typeface="Roboto"/>
                <a:cs typeface="Roboto"/>
                <a:sym typeface="Roboto"/>
              </a:rPr>
              <a:t> für transaktionale, kundenbezogene Daten wie Bestellungen, und </a:t>
            </a:r>
            <a:r>
              <a:rPr lang="en-US">
                <a:latin typeface="Roboto Mono"/>
                <a:ea typeface="Roboto Mono"/>
                <a:cs typeface="Roboto Mono"/>
                <a:sym typeface="Roboto Mono"/>
              </a:rPr>
              <a:t>BIGINT</a:t>
            </a:r>
            <a:r>
              <a:rPr lang="en-US">
                <a:latin typeface="Roboto"/>
                <a:ea typeface="Roboto"/>
                <a:cs typeface="Roboto"/>
                <a:sym typeface="Roboto"/>
              </a:rPr>
              <a:t> für den Katalog. Warum, das zeigt die nächste Folie.</a:t>
            </a:r>
            <a:r>
              <a:rPr lang="en-US" sz="1100"/>
              <a:t>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Ein Nutzer kann mehrere Refresh-Tokens gleichzeitig haben - zum Beispiel einen pro Gerät. Jeder Token weiß, zu welchem Nutzer er gehört, über einen Fremdschlüssel </a:t>
            </a:r>
            <a:r>
              <a:rPr b="1" lang="en-US" sz="1100"/>
              <a:t>user_id. </a:t>
            </a:r>
            <a:r>
              <a:rPr lang="en-US" sz="1100"/>
              <a:t>So können wir einzelne Sitzungen gezielt widerrufen, ohne den Nutzer überall auszuloggen</a:t>
            </a:r>
            <a:endParaRPr sz="1100"/>
          </a:p>
        </p:txBody>
      </p:sp>
      <p:sp>
        <p:nvSpPr>
          <p:cNvPr id="306" name="Google Shape;30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f449cae28d_2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f449cae28d_2_1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Roboto"/>
                <a:ea typeface="Roboto"/>
                <a:cs typeface="Roboto"/>
                <a:sym typeface="Roboto"/>
              </a:rPr>
              <a:t>Fünf Entscheidungen prägen das Modell.</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Erstens, zwei ID-Strategien: UUIDs sind nicht erratbar — man kann also nicht einfach fremde Bestellnummern durchprobieren. Für den Katalog reichen fortlaufende BIGINT-IDs.</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	Wir speichern Geldbeträge als </a:t>
            </a:r>
            <a:r>
              <a:rPr b="1" lang="en-US">
                <a:latin typeface="Roboto"/>
                <a:ea typeface="Roboto"/>
                <a:cs typeface="Roboto"/>
                <a:sym typeface="Roboto"/>
              </a:rPr>
              <a:t>BigDecimal, nicht als Double. </a:t>
            </a:r>
            <a:r>
              <a:rPr lang="en-US">
                <a:latin typeface="Roboto"/>
                <a:ea typeface="Roboto"/>
                <a:cs typeface="Roboto"/>
                <a:sym typeface="Roboto"/>
              </a:rPr>
              <a:t>Double rechnet binär und produziert bei Geldbeträgen Rundungsfehler - BigDecimal rechnet exakt dezimal, mit fester Cent-Genauigkeit über </a:t>
            </a:r>
            <a:r>
              <a:rPr b="1" lang="en-US">
                <a:latin typeface="Roboto"/>
                <a:ea typeface="Roboto"/>
                <a:cs typeface="Roboto"/>
                <a:sym typeface="Roboto"/>
              </a:rPr>
              <a:t>scale = 2</a:t>
            </a:r>
            <a:r>
              <a:rPr lang="en-US">
                <a:latin typeface="Roboto"/>
                <a:ea typeface="Roboto"/>
                <a:cs typeface="Roboto"/>
                <a:sym typeface="Roboto"/>
              </a:rPr>
              <a:t>.</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Zweitens, das Snapshot-Prinzip: </a:t>
            </a:r>
            <a:r>
              <a:rPr lang="en-US">
                <a:latin typeface="Roboto Mono"/>
                <a:ea typeface="Roboto Mono"/>
                <a:cs typeface="Roboto Mono"/>
                <a:sym typeface="Roboto Mono"/>
              </a:rPr>
              <a:t>CartItem</a:t>
            </a:r>
            <a:r>
              <a:rPr lang="en-US">
                <a:latin typeface="Roboto"/>
                <a:ea typeface="Roboto"/>
                <a:cs typeface="Roboto"/>
                <a:sym typeface="Roboto"/>
              </a:rPr>
              <a:t> und </a:t>
            </a:r>
            <a:r>
              <a:rPr lang="en-US">
                <a:latin typeface="Roboto Mono"/>
                <a:ea typeface="Roboto Mono"/>
                <a:cs typeface="Roboto Mono"/>
                <a:sym typeface="Roboto Mono"/>
              </a:rPr>
              <a:t>OrderItem</a:t>
            </a:r>
            <a:r>
              <a:rPr lang="en-US">
                <a:latin typeface="Roboto"/>
                <a:ea typeface="Roboto"/>
                <a:cs typeface="Roboto"/>
                <a:sym typeface="Roboto"/>
              </a:rPr>
              <a:t> speichern Produktname und Preis als Kopie. Ändert sich später der Preis eines Produkts, bleibt die alte Bestellung trotzdem korrekt — das ist buchhalterisch wichtig. </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	Eine Bestellposition merkt sich Preis und Name des Produkts zum Kaufzeitpunkt. Ändert sich der Preis später, bleibt die alte Bestellung korrekt - wie ein Kassenbon, der sich nachträglich ändert.</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Drittens, lose Kopplung: Die Bestellung verweist nur per </a:t>
            </a:r>
            <a:r>
              <a:rPr lang="en-US">
                <a:latin typeface="Roboto Mono"/>
                <a:ea typeface="Roboto Mono"/>
                <a:cs typeface="Roboto Mono"/>
                <a:sym typeface="Roboto Mono"/>
              </a:rPr>
              <a:t>productId</a:t>
            </a:r>
            <a:r>
              <a:rPr lang="en-US">
                <a:latin typeface="Roboto"/>
                <a:ea typeface="Roboto"/>
                <a:cs typeface="Roboto"/>
                <a:sym typeface="Roboto"/>
              </a:rPr>
              <a:t> auf den Katalog, ohne harten Fremdschlüssel-Join. So bleiben die Module unabhängig.</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Viertens liegt Geschäftslogik direkt in den Entitäten — zum Beispiel </a:t>
            </a:r>
            <a:r>
              <a:rPr lang="en-US">
                <a:latin typeface="Roboto Mono"/>
                <a:ea typeface="Roboto Mono"/>
                <a:cs typeface="Roboto Mono"/>
                <a:sym typeface="Roboto Mono"/>
              </a:rPr>
              <a:t>reduceStock()</a:t>
            </a:r>
            <a:r>
              <a:rPr lang="en-US">
                <a:latin typeface="Roboto"/>
                <a:ea typeface="Roboto"/>
                <a:cs typeface="Roboto"/>
                <a:sym typeface="Roboto"/>
              </a:rPr>
              <a:t> oder </a:t>
            </a:r>
            <a:r>
              <a:rPr lang="en-US">
                <a:latin typeface="Roboto Mono"/>
                <a:ea typeface="Roboto Mono"/>
                <a:cs typeface="Roboto Mono"/>
                <a:sym typeface="Roboto Mono"/>
              </a:rPr>
              <a:t>publish()</a:t>
            </a:r>
            <a:r>
              <a:rPr lang="en-US">
                <a:latin typeface="Roboto"/>
                <a:ea typeface="Roboto"/>
                <a:cs typeface="Roboto"/>
                <a:sym typeface="Roboto"/>
              </a:rPr>
              <a:t> am Produkt.</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Und fünftens protokollieren wir Änderungen automatisch über Timestamps</a:t>
            </a:r>
            <a:r>
              <a:rPr lang="en-US" sz="1100"/>
              <a:t> </a:t>
            </a:r>
            <a:endParaRPr>
              <a:latin typeface="Roboto"/>
              <a:ea typeface="Roboto"/>
              <a:cs typeface="Roboto"/>
              <a:sym typeface="Roboto"/>
            </a:endParaRPr>
          </a:p>
        </p:txBody>
      </p:sp>
      <p:sp>
        <p:nvSpPr>
          <p:cNvPr id="324" name="Google Shape;324;g3f449cae28d_2_1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Dauer ca. 1,5 Minuten. Ehrlich bleiben: nur zeigen, was stabil funktioniert.</a:t>
            </a:r>
            <a:endParaRPr/>
          </a:p>
        </p:txBody>
      </p:sp>
      <p:sp>
        <p:nvSpPr>
          <p:cNvPr id="340" name="Google Shape;34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Dauer Demo: 5 Minuten. Eine Person klickt, eine Person erklärt.</a:t>
            </a:r>
            <a:endParaRPr/>
          </a:p>
        </p:txBody>
      </p:sp>
      <p:sp>
        <p:nvSpPr>
          <p:cNvPr id="358" name="Google Shape;35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Dauer ca. 1 Minute. Abschluss stark und kurz: Nutzen + Erweiterbarkeit.</a:t>
            </a:r>
            <a:endParaRPr/>
          </a:p>
        </p:txBody>
      </p:sp>
      <p:sp>
        <p:nvSpPr>
          <p:cNvPr id="381" name="Google Shape;38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3" name="Shape 13"/>
        <p:cNvGrpSpPr/>
        <p:nvPr/>
      </p:nvGrpSpPr>
      <p:grpSpPr>
        <a:xfrm>
          <a:off x="0" y="0"/>
          <a:ext cx="0" cy="0"/>
          <a:chOff x="0" y="0"/>
          <a:chExt cx="0" cy="0"/>
        </a:xfrm>
      </p:grpSpPr>
      <p:sp>
        <p:nvSpPr>
          <p:cNvPr id="14" name="Google Shape;14;p2"/>
          <p:cNvSpPr/>
          <p:nvPr/>
        </p:nvSpPr>
        <p:spPr>
          <a:xfrm>
            <a:off x="0" y="0"/>
            <a:ext cx="12191700" cy="6504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5" name="Google Shape;15;p2"/>
          <p:cNvGrpSpPr/>
          <p:nvPr/>
        </p:nvGrpSpPr>
        <p:grpSpPr>
          <a:xfrm>
            <a:off x="1107121" y="1588427"/>
            <a:ext cx="994316" cy="61102"/>
            <a:chOff x="4580561" y="2589004"/>
            <a:chExt cx="1064464" cy="25200"/>
          </a:xfrm>
        </p:grpSpPr>
        <p:sp>
          <p:nvSpPr>
            <p:cNvPr id="16" name="Google Shape;16;p2"/>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 name="Google Shape;17;p2"/>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8" name="Google Shape;18;p2"/>
          <p:cNvSpPr txBox="1"/>
          <p:nvPr>
            <p:ph type="ctrTitle"/>
          </p:nvPr>
        </p:nvSpPr>
        <p:spPr>
          <a:xfrm>
            <a:off x="972574" y="1763267"/>
            <a:ext cx="10250400" cy="2219700"/>
          </a:xfrm>
          <a:prstGeom prst="rect">
            <a:avLst/>
          </a:prstGeom>
        </p:spPr>
        <p:txBody>
          <a:bodyPr anchorCtr="0" anchor="t" bIns="121900" lIns="121900" spcFirstLastPara="1" rIns="121900" wrap="square" tIns="12190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19" name="Google Shape;19;p2"/>
          <p:cNvSpPr txBox="1"/>
          <p:nvPr>
            <p:ph idx="1" type="subTitle"/>
          </p:nvPr>
        </p:nvSpPr>
        <p:spPr>
          <a:xfrm>
            <a:off x="972811" y="4230533"/>
            <a:ext cx="10250400" cy="7215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20" name="Google Shape;20;p2"/>
          <p:cNvSpPr txBox="1"/>
          <p:nvPr>
            <p:ph idx="12" type="sldNum"/>
          </p:nvPr>
        </p:nvSpPr>
        <p:spPr>
          <a:xfrm>
            <a:off x="11381433" y="6333134"/>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1" name="Shape 21"/>
        <p:cNvGrpSpPr/>
        <p:nvPr/>
      </p:nvGrpSpPr>
      <p:grpSpPr>
        <a:xfrm>
          <a:off x="0" y="0"/>
          <a:ext cx="0" cy="0"/>
          <a:chOff x="0" y="0"/>
          <a:chExt cx="0" cy="0"/>
        </a:xfrm>
      </p:grpSpPr>
      <p:grpSp>
        <p:nvGrpSpPr>
          <p:cNvPr id="22" name="Google Shape;22;p3"/>
          <p:cNvGrpSpPr/>
          <p:nvPr/>
        </p:nvGrpSpPr>
        <p:grpSpPr>
          <a:xfrm>
            <a:off x="1107121" y="1588427"/>
            <a:ext cx="994316" cy="61102"/>
            <a:chOff x="4580561" y="2589004"/>
            <a:chExt cx="1064464" cy="25200"/>
          </a:xfrm>
        </p:grpSpPr>
        <p:sp>
          <p:nvSpPr>
            <p:cNvPr id="23" name="Google Shape;23;p3"/>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 name="Google Shape;24;p3"/>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5" name="Google Shape;25;p3"/>
          <p:cNvSpPr txBox="1"/>
          <p:nvPr>
            <p:ph type="title"/>
          </p:nvPr>
        </p:nvSpPr>
        <p:spPr>
          <a:xfrm>
            <a:off x="972574" y="1763267"/>
            <a:ext cx="10251000" cy="20247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26" name="Google Shape;26;p3"/>
          <p:cNvSpPr txBox="1"/>
          <p:nvPr>
            <p:ph idx="12" type="sldNum"/>
          </p:nvPr>
        </p:nvSpPr>
        <p:spPr>
          <a:xfrm>
            <a:off x="11381433" y="6333134"/>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4"/>
          <p:cNvSpPr/>
          <p:nvPr/>
        </p:nvSpPr>
        <p:spPr>
          <a:xfrm>
            <a:off x="0" y="0"/>
            <a:ext cx="121917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29" name="Google Shape;29;p4"/>
          <p:cNvGrpSpPr/>
          <p:nvPr/>
        </p:nvGrpSpPr>
        <p:grpSpPr>
          <a:xfrm>
            <a:off x="1107121" y="1588427"/>
            <a:ext cx="994316" cy="61102"/>
            <a:chOff x="4580561" y="2589004"/>
            <a:chExt cx="1064464" cy="25200"/>
          </a:xfrm>
        </p:grpSpPr>
        <p:sp>
          <p:nvSpPr>
            <p:cNvPr id="30" name="Google Shape;30;p4"/>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 name="Google Shape;31;p4"/>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2" name="Google Shape;32;p4"/>
          <p:cNvSpPr txBox="1"/>
          <p:nvPr>
            <p:ph type="title"/>
          </p:nvPr>
        </p:nvSpPr>
        <p:spPr>
          <a:xfrm>
            <a:off x="972574" y="1758200"/>
            <a:ext cx="10251300" cy="713700"/>
          </a:xfrm>
          <a:prstGeom prst="rect">
            <a:avLst/>
          </a:prstGeom>
        </p:spPr>
        <p:txBody>
          <a:bodyPr anchorCtr="0" anchor="t" bIns="121900" lIns="121900" spcFirstLastPara="1" rIns="121900" wrap="square" tIns="12190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p:txBody>
      </p:sp>
      <p:sp>
        <p:nvSpPr>
          <p:cNvPr id="33" name="Google Shape;33;p4"/>
          <p:cNvSpPr txBox="1"/>
          <p:nvPr>
            <p:ph idx="1" type="body"/>
          </p:nvPr>
        </p:nvSpPr>
        <p:spPr>
          <a:xfrm>
            <a:off x="972574" y="2771833"/>
            <a:ext cx="10251300" cy="3014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34" name="Google Shape;34;p4"/>
          <p:cNvSpPr txBox="1"/>
          <p:nvPr>
            <p:ph idx="12" type="sldNum"/>
          </p:nvPr>
        </p:nvSpPr>
        <p:spPr>
          <a:xfrm>
            <a:off x="11381433" y="6333134"/>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 name="Shape 35"/>
        <p:cNvGrpSpPr/>
        <p:nvPr/>
      </p:nvGrpSpPr>
      <p:grpSpPr>
        <a:xfrm>
          <a:off x="0" y="0"/>
          <a:ext cx="0" cy="0"/>
          <a:chOff x="0" y="0"/>
          <a:chExt cx="0" cy="0"/>
        </a:xfrm>
      </p:grpSpPr>
      <p:sp>
        <p:nvSpPr>
          <p:cNvPr id="36" name="Google Shape;36;p5"/>
          <p:cNvSpPr/>
          <p:nvPr/>
        </p:nvSpPr>
        <p:spPr>
          <a:xfrm>
            <a:off x="0" y="0"/>
            <a:ext cx="121917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7" name="Google Shape;37;p5"/>
          <p:cNvGrpSpPr/>
          <p:nvPr/>
        </p:nvGrpSpPr>
        <p:grpSpPr>
          <a:xfrm>
            <a:off x="1107121" y="1588427"/>
            <a:ext cx="994316" cy="61102"/>
            <a:chOff x="4580561" y="2589004"/>
            <a:chExt cx="1064464" cy="25200"/>
          </a:xfrm>
        </p:grpSpPr>
        <p:sp>
          <p:nvSpPr>
            <p:cNvPr id="38" name="Google Shape;38;p5"/>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 name="Google Shape;39;p5"/>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0" name="Google Shape;40;p5"/>
          <p:cNvSpPr txBox="1"/>
          <p:nvPr>
            <p:ph type="title"/>
          </p:nvPr>
        </p:nvSpPr>
        <p:spPr>
          <a:xfrm>
            <a:off x="972574" y="1758200"/>
            <a:ext cx="10251000" cy="713700"/>
          </a:xfrm>
          <a:prstGeom prst="rect">
            <a:avLst/>
          </a:prstGeom>
        </p:spPr>
        <p:txBody>
          <a:bodyPr anchorCtr="0" anchor="t" bIns="121900" lIns="121900" spcFirstLastPara="1" rIns="121900" wrap="square" tIns="12190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p:txBody>
      </p:sp>
      <p:sp>
        <p:nvSpPr>
          <p:cNvPr id="41" name="Google Shape;41;p5"/>
          <p:cNvSpPr txBox="1"/>
          <p:nvPr>
            <p:ph idx="1" type="body"/>
          </p:nvPr>
        </p:nvSpPr>
        <p:spPr>
          <a:xfrm>
            <a:off x="972408" y="2771833"/>
            <a:ext cx="5032200" cy="3014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42" name="Google Shape;42;p5"/>
          <p:cNvSpPr txBox="1"/>
          <p:nvPr>
            <p:ph idx="2" type="body"/>
          </p:nvPr>
        </p:nvSpPr>
        <p:spPr>
          <a:xfrm>
            <a:off x="6191306" y="2771833"/>
            <a:ext cx="5032200" cy="3014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43" name="Google Shape;43;p5"/>
          <p:cNvSpPr txBox="1"/>
          <p:nvPr>
            <p:ph idx="12" type="sldNum"/>
          </p:nvPr>
        </p:nvSpPr>
        <p:spPr>
          <a:xfrm>
            <a:off x="11381433" y="6333134"/>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p:nvPr/>
        </p:nvSpPr>
        <p:spPr>
          <a:xfrm>
            <a:off x="0" y="0"/>
            <a:ext cx="121917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46" name="Google Shape;46;p6"/>
          <p:cNvGrpSpPr/>
          <p:nvPr/>
        </p:nvGrpSpPr>
        <p:grpSpPr>
          <a:xfrm>
            <a:off x="1107121" y="1588427"/>
            <a:ext cx="994316" cy="61102"/>
            <a:chOff x="4580561" y="2589004"/>
            <a:chExt cx="1064464" cy="25200"/>
          </a:xfrm>
        </p:grpSpPr>
        <p:sp>
          <p:nvSpPr>
            <p:cNvPr id="47" name="Google Shape;47;p6"/>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 name="Google Shape;48;p6"/>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9" name="Google Shape;49;p6"/>
          <p:cNvSpPr txBox="1"/>
          <p:nvPr>
            <p:ph type="title"/>
          </p:nvPr>
        </p:nvSpPr>
        <p:spPr>
          <a:xfrm>
            <a:off x="972574" y="1758200"/>
            <a:ext cx="10251000" cy="713700"/>
          </a:xfrm>
          <a:prstGeom prst="rect">
            <a:avLst/>
          </a:prstGeom>
        </p:spPr>
        <p:txBody>
          <a:bodyPr anchorCtr="0" anchor="t" bIns="121900" lIns="121900" spcFirstLastPara="1" rIns="121900" wrap="square" tIns="12190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p:txBody>
      </p:sp>
      <p:sp>
        <p:nvSpPr>
          <p:cNvPr id="50" name="Google Shape;50;p6"/>
          <p:cNvSpPr txBox="1"/>
          <p:nvPr>
            <p:ph idx="12" type="sldNum"/>
          </p:nvPr>
        </p:nvSpPr>
        <p:spPr>
          <a:xfrm>
            <a:off x="11381433" y="6333134"/>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7"/>
          <p:cNvSpPr/>
          <p:nvPr/>
        </p:nvSpPr>
        <p:spPr>
          <a:xfrm>
            <a:off x="0" y="0"/>
            <a:ext cx="12191700" cy="6504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53" name="Google Shape;53;p7"/>
          <p:cNvGrpSpPr/>
          <p:nvPr/>
        </p:nvGrpSpPr>
        <p:grpSpPr>
          <a:xfrm>
            <a:off x="1107121" y="1588427"/>
            <a:ext cx="994316" cy="61102"/>
            <a:chOff x="4580561" y="2589004"/>
            <a:chExt cx="1064464" cy="25200"/>
          </a:xfrm>
        </p:grpSpPr>
        <p:sp>
          <p:nvSpPr>
            <p:cNvPr id="54" name="Google Shape;54;p7"/>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 name="Google Shape;55;p7"/>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56" name="Google Shape;56;p7"/>
          <p:cNvSpPr txBox="1"/>
          <p:nvPr>
            <p:ph type="title"/>
          </p:nvPr>
        </p:nvSpPr>
        <p:spPr>
          <a:xfrm>
            <a:off x="973307" y="1758200"/>
            <a:ext cx="4401000" cy="1842000"/>
          </a:xfrm>
          <a:prstGeom prst="rect">
            <a:avLst/>
          </a:prstGeom>
        </p:spPr>
        <p:txBody>
          <a:bodyPr anchorCtr="0" anchor="t" bIns="121900" lIns="121900" spcFirstLastPara="1" rIns="121900" wrap="square" tIns="12190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p:txBody>
      </p:sp>
      <p:sp>
        <p:nvSpPr>
          <p:cNvPr id="57" name="Google Shape;57;p7"/>
          <p:cNvSpPr txBox="1"/>
          <p:nvPr>
            <p:ph idx="1" type="body"/>
          </p:nvPr>
        </p:nvSpPr>
        <p:spPr>
          <a:xfrm>
            <a:off x="961608" y="3708967"/>
            <a:ext cx="4401000" cy="21300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8" name="Google Shape;58;p7"/>
          <p:cNvSpPr txBox="1"/>
          <p:nvPr>
            <p:ph idx="12" type="sldNum"/>
          </p:nvPr>
        </p:nvSpPr>
        <p:spPr>
          <a:xfrm>
            <a:off x="11381433" y="6333134"/>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9" name="Shape 59"/>
        <p:cNvGrpSpPr/>
        <p:nvPr/>
      </p:nvGrpSpPr>
      <p:grpSpPr>
        <a:xfrm>
          <a:off x="0" y="0"/>
          <a:ext cx="0" cy="0"/>
          <a:chOff x="0" y="0"/>
          <a:chExt cx="0" cy="0"/>
        </a:xfrm>
      </p:grpSpPr>
      <p:grpSp>
        <p:nvGrpSpPr>
          <p:cNvPr id="60" name="Google Shape;60;p8"/>
          <p:cNvGrpSpPr/>
          <p:nvPr/>
        </p:nvGrpSpPr>
        <p:grpSpPr>
          <a:xfrm>
            <a:off x="1107121" y="5558926"/>
            <a:ext cx="994316" cy="61102"/>
            <a:chOff x="4580561" y="2589004"/>
            <a:chExt cx="1064464" cy="25200"/>
          </a:xfrm>
        </p:grpSpPr>
        <p:sp>
          <p:nvSpPr>
            <p:cNvPr id="61" name="Google Shape;61;p8"/>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 name="Google Shape;62;p8"/>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63" name="Google Shape;63;p8"/>
          <p:cNvSpPr txBox="1"/>
          <p:nvPr>
            <p:ph type="title"/>
          </p:nvPr>
        </p:nvSpPr>
        <p:spPr>
          <a:xfrm>
            <a:off x="972574" y="1152400"/>
            <a:ext cx="9361500" cy="39801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64" name="Google Shape;64;p8"/>
          <p:cNvSpPr txBox="1"/>
          <p:nvPr>
            <p:ph idx="12" type="sldNum"/>
          </p:nvPr>
        </p:nvSpPr>
        <p:spPr>
          <a:xfrm>
            <a:off x="11381433" y="6333134"/>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5" name="Shape 65"/>
        <p:cNvGrpSpPr/>
        <p:nvPr/>
      </p:nvGrpSpPr>
      <p:grpSpPr>
        <a:xfrm>
          <a:off x="0" y="0"/>
          <a:ext cx="0" cy="0"/>
          <a:chOff x="0" y="0"/>
          <a:chExt cx="0" cy="0"/>
        </a:xfrm>
      </p:grpSpPr>
      <p:sp>
        <p:nvSpPr>
          <p:cNvPr id="66" name="Google Shape;66;p9"/>
          <p:cNvSpPr/>
          <p:nvPr/>
        </p:nvSpPr>
        <p:spPr>
          <a:xfrm>
            <a:off x="0" y="0"/>
            <a:ext cx="60957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67" name="Google Shape;67;p9"/>
          <p:cNvGrpSpPr/>
          <p:nvPr/>
        </p:nvGrpSpPr>
        <p:grpSpPr>
          <a:xfrm>
            <a:off x="1107121" y="1588427"/>
            <a:ext cx="994316" cy="61102"/>
            <a:chOff x="4580561" y="2589004"/>
            <a:chExt cx="1064464" cy="25200"/>
          </a:xfrm>
        </p:grpSpPr>
        <p:sp>
          <p:nvSpPr>
            <p:cNvPr id="68" name="Google Shape;68;p9"/>
            <p:cNvSpPr/>
            <p:nvPr/>
          </p:nvSpPr>
          <p:spPr>
            <a:xfrm rot="-5400000">
              <a:off x="5366325" y="2335504"/>
              <a:ext cx="25200" cy="532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 name="Google Shape;69;p9"/>
            <p:cNvSpPr/>
            <p:nvPr/>
          </p:nvSpPr>
          <p:spPr>
            <a:xfrm rot="-5400000">
              <a:off x="4836311" y="2333254"/>
              <a:ext cx="25200" cy="5367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70" name="Google Shape;70;p9"/>
          <p:cNvSpPr txBox="1"/>
          <p:nvPr>
            <p:ph type="title"/>
          </p:nvPr>
        </p:nvSpPr>
        <p:spPr>
          <a:xfrm>
            <a:off x="973307" y="1758200"/>
            <a:ext cx="4401000" cy="2249700"/>
          </a:xfrm>
          <a:prstGeom prst="rect">
            <a:avLst/>
          </a:prstGeom>
        </p:spPr>
        <p:txBody>
          <a:bodyPr anchorCtr="0" anchor="t" bIns="121900" lIns="121900" spcFirstLastPara="1" rIns="121900" wrap="square" tIns="12190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p:txBody>
      </p:sp>
      <p:sp>
        <p:nvSpPr>
          <p:cNvPr id="71" name="Google Shape;71;p9"/>
          <p:cNvSpPr txBox="1"/>
          <p:nvPr>
            <p:ph idx="1" type="subTitle"/>
          </p:nvPr>
        </p:nvSpPr>
        <p:spPr>
          <a:xfrm>
            <a:off x="966574" y="4215367"/>
            <a:ext cx="4401000" cy="10119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72" name="Google Shape;72;p9"/>
          <p:cNvSpPr txBox="1"/>
          <p:nvPr>
            <p:ph idx="2" type="body"/>
          </p:nvPr>
        </p:nvSpPr>
        <p:spPr>
          <a:xfrm>
            <a:off x="6898783" y="1803500"/>
            <a:ext cx="4499100" cy="40341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73" name="Google Shape;73;p9"/>
          <p:cNvSpPr txBox="1"/>
          <p:nvPr>
            <p:ph idx="12" type="sldNum"/>
          </p:nvPr>
        </p:nvSpPr>
        <p:spPr>
          <a:xfrm>
            <a:off x="11381433" y="6333134"/>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p10"/>
          <p:cNvSpPr txBox="1"/>
          <p:nvPr>
            <p:ph idx="1" type="body"/>
          </p:nvPr>
        </p:nvSpPr>
        <p:spPr>
          <a:xfrm>
            <a:off x="966574" y="5830068"/>
            <a:ext cx="10263000" cy="6141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1700"/>
              <a:buNone/>
              <a:defRPr/>
            </a:lvl1pPr>
          </a:lstStyle>
          <a:p/>
        </p:txBody>
      </p:sp>
      <p:sp>
        <p:nvSpPr>
          <p:cNvPr id="76" name="Google Shape;76;p10"/>
          <p:cNvSpPr txBox="1"/>
          <p:nvPr>
            <p:ph idx="12" type="sldNum"/>
          </p:nvPr>
        </p:nvSpPr>
        <p:spPr>
          <a:xfrm>
            <a:off x="11381433" y="6333134"/>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7" name="Shape 77"/>
        <p:cNvGrpSpPr/>
        <p:nvPr/>
      </p:nvGrpSpPr>
      <p:grpSpPr>
        <a:xfrm>
          <a:off x="0" y="0"/>
          <a:ext cx="0" cy="0"/>
          <a:chOff x="0" y="0"/>
          <a:chExt cx="0" cy="0"/>
        </a:xfrm>
      </p:grpSpPr>
      <p:grpSp>
        <p:nvGrpSpPr>
          <p:cNvPr id="78" name="Google Shape;78;p11"/>
          <p:cNvGrpSpPr/>
          <p:nvPr/>
        </p:nvGrpSpPr>
        <p:grpSpPr>
          <a:xfrm>
            <a:off x="1107121" y="5558926"/>
            <a:ext cx="994316" cy="61102"/>
            <a:chOff x="4580561" y="2589004"/>
            <a:chExt cx="1064464" cy="25200"/>
          </a:xfrm>
        </p:grpSpPr>
        <p:sp>
          <p:nvSpPr>
            <p:cNvPr id="79" name="Google Shape;79;p11"/>
            <p:cNvSpPr/>
            <p:nvPr/>
          </p:nvSpPr>
          <p:spPr>
            <a:xfrm rot="-5400000">
              <a:off x="5366325" y="2335504"/>
              <a:ext cx="25200" cy="5322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 name="Google Shape;80;p11"/>
            <p:cNvSpPr/>
            <p:nvPr/>
          </p:nvSpPr>
          <p:spPr>
            <a:xfrm rot="-5400000">
              <a:off x="4836311" y="2333254"/>
              <a:ext cx="25200" cy="5367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81" name="Google Shape;81;p11"/>
          <p:cNvSpPr txBox="1"/>
          <p:nvPr>
            <p:ph hasCustomPrompt="1" type="title"/>
          </p:nvPr>
        </p:nvSpPr>
        <p:spPr>
          <a:xfrm>
            <a:off x="972574" y="978600"/>
            <a:ext cx="10251000" cy="16596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10700"/>
              <a:buNone/>
              <a:defRPr sz="10700">
                <a:solidFill>
                  <a:schemeClr val="lt1"/>
                </a:solidFill>
              </a:defRPr>
            </a:lvl1pPr>
            <a:lvl2pPr lvl="1">
              <a:spcBef>
                <a:spcPts val="0"/>
              </a:spcBef>
              <a:spcAft>
                <a:spcPts val="0"/>
              </a:spcAft>
              <a:buClr>
                <a:schemeClr val="lt1"/>
              </a:buClr>
              <a:buSzPts val="10700"/>
              <a:buNone/>
              <a:defRPr sz="10700">
                <a:solidFill>
                  <a:schemeClr val="lt1"/>
                </a:solidFill>
              </a:defRPr>
            </a:lvl2pPr>
            <a:lvl3pPr lvl="2">
              <a:spcBef>
                <a:spcPts val="0"/>
              </a:spcBef>
              <a:spcAft>
                <a:spcPts val="0"/>
              </a:spcAft>
              <a:buClr>
                <a:schemeClr val="lt1"/>
              </a:buClr>
              <a:buSzPts val="10700"/>
              <a:buNone/>
              <a:defRPr sz="10700">
                <a:solidFill>
                  <a:schemeClr val="lt1"/>
                </a:solidFill>
              </a:defRPr>
            </a:lvl3pPr>
            <a:lvl4pPr lvl="3">
              <a:spcBef>
                <a:spcPts val="0"/>
              </a:spcBef>
              <a:spcAft>
                <a:spcPts val="0"/>
              </a:spcAft>
              <a:buClr>
                <a:schemeClr val="lt1"/>
              </a:buClr>
              <a:buSzPts val="10700"/>
              <a:buNone/>
              <a:defRPr sz="10700">
                <a:solidFill>
                  <a:schemeClr val="lt1"/>
                </a:solidFill>
              </a:defRPr>
            </a:lvl4pPr>
            <a:lvl5pPr lvl="4">
              <a:spcBef>
                <a:spcPts val="0"/>
              </a:spcBef>
              <a:spcAft>
                <a:spcPts val="0"/>
              </a:spcAft>
              <a:buClr>
                <a:schemeClr val="lt1"/>
              </a:buClr>
              <a:buSzPts val="10700"/>
              <a:buNone/>
              <a:defRPr sz="10700">
                <a:solidFill>
                  <a:schemeClr val="lt1"/>
                </a:solidFill>
              </a:defRPr>
            </a:lvl5pPr>
            <a:lvl6pPr lvl="5">
              <a:spcBef>
                <a:spcPts val="0"/>
              </a:spcBef>
              <a:spcAft>
                <a:spcPts val="0"/>
              </a:spcAft>
              <a:buClr>
                <a:schemeClr val="lt1"/>
              </a:buClr>
              <a:buSzPts val="10700"/>
              <a:buNone/>
              <a:defRPr sz="10700">
                <a:solidFill>
                  <a:schemeClr val="lt1"/>
                </a:solidFill>
              </a:defRPr>
            </a:lvl6pPr>
            <a:lvl7pPr lvl="6">
              <a:spcBef>
                <a:spcPts val="0"/>
              </a:spcBef>
              <a:spcAft>
                <a:spcPts val="0"/>
              </a:spcAft>
              <a:buClr>
                <a:schemeClr val="lt1"/>
              </a:buClr>
              <a:buSzPts val="10700"/>
              <a:buNone/>
              <a:defRPr sz="10700">
                <a:solidFill>
                  <a:schemeClr val="lt1"/>
                </a:solidFill>
              </a:defRPr>
            </a:lvl7pPr>
            <a:lvl8pPr lvl="7">
              <a:spcBef>
                <a:spcPts val="0"/>
              </a:spcBef>
              <a:spcAft>
                <a:spcPts val="0"/>
              </a:spcAft>
              <a:buClr>
                <a:schemeClr val="lt1"/>
              </a:buClr>
              <a:buSzPts val="10700"/>
              <a:buNone/>
              <a:defRPr sz="10700">
                <a:solidFill>
                  <a:schemeClr val="lt1"/>
                </a:solidFill>
              </a:defRPr>
            </a:lvl8pPr>
            <a:lvl9pPr lvl="8">
              <a:spcBef>
                <a:spcPts val="0"/>
              </a:spcBef>
              <a:spcAft>
                <a:spcPts val="0"/>
              </a:spcAft>
              <a:buClr>
                <a:schemeClr val="lt1"/>
              </a:buClr>
              <a:buSzPts val="10700"/>
              <a:buNone/>
              <a:defRPr sz="10700">
                <a:solidFill>
                  <a:schemeClr val="lt1"/>
                </a:solidFill>
              </a:defRPr>
            </a:lvl9pPr>
          </a:lstStyle>
          <a:p>
            <a:r>
              <a:t>xx%</a:t>
            </a:r>
          </a:p>
        </p:txBody>
      </p:sp>
      <p:sp>
        <p:nvSpPr>
          <p:cNvPr id="82" name="Google Shape;82;p11"/>
          <p:cNvSpPr txBox="1"/>
          <p:nvPr>
            <p:ph idx="1" type="body"/>
          </p:nvPr>
        </p:nvSpPr>
        <p:spPr>
          <a:xfrm>
            <a:off x="972574" y="3030517"/>
            <a:ext cx="10251000" cy="21072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Clr>
                <a:schemeClr val="lt1"/>
              </a:buClr>
              <a:buSzPts val="1700"/>
              <a:buChar char="●"/>
              <a:defRPr>
                <a:solidFill>
                  <a:schemeClr val="lt1"/>
                </a:solidFill>
              </a:defRPr>
            </a:lvl1pPr>
            <a:lvl2pPr indent="-323850" lvl="1" marL="914400">
              <a:spcBef>
                <a:spcPts val="0"/>
              </a:spcBef>
              <a:spcAft>
                <a:spcPts val="0"/>
              </a:spcAft>
              <a:buClr>
                <a:schemeClr val="lt1"/>
              </a:buClr>
              <a:buSzPts val="1500"/>
              <a:buChar char="○"/>
              <a:defRPr>
                <a:solidFill>
                  <a:schemeClr val="lt1"/>
                </a:solidFill>
              </a:defRPr>
            </a:lvl2pPr>
            <a:lvl3pPr indent="-323850" lvl="2" marL="1371600">
              <a:spcBef>
                <a:spcPts val="0"/>
              </a:spcBef>
              <a:spcAft>
                <a:spcPts val="0"/>
              </a:spcAft>
              <a:buClr>
                <a:schemeClr val="lt1"/>
              </a:buClr>
              <a:buSzPts val="1500"/>
              <a:buChar char="■"/>
              <a:defRPr>
                <a:solidFill>
                  <a:schemeClr val="lt1"/>
                </a:solidFill>
              </a:defRPr>
            </a:lvl3pPr>
            <a:lvl4pPr indent="-323850" lvl="3" marL="1828800">
              <a:spcBef>
                <a:spcPts val="0"/>
              </a:spcBef>
              <a:spcAft>
                <a:spcPts val="0"/>
              </a:spcAft>
              <a:buClr>
                <a:schemeClr val="lt1"/>
              </a:buClr>
              <a:buSzPts val="1500"/>
              <a:buChar char="●"/>
              <a:defRPr>
                <a:solidFill>
                  <a:schemeClr val="lt1"/>
                </a:solidFill>
              </a:defRPr>
            </a:lvl4pPr>
            <a:lvl5pPr indent="-323850" lvl="4" marL="2286000">
              <a:spcBef>
                <a:spcPts val="0"/>
              </a:spcBef>
              <a:spcAft>
                <a:spcPts val="0"/>
              </a:spcAft>
              <a:buClr>
                <a:schemeClr val="lt1"/>
              </a:buClr>
              <a:buSzPts val="1500"/>
              <a:buChar char="○"/>
              <a:defRPr>
                <a:solidFill>
                  <a:schemeClr val="lt1"/>
                </a:solidFill>
              </a:defRPr>
            </a:lvl5pPr>
            <a:lvl6pPr indent="-323850" lvl="5" marL="2743200">
              <a:spcBef>
                <a:spcPts val="0"/>
              </a:spcBef>
              <a:spcAft>
                <a:spcPts val="0"/>
              </a:spcAft>
              <a:buClr>
                <a:schemeClr val="lt1"/>
              </a:buClr>
              <a:buSzPts val="1500"/>
              <a:buChar char="■"/>
              <a:defRPr>
                <a:solidFill>
                  <a:schemeClr val="lt1"/>
                </a:solidFill>
              </a:defRPr>
            </a:lvl6pPr>
            <a:lvl7pPr indent="-323850" lvl="6" marL="3200400">
              <a:spcBef>
                <a:spcPts val="0"/>
              </a:spcBef>
              <a:spcAft>
                <a:spcPts val="0"/>
              </a:spcAft>
              <a:buClr>
                <a:schemeClr val="lt1"/>
              </a:buClr>
              <a:buSzPts val="1500"/>
              <a:buChar char="●"/>
              <a:defRPr>
                <a:solidFill>
                  <a:schemeClr val="lt1"/>
                </a:solidFill>
              </a:defRPr>
            </a:lvl7pPr>
            <a:lvl8pPr indent="-323850" lvl="7" marL="3657600">
              <a:spcBef>
                <a:spcPts val="0"/>
              </a:spcBef>
              <a:spcAft>
                <a:spcPts val="0"/>
              </a:spcAft>
              <a:buClr>
                <a:schemeClr val="lt1"/>
              </a:buClr>
              <a:buSzPts val="1500"/>
              <a:buChar char="○"/>
              <a:defRPr>
                <a:solidFill>
                  <a:schemeClr val="lt1"/>
                </a:solidFill>
              </a:defRPr>
            </a:lvl8pPr>
            <a:lvl9pPr indent="-323850" lvl="8" marL="4114800">
              <a:spcBef>
                <a:spcPts val="0"/>
              </a:spcBef>
              <a:spcAft>
                <a:spcPts val="0"/>
              </a:spcAft>
              <a:buClr>
                <a:schemeClr val="lt1"/>
              </a:buClr>
              <a:buSzPts val="1500"/>
              <a:buChar char="■"/>
              <a:defRPr>
                <a:solidFill>
                  <a:schemeClr val="lt1"/>
                </a:solidFill>
              </a:defRPr>
            </a:lvl9pPr>
          </a:lstStyle>
          <a:p/>
        </p:txBody>
      </p:sp>
      <p:sp>
        <p:nvSpPr>
          <p:cNvPr id="83" name="Google Shape;83;p11"/>
          <p:cNvSpPr txBox="1"/>
          <p:nvPr>
            <p:ph idx="12" type="sldNum"/>
          </p:nvPr>
        </p:nvSpPr>
        <p:spPr>
          <a:xfrm>
            <a:off x="11381433" y="6333134"/>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p12"/>
          <p:cNvSpPr txBox="1"/>
          <p:nvPr>
            <p:ph idx="12" type="sldNum"/>
          </p:nvPr>
        </p:nvSpPr>
        <p:spPr>
          <a:xfrm>
            <a:off x="11381433" y="6333134"/>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6" name="Shape 86"/>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VAZI_MASTER">
  <p:cSld name="MAVAZI_MASTER">
    <p:bg>
      <p:bgPr>
        <a:solidFill>
          <a:srgbClr val="FBF7EF"/>
        </a:solidFill>
      </p:bgPr>
    </p:bg>
    <p:spTree>
      <p:nvGrpSpPr>
        <p:cNvPr id="87" name="Shape 87"/>
        <p:cNvGrpSpPr/>
        <p:nvPr/>
      </p:nvGrpSpPr>
      <p:grpSpPr>
        <a:xfrm>
          <a:off x="0" y="0"/>
          <a:ext cx="0" cy="0"/>
          <a:chOff x="0" y="0"/>
          <a:chExt cx="0" cy="0"/>
        </a:xfrm>
      </p:grpSpPr>
      <p:sp>
        <p:nvSpPr>
          <p:cNvPr id="88" name="Google Shape;88;p14"/>
          <p:cNvSpPr/>
          <p:nvPr/>
        </p:nvSpPr>
        <p:spPr>
          <a:xfrm>
            <a:off x="0" y="0"/>
            <a:ext cx="12191700" cy="292500"/>
          </a:xfrm>
          <a:prstGeom prst="rect">
            <a:avLst/>
          </a:prstGeom>
          <a:solidFill>
            <a:srgbClr val="17120E"/>
          </a:solidFill>
          <a:ln cap="flat" cmpd="sng" w="12700">
            <a:solidFill>
              <a:srgbClr val="17120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0" y="6565392"/>
            <a:ext cx="12191700" cy="292500"/>
          </a:xfrm>
          <a:prstGeom prst="rect">
            <a:avLst/>
          </a:prstGeom>
          <a:solidFill>
            <a:srgbClr val="17120E"/>
          </a:solidFill>
          <a:ln cap="flat" cmpd="sng" w="12700">
            <a:solidFill>
              <a:srgbClr val="17120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384048" y="6601968"/>
            <a:ext cx="4389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2E8"/>
              </a:buClr>
              <a:buSzPts val="750"/>
              <a:buFont typeface="Arial"/>
              <a:buNone/>
            </a:pPr>
            <a:r>
              <a:rPr b="0" i="0" lang="en-US" sz="750" u="none" cap="none" strike="noStrike">
                <a:solidFill>
                  <a:srgbClr val="F9F2E8"/>
                </a:solidFill>
                <a:latin typeface="Arial"/>
                <a:ea typeface="Arial"/>
                <a:cs typeface="Arial"/>
                <a:sym typeface="Arial"/>
              </a:rPr>
              <a:t>MavaziHub · L03 Abschlusspräsentation</a:t>
            </a:r>
            <a:endParaRPr b="0" i="0" sz="750" u="none" cap="none" strike="noStrike">
              <a:solidFill>
                <a:schemeClr val="dk1"/>
              </a:solidFill>
              <a:latin typeface="Arial"/>
              <a:ea typeface="Arial"/>
              <a:cs typeface="Arial"/>
              <a:sym typeface="Arial"/>
            </a:endParaRPr>
          </a:p>
        </p:txBody>
      </p:sp>
      <p:sp>
        <p:nvSpPr>
          <p:cNvPr id="91" name="Google Shape;91;p14"/>
          <p:cNvSpPr/>
          <p:nvPr/>
        </p:nvSpPr>
        <p:spPr>
          <a:xfrm>
            <a:off x="9646920" y="6601968"/>
            <a:ext cx="2057400" cy="164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9F2E8"/>
              </a:buClr>
              <a:buSzPts val="750"/>
              <a:buFont typeface="Arial"/>
              <a:buNone/>
            </a:pPr>
            <a:r>
              <a:rPr b="0" i="0" lang="en-US" sz="750" u="none" cap="none" strike="noStrike">
                <a:solidFill>
                  <a:srgbClr val="F9F2E8"/>
                </a:solidFill>
                <a:latin typeface="Arial"/>
                <a:ea typeface="Arial"/>
                <a:cs typeface="Arial"/>
                <a:sym typeface="Arial"/>
              </a:rPr>
              <a:t>NordByte Solutions</a:t>
            </a:r>
            <a:endParaRPr b="0" i="0" sz="750" u="none" cap="none" strike="noStrike">
              <a:solidFill>
                <a:schemeClr val="dk1"/>
              </a:solidFill>
              <a:latin typeface="Arial"/>
              <a:ea typeface="Arial"/>
              <a:cs typeface="Arial"/>
              <a:sym typeface="Arial"/>
            </a:endParaRPr>
          </a:p>
        </p:txBody>
      </p:sp>
      <p:sp>
        <p:nvSpPr>
          <p:cNvPr id="92" name="Google Shape;92;p14"/>
          <p:cNvSpPr txBox="1"/>
          <p:nvPr>
            <p:ph idx="12" type="sldNum"/>
          </p:nvPr>
        </p:nvSpPr>
        <p:spPr>
          <a:xfrm>
            <a:off x="11795760" y="6601968"/>
            <a:ext cx="800100" cy="300000"/>
          </a:xfrm>
          <a:prstGeom prst="rect">
            <a:avLst/>
          </a:prstGeom>
          <a:noFill/>
          <a:ln>
            <a:noFill/>
          </a:ln>
        </p:spPr>
        <p:txBody>
          <a:bodyPr anchorCtr="0" anchor="t" bIns="45700" lIns="91425" spcFirstLastPara="1" rIns="91425" wrap="square" tIns="45700">
            <a:normAutofit/>
          </a:bodyPr>
          <a:lstStyle>
            <a:lvl1pPr indent="0" lvl="0" marL="0" marR="0" algn="l">
              <a:spcBef>
                <a:spcPts val="0"/>
              </a:spcBef>
              <a:buNone/>
              <a:defRPr b="0" i="0" sz="750" u="none" cap="none" strike="noStrike">
                <a:solidFill>
                  <a:srgbClr val="F9F2E8"/>
                </a:solidFill>
                <a:latin typeface="Arial"/>
                <a:ea typeface="Arial"/>
                <a:cs typeface="Arial"/>
                <a:sym typeface="Arial"/>
              </a:defRPr>
            </a:lvl1pPr>
            <a:lvl2pPr indent="0" lvl="1" marL="0" marR="0" algn="l">
              <a:spcBef>
                <a:spcPts val="0"/>
              </a:spcBef>
              <a:buNone/>
              <a:defRPr b="0" i="0" sz="750" u="none" cap="none" strike="noStrike">
                <a:solidFill>
                  <a:srgbClr val="F9F2E8"/>
                </a:solidFill>
                <a:latin typeface="Arial"/>
                <a:ea typeface="Arial"/>
                <a:cs typeface="Arial"/>
                <a:sym typeface="Arial"/>
              </a:defRPr>
            </a:lvl2pPr>
            <a:lvl3pPr indent="0" lvl="2" marL="0" marR="0" algn="l">
              <a:spcBef>
                <a:spcPts val="0"/>
              </a:spcBef>
              <a:buNone/>
              <a:defRPr b="0" i="0" sz="750" u="none" cap="none" strike="noStrike">
                <a:solidFill>
                  <a:srgbClr val="F9F2E8"/>
                </a:solidFill>
                <a:latin typeface="Arial"/>
                <a:ea typeface="Arial"/>
                <a:cs typeface="Arial"/>
                <a:sym typeface="Arial"/>
              </a:defRPr>
            </a:lvl3pPr>
            <a:lvl4pPr indent="0" lvl="3" marL="0" marR="0" algn="l">
              <a:spcBef>
                <a:spcPts val="0"/>
              </a:spcBef>
              <a:buNone/>
              <a:defRPr b="0" i="0" sz="750" u="none" cap="none" strike="noStrike">
                <a:solidFill>
                  <a:srgbClr val="F9F2E8"/>
                </a:solidFill>
                <a:latin typeface="Arial"/>
                <a:ea typeface="Arial"/>
                <a:cs typeface="Arial"/>
                <a:sym typeface="Arial"/>
              </a:defRPr>
            </a:lvl4pPr>
            <a:lvl5pPr indent="0" lvl="4" marL="0" marR="0" algn="l">
              <a:spcBef>
                <a:spcPts val="0"/>
              </a:spcBef>
              <a:buNone/>
              <a:defRPr b="0" i="0" sz="750" u="none" cap="none" strike="noStrike">
                <a:solidFill>
                  <a:srgbClr val="F9F2E8"/>
                </a:solidFill>
                <a:latin typeface="Arial"/>
                <a:ea typeface="Arial"/>
                <a:cs typeface="Arial"/>
                <a:sym typeface="Arial"/>
              </a:defRPr>
            </a:lvl5pPr>
            <a:lvl6pPr indent="0" lvl="5" marL="0" marR="0" algn="l">
              <a:spcBef>
                <a:spcPts val="0"/>
              </a:spcBef>
              <a:buNone/>
              <a:defRPr b="0" i="0" sz="750" u="none" cap="none" strike="noStrike">
                <a:solidFill>
                  <a:srgbClr val="F9F2E8"/>
                </a:solidFill>
                <a:latin typeface="Arial"/>
                <a:ea typeface="Arial"/>
                <a:cs typeface="Arial"/>
                <a:sym typeface="Arial"/>
              </a:defRPr>
            </a:lvl6pPr>
            <a:lvl7pPr indent="0" lvl="6" marL="0" marR="0" algn="l">
              <a:spcBef>
                <a:spcPts val="0"/>
              </a:spcBef>
              <a:buNone/>
              <a:defRPr b="0" i="0" sz="750" u="none" cap="none" strike="noStrike">
                <a:solidFill>
                  <a:srgbClr val="F9F2E8"/>
                </a:solidFill>
                <a:latin typeface="Arial"/>
                <a:ea typeface="Arial"/>
                <a:cs typeface="Arial"/>
                <a:sym typeface="Arial"/>
              </a:defRPr>
            </a:lvl7pPr>
            <a:lvl8pPr indent="0" lvl="7" marL="0" marR="0" algn="l">
              <a:spcBef>
                <a:spcPts val="0"/>
              </a:spcBef>
              <a:buNone/>
              <a:defRPr b="0" i="0" sz="750" u="none" cap="none" strike="noStrike">
                <a:solidFill>
                  <a:srgbClr val="F9F2E8"/>
                </a:solidFill>
                <a:latin typeface="Arial"/>
                <a:ea typeface="Arial"/>
                <a:cs typeface="Arial"/>
                <a:sym typeface="Arial"/>
              </a:defRPr>
            </a:lvl8pPr>
            <a:lvl9pPr indent="0" lvl="8" marL="0" marR="0" algn="l">
              <a:spcBef>
                <a:spcPts val="0"/>
              </a:spcBef>
              <a:buNone/>
              <a:defRPr b="0" i="0" sz="750" u="none" cap="none" strike="noStrike">
                <a:solidFill>
                  <a:srgbClr val="F9F2E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15589" y="593367"/>
            <a:ext cx="113604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2"/>
              </a:buClr>
              <a:buSzPts val="3700"/>
              <a:buFont typeface="Raleway"/>
              <a:buNone/>
              <a:defRPr b="1" sz="3700">
                <a:solidFill>
                  <a:schemeClr val="dk2"/>
                </a:solidFill>
                <a:latin typeface="Raleway"/>
                <a:ea typeface="Raleway"/>
                <a:cs typeface="Raleway"/>
                <a:sym typeface="Raleway"/>
              </a:defRPr>
            </a:lvl1pPr>
            <a:lvl2pPr lvl="1">
              <a:spcBef>
                <a:spcPts val="0"/>
              </a:spcBef>
              <a:spcAft>
                <a:spcPts val="0"/>
              </a:spcAft>
              <a:buClr>
                <a:schemeClr val="dk2"/>
              </a:buClr>
              <a:buSzPts val="3700"/>
              <a:buFont typeface="Raleway"/>
              <a:buNone/>
              <a:defRPr b="1" sz="3700">
                <a:solidFill>
                  <a:schemeClr val="dk2"/>
                </a:solidFill>
                <a:latin typeface="Raleway"/>
                <a:ea typeface="Raleway"/>
                <a:cs typeface="Raleway"/>
                <a:sym typeface="Raleway"/>
              </a:defRPr>
            </a:lvl2pPr>
            <a:lvl3pPr lvl="2">
              <a:spcBef>
                <a:spcPts val="0"/>
              </a:spcBef>
              <a:spcAft>
                <a:spcPts val="0"/>
              </a:spcAft>
              <a:buClr>
                <a:schemeClr val="dk2"/>
              </a:buClr>
              <a:buSzPts val="3700"/>
              <a:buFont typeface="Raleway"/>
              <a:buNone/>
              <a:defRPr b="1" sz="3700">
                <a:solidFill>
                  <a:schemeClr val="dk2"/>
                </a:solidFill>
                <a:latin typeface="Raleway"/>
                <a:ea typeface="Raleway"/>
                <a:cs typeface="Raleway"/>
                <a:sym typeface="Raleway"/>
              </a:defRPr>
            </a:lvl3pPr>
            <a:lvl4pPr lvl="3">
              <a:spcBef>
                <a:spcPts val="0"/>
              </a:spcBef>
              <a:spcAft>
                <a:spcPts val="0"/>
              </a:spcAft>
              <a:buClr>
                <a:schemeClr val="dk2"/>
              </a:buClr>
              <a:buSzPts val="3700"/>
              <a:buFont typeface="Raleway"/>
              <a:buNone/>
              <a:defRPr b="1" sz="3700">
                <a:solidFill>
                  <a:schemeClr val="dk2"/>
                </a:solidFill>
                <a:latin typeface="Raleway"/>
                <a:ea typeface="Raleway"/>
                <a:cs typeface="Raleway"/>
                <a:sym typeface="Raleway"/>
              </a:defRPr>
            </a:lvl4pPr>
            <a:lvl5pPr lvl="4">
              <a:spcBef>
                <a:spcPts val="0"/>
              </a:spcBef>
              <a:spcAft>
                <a:spcPts val="0"/>
              </a:spcAft>
              <a:buClr>
                <a:schemeClr val="dk2"/>
              </a:buClr>
              <a:buSzPts val="3700"/>
              <a:buFont typeface="Raleway"/>
              <a:buNone/>
              <a:defRPr b="1" sz="3700">
                <a:solidFill>
                  <a:schemeClr val="dk2"/>
                </a:solidFill>
                <a:latin typeface="Raleway"/>
                <a:ea typeface="Raleway"/>
                <a:cs typeface="Raleway"/>
                <a:sym typeface="Raleway"/>
              </a:defRPr>
            </a:lvl5pPr>
            <a:lvl6pPr lvl="5">
              <a:spcBef>
                <a:spcPts val="0"/>
              </a:spcBef>
              <a:spcAft>
                <a:spcPts val="0"/>
              </a:spcAft>
              <a:buClr>
                <a:schemeClr val="dk2"/>
              </a:buClr>
              <a:buSzPts val="3700"/>
              <a:buFont typeface="Raleway"/>
              <a:buNone/>
              <a:defRPr b="1" sz="3700">
                <a:solidFill>
                  <a:schemeClr val="dk2"/>
                </a:solidFill>
                <a:latin typeface="Raleway"/>
                <a:ea typeface="Raleway"/>
                <a:cs typeface="Raleway"/>
                <a:sym typeface="Raleway"/>
              </a:defRPr>
            </a:lvl6pPr>
            <a:lvl7pPr lvl="6">
              <a:spcBef>
                <a:spcPts val="0"/>
              </a:spcBef>
              <a:spcAft>
                <a:spcPts val="0"/>
              </a:spcAft>
              <a:buClr>
                <a:schemeClr val="dk2"/>
              </a:buClr>
              <a:buSzPts val="3700"/>
              <a:buFont typeface="Raleway"/>
              <a:buNone/>
              <a:defRPr b="1" sz="3700">
                <a:solidFill>
                  <a:schemeClr val="dk2"/>
                </a:solidFill>
                <a:latin typeface="Raleway"/>
                <a:ea typeface="Raleway"/>
                <a:cs typeface="Raleway"/>
                <a:sym typeface="Raleway"/>
              </a:defRPr>
            </a:lvl7pPr>
            <a:lvl8pPr lvl="7">
              <a:spcBef>
                <a:spcPts val="0"/>
              </a:spcBef>
              <a:spcAft>
                <a:spcPts val="0"/>
              </a:spcAft>
              <a:buClr>
                <a:schemeClr val="dk2"/>
              </a:buClr>
              <a:buSzPts val="3700"/>
              <a:buFont typeface="Raleway"/>
              <a:buNone/>
              <a:defRPr b="1" sz="3700">
                <a:solidFill>
                  <a:schemeClr val="dk2"/>
                </a:solidFill>
                <a:latin typeface="Raleway"/>
                <a:ea typeface="Raleway"/>
                <a:cs typeface="Raleway"/>
                <a:sym typeface="Raleway"/>
              </a:defRPr>
            </a:lvl8pPr>
            <a:lvl9pPr lvl="8">
              <a:spcBef>
                <a:spcPts val="0"/>
              </a:spcBef>
              <a:spcAft>
                <a:spcPts val="0"/>
              </a:spcAft>
              <a:buClr>
                <a:schemeClr val="dk2"/>
              </a:buClr>
              <a:buSzPts val="3700"/>
              <a:buFont typeface="Raleway"/>
              <a:buNone/>
              <a:defRPr b="1" sz="3700">
                <a:solidFill>
                  <a:schemeClr val="dk2"/>
                </a:solidFill>
                <a:latin typeface="Raleway"/>
                <a:ea typeface="Raleway"/>
                <a:cs typeface="Raleway"/>
                <a:sym typeface="Raleway"/>
              </a:defRPr>
            </a:lvl9pPr>
          </a:lstStyle>
          <a:p/>
        </p:txBody>
      </p:sp>
      <p:sp>
        <p:nvSpPr>
          <p:cNvPr id="11" name="Google Shape;11;p1"/>
          <p:cNvSpPr txBox="1"/>
          <p:nvPr>
            <p:ph idx="1" type="body"/>
          </p:nvPr>
        </p:nvSpPr>
        <p:spPr>
          <a:xfrm>
            <a:off x="415589" y="1536633"/>
            <a:ext cx="11360400" cy="4555200"/>
          </a:xfrm>
          <a:prstGeom prst="rect">
            <a:avLst/>
          </a:prstGeom>
          <a:noFill/>
          <a:ln>
            <a:noFill/>
          </a:ln>
        </p:spPr>
        <p:txBody>
          <a:bodyPr anchorCtr="0" anchor="t" bIns="121900" lIns="121900" spcFirstLastPara="1" rIns="121900" wrap="square" tIns="121900">
            <a:normAutofit/>
          </a:bodyPr>
          <a:lstStyle>
            <a:lvl1pPr indent="-336550" lvl="0" marL="457200">
              <a:lnSpc>
                <a:spcPct val="115000"/>
              </a:lnSpc>
              <a:spcBef>
                <a:spcPts val="0"/>
              </a:spcBef>
              <a:spcAft>
                <a:spcPts val="0"/>
              </a:spcAft>
              <a:buClr>
                <a:schemeClr val="accent1"/>
              </a:buClr>
              <a:buSzPts val="1700"/>
              <a:buFont typeface="Lato"/>
              <a:buChar char="●"/>
              <a:defRPr sz="1700">
                <a:solidFill>
                  <a:schemeClr val="accent1"/>
                </a:solidFill>
                <a:latin typeface="Lato"/>
                <a:ea typeface="Lato"/>
                <a:cs typeface="Lato"/>
                <a:sym typeface="Lato"/>
              </a:defRPr>
            </a:lvl1pPr>
            <a:lvl2pPr indent="-323850" lvl="1" marL="91440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2pPr>
            <a:lvl3pPr indent="-323850" lvl="2" marL="137160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3pPr>
            <a:lvl4pPr indent="-323850" lvl="3" marL="182880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4pPr>
            <a:lvl5pPr indent="-323850" lvl="4" marL="228600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5pPr>
            <a:lvl6pPr indent="-323850" lvl="5" marL="274320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6pPr>
            <a:lvl7pPr indent="-323850" lvl="6" marL="320040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7pPr>
            <a:lvl8pPr indent="-323850" lvl="7" marL="365760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8pPr>
            <a:lvl9pPr indent="-323850" lvl="8" marL="411480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9pPr>
          </a:lstStyle>
          <a:p/>
        </p:txBody>
      </p:sp>
      <p:sp>
        <p:nvSpPr>
          <p:cNvPr id="12" name="Google Shape;12;p1"/>
          <p:cNvSpPr txBox="1"/>
          <p:nvPr>
            <p:ph idx="12" type="sldNum"/>
          </p:nvPr>
        </p:nvSpPr>
        <p:spPr>
          <a:xfrm>
            <a:off x="11381433" y="6333134"/>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accent1"/>
                </a:solidFill>
                <a:latin typeface="Lato"/>
                <a:ea typeface="Lato"/>
                <a:cs typeface="Lato"/>
                <a:sym typeface="Lato"/>
              </a:defRPr>
            </a:lvl1pPr>
            <a:lvl2pPr lvl="1" algn="r">
              <a:buNone/>
              <a:defRPr sz="1300">
                <a:solidFill>
                  <a:schemeClr val="accent1"/>
                </a:solidFill>
                <a:latin typeface="Lato"/>
                <a:ea typeface="Lato"/>
                <a:cs typeface="Lato"/>
                <a:sym typeface="Lato"/>
              </a:defRPr>
            </a:lvl2pPr>
            <a:lvl3pPr lvl="2" algn="r">
              <a:buNone/>
              <a:defRPr sz="1300">
                <a:solidFill>
                  <a:schemeClr val="accent1"/>
                </a:solidFill>
                <a:latin typeface="Lato"/>
                <a:ea typeface="Lato"/>
                <a:cs typeface="Lato"/>
                <a:sym typeface="Lato"/>
              </a:defRPr>
            </a:lvl3pPr>
            <a:lvl4pPr lvl="3" algn="r">
              <a:buNone/>
              <a:defRPr sz="1300">
                <a:solidFill>
                  <a:schemeClr val="accent1"/>
                </a:solidFill>
                <a:latin typeface="Lato"/>
                <a:ea typeface="Lato"/>
                <a:cs typeface="Lato"/>
                <a:sym typeface="Lato"/>
              </a:defRPr>
            </a:lvl4pPr>
            <a:lvl5pPr lvl="4" algn="r">
              <a:buNone/>
              <a:defRPr sz="1300">
                <a:solidFill>
                  <a:schemeClr val="accent1"/>
                </a:solidFill>
                <a:latin typeface="Lato"/>
                <a:ea typeface="Lato"/>
                <a:cs typeface="Lato"/>
                <a:sym typeface="Lato"/>
              </a:defRPr>
            </a:lvl5pPr>
            <a:lvl6pPr lvl="5" algn="r">
              <a:buNone/>
              <a:defRPr sz="1300">
                <a:solidFill>
                  <a:schemeClr val="accent1"/>
                </a:solidFill>
                <a:latin typeface="Lato"/>
                <a:ea typeface="Lato"/>
                <a:cs typeface="Lato"/>
                <a:sym typeface="Lato"/>
              </a:defRPr>
            </a:lvl6pPr>
            <a:lvl7pPr lvl="6" algn="r">
              <a:buNone/>
              <a:defRPr sz="1300">
                <a:solidFill>
                  <a:schemeClr val="accent1"/>
                </a:solidFill>
                <a:latin typeface="Lato"/>
                <a:ea typeface="Lato"/>
                <a:cs typeface="Lato"/>
                <a:sym typeface="Lato"/>
              </a:defRPr>
            </a:lvl7pPr>
            <a:lvl8pPr lvl="7" algn="r">
              <a:buNone/>
              <a:defRPr sz="1300">
                <a:solidFill>
                  <a:schemeClr val="accent1"/>
                </a:solidFill>
                <a:latin typeface="Lato"/>
                <a:ea typeface="Lato"/>
                <a:cs typeface="Lato"/>
                <a:sym typeface="Lato"/>
              </a:defRPr>
            </a:lvl8pPr>
            <a:lvl9pPr lvl="8" algn="r">
              <a:buNone/>
              <a:defRPr sz="13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97" name="Shape 97"/>
        <p:cNvGrpSpPr/>
        <p:nvPr/>
      </p:nvGrpSpPr>
      <p:grpSpPr>
        <a:xfrm>
          <a:off x="0" y="0"/>
          <a:ext cx="0" cy="0"/>
          <a:chOff x="0" y="0"/>
          <a:chExt cx="0" cy="0"/>
        </a:xfrm>
      </p:grpSpPr>
      <p:sp>
        <p:nvSpPr>
          <p:cNvPr id="98" name="Google Shape;98;p15"/>
          <p:cNvSpPr/>
          <p:nvPr/>
        </p:nvSpPr>
        <p:spPr>
          <a:xfrm>
            <a:off x="0" y="0"/>
            <a:ext cx="12191695" cy="384048"/>
          </a:xfrm>
          <a:prstGeom prst="rect">
            <a:avLst/>
          </a:prstGeom>
          <a:solidFill>
            <a:srgbClr val="0B0907"/>
          </a:solidFill>
          <a:ln cap="flat" cmpd="sng" w="12700">
            <a:solidFill>
              <a:srgbClr val="0B090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p:nvPr/>
        </p:nvSpPr>
        <p:spPr>
          <a:xfrm>
            <a:off x="621792" y="118872"/>
            <a:ext cx="448056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MavaziHub · African Fashion Store</a:t>
            </a:r>
            <a:endParaRPr b="0" i="0" sz="850" u="none" cap="none" strike="noStrike">
              <a:solidFill>
                <a:schemeClr val="dk1"/>
              </a:solidFill>
              <a:latin typeface="Arial"/>
              <a:ea typeface="Arial"/>
              <a:cs typeface="Arial"/>
              <a:sym typeface="Arial"/>
            </a:endParaRPr>
          </a:p>
        </p:txBody>
      </p:sp>
      <p:sp>
        <p:nvSpPr>
          <p:cNvPr id="100" name="Google Shape;100;p15"/>
          <p:cNvSpPr/>
          <p:nvPr/>
        </p:nvSpPr>
        <p:spPr>
          <a:xfrm>
            <a:off x="786384" y="960120"/>
            <a:ext cx="512064" cy="512064"/>
          </a:xfrm>
          <a:prstGeom prst="ellipse">
            <a:avLst/>
          </a:prstGeom>
          <a:solidFill>
            <a:srgbClr val="5B2619"/>
          </a:solidFill>
          <a:ln cap="flat" cmpd="sng" w="12700">
            <a:solidFill>
              <a:srgbClr val="5B26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a:off x="877824" y="1129284"/>
            <a:ext cx="329184"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MH</a:t>
            </a:r>
            <a:endParaRPr b="0" i="0" sz="900" u="none" cap="none" strike="noStrike">
              <a:solidFill>
                <a:schemeClr val="dk1"/>
              </a:solidFill>
              <a:latin typeface="Arial"/>
              <a:ea typeface="Arial"/>
              <a:cs typeface="Arial"/>
              <a:sym typeface="Arial"/>
            </a:endParaRPr>
          </a:p>
        </p:txBody>
      </p:sp>
      <p:sp>
        <p:nvSpPr>
          <p:cNvPr id="102" name="Google Shape;102;p15"/>
          <p:cNvSpPr/>
          <p:nvPr/>
        </p:nvSpPr>
        <p:spPr>
          <a:xfrm>
            <a:off x="1444752" y="914400"/>
            <a:ext cx="2926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440"/>
              </a:buClr>
              <a:buSzPts val="2500"/>
              <a:buFont typeface="Arial"/>
              <a:buNone/>
            </a:pPr>
            <a:r>
              <a:rPr b="1" i="0" lang="en-US" sz="2500" u="none" cap="none" strike="noStrike">
                <a:solidFill>
                  <a:srgbClr val="2E3440"/>
                </a:solidFill>
                <a:latin typeface="Arial"/>
                <a:ea typeface="Arial"/>
                <a:cs typeface="Arial"/>
                <a:sym typeface="Arial"/>
              </a:rPr>
              <a:t>MavaziHub</a:t>
            </a:r>
            <a:endParaRPr b="0" i="0" sz="2500" u="none" cap="none" strike="noStrike">
              <a:solidFill>
                <a:schemeClr val="dk1"/>
              </a:solidFill>
              <a:latin typeface="Arial"/>
              <a:ea typeface="Arial"/>
              <a:cs typeface="Arial"/>
              <a:sym typeface="Arial"/>
            </a:endParaRPr>
          </a:p>
        </p:txBody>
      </p:sp>
      <p:sp>
        <p:nvSpPr>
          <p:cNvPr id="103" name="Google Shape;103;p15"/>
          <p:cNvSpPr/>
          <p:nvPr/>
        </p:nvSpPr>
        <p:spPr>
          <a:xfrm>
            <a:off x="1463040" y="1307592"/>
            <a:ext cx="21945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752A"/>
              </a:buClr>
              <a:buSzPts val="850"/>
              <a:buFont typeface="Arial"/>
              <a:buNone/>
            </a:pPr>
            <a:r>
              <a:rPr b="1" i="0" lang="en-US" sz="850" u="none" cap="none" strike="noStrike">
                <a:solidFill>
                  <a:srgbClr val="C8752A"/>
                </a:solidFill>
                <a:latin typeface="Arial"/>
                <a:ea typeface="Arial"/>
                <a:cs typeface="Arial"/>
                <a:sym typeface="Arial"/>
              </a:rPr>
              <a:t>African Fashion Store</a:t>
            </a:r>
            <a:endParaRPr b="0" i="0" sz="850" u="none" cap="none" strike="noStrike">
              <a:solidFill>
                <a:schemeClr val="dk1"/>
              </a:solidFill>
              <a:latin typeface="Arial"/>
              <a:ea typeface="Arial"/>
              <a:cs typeface="Arial"/>
              <a:sym typeface="Arial"/>
            </a:endParaRPr>
          </a:p>
        </p:txBody>
      </p:sp>
      <p:sp>
        <p:nvSpPr>
          <p:cNvPr id="104" name="Google Shape;104;p15"/>
          <p:cNvSpPr/>
          <p:nvPr/>
        </p:nvSpPr>
        <p:spPr>
          <a:xfrm>
            <a:off x="786384" y="2057400"/>
            <a:ext cx="53035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440"/>
              </a:buClr>
              <a:buSzPts val="3600"/>
              <a:buFont typeface="Arial"/>
              <a:buNone/>
            </a:pPr>
            <a:r>
              <a:rPr b="1" i="0" lang="en-US" sz="3600" u="none" cap="none" strike="noStrike">
                <a:solidFill>
                  <a:srgbClr val="2E3440"/>
                </a:solidFill>
                <a:latin typeface="Arial"/>
                <a:ea typeface="Arial"/>
                <a:cs typeface="Arial"/>
                <a:sym typeface="Arial"/>
              </a:rPr>
              <a:t>Abschlusspräsentation</a:t>
            </a:r>
            <a:endParaRPr b="0" i="0" sz="3600" u="none" cap="none" strike="noStrike">
              <a:solidFill>
                <a:schemeClr val="dk1"/>
              </a:solidFill>
              <a:latin typeface="Arial"/>
              <a:ea typeface="Arial"/>
              <a:cs typeface="Arial"/>
              <a:sym typeface="Arial"/>
            </a:endParaRPr>
          </a:p>
        </p:txBody>
      </p:sp>
      <p:sp>
        <p:nvSpPr>
          <p:cNvPr id="105" name="Google Shape;105;p15"/>
          <p:cNvSpPr/>
          <p:nvPr/>
        </p:nvSpPr>
        <p:spPr>
          <a:xfrm>
            <a:off x="822960" y="2788920"/>
            <a:ext cx="52120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16A"/>
              </a:buClr>
              <a:buSzPts val="1500"/>
              <a:buFont typeface="Arial"/>
              <a:buNone/>
            </a:pPr>
            <a:r>
              <a:rPr b="0" i="0" lang="en-US" sz="1500" u="none" cap="none" strike="noStrike">
                <a:solidFill>
                  <a:srgbClr val="77716A"/>
                </a:solidFill>
                <a:latin typeface="Arial"/>
                <a:ea typeface="Arial"/>
                <a:cs typeface="Arial"/>
                <a:sym typeface="Arial"/>
              </a:rPr>
              <a:t>B2C-E-Commerce-Plattform für afrikanische Mode, Stoffe und Accessoires</a:t>
            </a:r>
            <a:endParaRPr b="0" i="0" sz="1500" u="none" cap="none" strike="noStrike">
              <a:solidFill>
                <a:schemeClr val="dk1"/>
              </a:solidFill>
              <a:latin typeface="Arial"/>
              <a:ea typeface="Arial"/>
              <a:cs typeface="Arial"/>
              <a:sym typeface="Arial"/>
            </a:endParaRPr>
          </a:p>
        </p:txBody>
      </p:sp>
      <p:cxnSp>
        <p:nvCxnSpPr>
          <p:cNvPr id="106" name="Google Shape;106;p15"/>
          <p:cNvCxnSpPr/>
          <p:nvPr/>
        </p:nvCxnSpPr>
        <p:spPr>
          <a:xfrm>
            <a:off x="822960" y="3456432"/>
            <a:ext cx="2011680" cy="0"/>
          </a:xfrm>
          <a:prstGeom prst="straightConnector1">
            <a:avLst/>
          </a:prstGeom>
          <a:noFill/>
          <a:ln cap="flat" cmpd="sng" w="50800">
            <a:solidFill>
              <a:srgbClr val="C8752A"/>
            </a:solidFill>
            <a:prstDash val="solid"/>
            <a:round/>
            <a:headEnd len="sm" w="sm" type="none"/>
            <a:tailEnd len="sm" w="sm" type="none"/>
          </a:ln>
        </p:spPr>
      </p:cxnSp>
      <p:sp>
        <p:nvSpPr>
          <p:cNvPr id="107" name="Google Shape;107;p15"/>
          <p:cNvSpPr/>
          <p:nvPr/>
        </p:nvSpPr>
        <p:spPr>
          <a:xfrm>
            <a:off x="822960" y="3931920"/>
            <a:ext cx="4297680" cy="1188720"/>
          </a:xfrm>
          <a:prstGeom prst="roundRect">
            <a:avLst>
              <a:gd fmla="val 3846" name="adj"/>
            </a:avLst>
          </a:prstGeom>
          <a:solidFill>
            <a:srgbClr val="FFFDF8"/>
          </a:solidFill>
          <a:ln cap="flat" cmpd="sng" w="12700">
            <a:solidFill>
              <a:srgbClr val="E7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a:off x="987552" y="4096512"/>
            <a:ext cx="3968496" cy="859536"/>
          </a:xfrm>
          <a:prstGeom prst="rect">
            <a:avLst/>
          </a:prstGeom>
          <a:noFill/>
          <a:ln>
            <a:noFill/>
          </a:ln>
        </p:spPr>
        <p:txBody>
          <a:bodyPr anchorCtr="0" anchor="ctr" bIns="27432" lIns="73152" spcFirstLastPara="1" rIns="73152" wrap="square" tIns="27432">
            <a:noAutofit/>
          </a:bodyPr>
          <a:lstStyle/>
          <a:p>
            <a:pPr algn="l"/>
            <a:r>
              <a:rPr sz="1400" b="0">
                <a:solidFill>
                  <a:srgbClr val="2E3440"/>
                </a:solidFill>
                <a:latin typeface="Arial"/>
              </a:rPr>
              <a:t>Team NordByte Solutions</a:t>
            </a:r>
          </a:p>
          <a:p>
            <a:pPr algn="l"/>
            <a:r>
              <a:rPr sz="1400" b="0">
                <a:solidFill>
                  <a:srgbClr val="2E3440"/>
                </a:solidFill>
                <a:latin typeface="Arial"/>
              </a:rPr>
              <a:t>L03 Abschlusspräsentation · 10. Juli 2026</a:t>
            </a:r>
          </a:p>
        </p:txBody>
      </p:sp>
      <p:pic>
        <p:nvPicPr>
          <p:cNvPr descr="/mnt/data/image.png" id="109" name="Google Shape;109;p15"/>
          <p:cNvPicPr preferRelativeResize="0"/>
          <p:nvPr/>
        </p:nvPicPr>
        <p:blipFill rotWithShape="1">
          <a:blip r:embed="rId3">
            <a:alphaModFix/>
          </a:blip>
          <a:srcRect b="0" l="18357" r="18357" t="0"/>
          <a:stretch/>
        </p:blipFill>
        <p:spPr>
          <a:xfrm>
            <a:off x="6172200" y="1024125"/>
            <a:ext cx="5486397" cy="4608599"/>
          </a:xfrm>
          <a:prstGeom prst="rect">
            <a:avLst/>
          </a:prstGeom>
          <a:noFill/>
          <a:ln>
            <a:noFill/>
          </a:ln>
        </p:spPr>
      </p:pic>
      <p:sp>
        <p:nvSpPr>
          <p:cNvPr id="110" name="Google Shape;110;p15"/>
          <p:cNvSpPr/>
          <p:nvPr/>
        </p:nvSpPr>
        <p:spPr>
          <a:xfrm>
            <a:off x="6197400" y="5632725"/>
            <a:ext cx="5436000" cy="402300"/>
          </a:xfrm>
          <a:prstGeom prst="rect">
            <a:avLst/>
          </a:prstGeom>
          <a:solidFill>
            <a:srgbClr val="8B4B1A">
              <a:alpha val="90196"/>
            </a:srgbClr>
          </a:solidFill>
          <a:ln cap="flat" cmpd="sng" w="12700">
            <a:solidFill>
              <a:srgbClr val="8B4B1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a:off x="6355080" y="5394947"/>
            <a:ext cx="4663500" cy="73200"/>
          </a:xfrm>
          <a:prstGeom prst="rect">
            <a:avLst/>
          </a:prstGeom>
          <a:noFill/>
          <a:ln>
            <a:noFill/>
          </a:ln>
        </p:spPr>
        <p:txBody>
          <a:bodyPr anchorCtr="0" anchor="ctr" bIns="27432" lIns="73152" spcFirstLastPara="1" rIns="73152" wrap="square" tIns="27432">
            <a:noAutofit/>
          </a:bodyPr>
          <a:lstStyle/>
          <a:p>
            <a:pPr algn="ctr"/>
            <a:r>
              <a:rPr sz="850" b="0">
                <a:solidFill>
                  <a:srgbClr val="FFFFFF"/>
                </a:solidFill>
                <a:latin typeface="Arial"/>
              </a:rPr>
              <a:t>MVP als Grundlage für digitalen Vertrieb und Folgeinvestitionen</a:t>
            </a:r>
          </a:p>
        </p:txBody>
      </p:sp>
      <p:sp>
        <p:nvSpPr>
          <p:cNvPr id="112" name="TextBox 111"/>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01</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117" name="Shape 117"/>
        <p:cNvGrpSpPr/>
        <p:nvPr/>
      </p:nvGrpSpPr>
      <p:grpSpPr>
        <a:xfrm>
          <a:off x="0" y="0"/>
          <a:ext cx="0" cy="0"/>
          <a:chOff x="0" y="0"/>
          <a:chExt cx="0" cy="0"/>
        </a:xfrm>
      </p:grpSpPr>
      <p:sp>
        <p:nvSpPr>
          <p:cNvPr id="118" name="Google Shape;118;p16"/>
          <p:cNvSpPr/>
          <p:nvPr/>
        </p:nvSpPr>
        <p:spPr>
          <a:xfrm>
            <a:off x="0" y="0"/>
            <a:ext cx="12191700" cy="384000"/>
          </a:xfrm>
          <a:prstGeom prst="rect">
            <a:avLst/>
          </a:prstGeom>
          <a:solidFill>
            <a:srgbClr val="15100D"/>
          </a:solidFill>
          <a:ln cap="flat" cmpd="sng" w="12700">
            <a:solidFill>
              <a:srgbClr val="1510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6"/>
          <p:cNvSpPr/>
          <p:nvPr/>
        </p:nvSpPr>
        <p:spPr>
          <a:xfrm>
            <a:off x="621792" y="109728"/>
            <a:ext cx="4206300" cy="13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MavaziHub · African Fashion Store</a:t>
            </a:r>
            <a:endParaRPr b="0" i="0" sz="800" u="none" cap="none" strike="noStrike">
              <a:solidFill>
                <a:schemeClr val="dk1"/>
              </a:solidFill>
              <a:latin typeface="Arial"/>
              <a:ea typeface="Arial"/>
              <a:cs typeface="Arial"/>
              <a:sym typeface="Arial"/>
            </a:endParaRPr>
          </a:p>
        </p:txBody>
      </p:sp>
      <p:sp>
        <p:nvSpPr>
          <p:cNvPr id="120" name="Google Shape;120;p16"/>
          <p:cNvSpPr/>
          <p:nvPr/>
        </p:nvSpPr>
        <p:spPr>
          <a:xfrm>
            <a:off x="566928" y="621792"/>
            <a:ext cx="347400" cy="347400"/>
          </a:xfrm>
          <a:prstGeom prst="ellipse">
            <a:avLst/>
          </a:prstGeom>
          <a:solidFill>
            <a:srgbClr val="6A2E1D"/>
          </a:solidFill>
          <a:ln cap="flat" cmpd="sng" w="12700">
            <a:solidFill>
              <a:srgbClr val="6A2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
          <p:cNvSpPr/>
          <p:nvPr/>
        </p:nvSpPr>
        <p:spPr>
          <a:xfrm>
            <a:off x="566928" y="722376"/>
            <a:ext cx="347400" cy="9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MH</a:t>
            </a:r>
            <a:endParaRPr b="0" i="0" sz="900" u="none" cap="none" strike="noStrike">
              <a:solidFill>
                <a:schemeClr val="dk1"/>
              </a:solidFill>
              <a:latin typeface="Arial"/>
              <a:ea typeface="Arial"/>
              <a:cs typeface="Arial"/>
              <a:sym typeface="Arial"/>
            </a:endParaRPr>
          </a:p>
        </p:txBody>
      </p:sp>
      <p:sp>
        <p:nvSpPr>
          <p:cNvPr id="122" name="Google Shape;122;p16"/>
          <p:cNvSpPr/>
          <p:nvPr/>
        </p:nvSpPr>
        <p:spPr>
          <a:xfrm>
            <a:off x="1024128" y="603504"/>
            <a:ext cx="21945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542"/>
              </a:buClr>
              <a:buSzPts val="1800"/>
              <a:buFont typeface="Play"/>
              <a:buNone/>
            </a:pPr>
            <a:r>
              <a:rPr b="1" i="0" lang="en-US" sz="1800" u="none" cap="none" strike="noStrike">
                <a:solidFill>
                  <a:srgbClr val="2F3542"/>
                </a:solidFill>
                <a:latin typeface="Play"/>
                <a:ea typeface="Play"/>
                <a:cs typeface="Play"/>
                <a:sym typeface="Play"/>
              </a:rPr>
              <a:t>MavaziHub</a:t>
            </a:r>
            <a:endParaRPr b="0" i="0" sz="1800" u="none" cap="none" strike="noStrike">
              <a:solidFill>
                <a:schemeClr val="dk1"/>
              </a:solidFill>
              <a:latin typeface="Arial"/>
              <a:ea typeface="Arial"/>
              <a:cs typeface="Arial"/>
              <a:sym typeface="Arial"/>
            </a:endParaRPr>
          </a:p>
        </p:txBody>
      </p:sp>
      <p:sp>
        <p:nvSpPr>
          <p:cNvPr id="123" name="Google Shape;123;p16"/>
          <p:cNvSpPr/>
          <p:nvPr/>
        </p:nvSpPr>
        <p:spPr>
          <a:xfrm>
            <a:off x="1024128" y="859536"/>
            <a:ext cx="18288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741B"/>
              </a:buClr>
              <a:buSzPts val="700"/>
              <a:buFont typeface="Arial"/>
              <a:buNone/>
            </a:pPr>
            <a:r>
              <a:rPr b="1" i="0" lang="en-US" sz="700" u="none" cap="none" strike="noStrike">
                <a:solidFill>
                  <a:srgbClr val="CC741B"/>
                </a:solidFill>
                <a:latin typeface="Arial"/>
                <a:ea typeface="Arial"/>
                <a:cs typeface="Arial"/>
                <a:sym typeface="Arial"/>
              </a:rPr>
              <a:t>African Fashion Store</a:t>
            </a:r>
            <a:endParaRPr b="0" i="0" sz="700" u="none" cap="none" strike="noStrike">
              <a:solidFill>
                <a:schemeClr val="dk1"/>
              </a:solidFill>
              <a:latin typeface="Arial"/>
              <a:ea typeface="Arial"/>
              <a:cs typeface="Arial"/>
              <a:sym typeface="Arial"/>
            </a:endParaRPr>
          </a:p>
        </p:txBody>
      </p:sp>
      <p:pic>
        <p:nvPicPr>
          <p:cNvPr descr="/mnt/data/nordbyte_logo_cropped2.png" id="124" name="Google Shape;124;p16"/>
          <p:cNvPicPr preferRelativeResize="0"/>
          <p:nvPr/>
        </p:nvPicPr>
        <p:blipFill rotWithShape="1">
          <a:blip r:embed="rId3">
            <a:alphaModFix/>
          </a:blip>
          <a:srcRect b="0" l="0" r="0" t="0"/>
          <a:stretch/>
        </p:blipFill>
        <p:spPr>
          <a:xfrm>
            <a:off x="10378425" y="504193"/>
            <a:ext cx="1326000" cy="527870"/>
          </a:xfrm>
          <a:prstGeom prst="rect">
            <a:avLst/>
          </a:prstGeom>
          <a:noFill/>
          <a:ln>
            <a:noFill/>
          </a:ln>
        </p:spPr>
      </p:pic>
      <p:sp>
        <p:nvSpPr>
          <p:cNvPr id="125" name="Google Shape;125;p16"/>
          <p:cNvSpPr/>
          <p:nvPr/>
        </p:nvSpPr>
        <p:spPr>
          <a:xfrm>
            <a:off x="10149840" y="6510528"/>
            <a:ext cx="1326000" cy="10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C736D"/>
              </a:buClr>
              <a:buSzPts val="700"/>
              <a:buFont typeface="Arial"/>
              <a:buNone/>
            </a:pPr>
            <a:r>
              <a:rPr b="0" i="0" lang="en-US" sz="700" u="none" cap="none" strike="noStrike">
                <a:solidFill>
                  <a:srgbClr val="7C736D"/>
                </a:solidFill>
                <a:latin typeface="Arial"/>
                <a:ea typeface="Arial"/>
                <a:cs typeface="Arial"/>
                <a:sym typeface="Arial"/>
              </a:rPr>
              <a:t>NordByte Solutions</a:t>
            </a:r>
            <a:endParaRPr b="0" i="0" sz="700" u="none" cap="none" strike="noStrike">
              <a:solidFill>
                <a:schemeClr val="dk1"/>
              </a:solidFill>
              <a:latin typeface="Arial"/>
              <a:ea typeface="Arial"/>
              <a:cs typeface="Arial"/>
              <a:sym typeface="Arial"/>
            </a:endParaRPr>
          </a:p>
        </p:txBody>
      </p:sp>
      <p:sp>
        <p:nvSpPr>
          <p:cNvPr id="127" name="Google Shape;127;p16"/>
          <p:cNvSpPr/>
          <p:nvPr/>
        </p:nvSpPr>
        <p:spPr>
          <a:xfrm>
            <a:off x="676656" y="1417320"/>
            <a:ext cx="7132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542"/>
              </a:buClr>
              <a:buSzPts val="2700"/>
              <a:buFont typeface="Play"/>
              <a:buNone/>
            </a:pPr>
            <a:r>
              <a:rPr b="1" i="0" lang="en-US" sz="2700" u="none" cap="none" strike="noStrike">
                <a:solidFill>
                  <a:srgbClr val="2F3542"/>
                </a:solidFill>
              </a:rPr>
              <a:t>Ausgangslage &amp; Problem</a:t>
            </a:r>
            <a:endParaRPr i="0" sz="2700" u="none" cap="none" strike="noStrike">
              <a:solidFill>
                <a:schemeClr val="dk1"/>
              </a:solidFill>
            </a:endParaRPr>
          </a:p>
        </p:txBody>
      </p:sp>
      <p:sp>
        <p:nvSpPr>
          <p:cNvPr id="128" name="Google Shape;128;p16"/>
          <p:cNvSpPr/>
          <p:nvPr/>
        </p:nvSpPr>
        <p:spPr>
          <a:xfrm>
            <a:off x="694944" y="1965960"/>
            <a:ext cx="7132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736D"/>
              </a:buClr>
              <a:buSzPts val="1250"/>
              <a:buFont typeface="Arial"/>
              <a:buNone/>
            </a:pPr>
            <a:r>
              <a:rPr b="0" i="0" lang="en-US" sz="1250" u="none" cap="none" strike="noStrike">
                <a:solidFill>
                  <a:srgbClr val="7C736D"/>
                </a:solidFill>
                <a:latin typeface="Arial"/>
                <a:ea typeface="Arial"/>
                <a:cs typeface="Arial"/>
                <a:sym typeface="Arial"/>
              </a:rPr>
              <a:t>Warum Tamu Fashion eine digitale Lösung braucht</a:t>
            </a:r>
            <a:endParaRPr b="0" i="0" sz="1250" u="none" cap="none" strike="noStrike">
              <a:solidFill>
                <a:schemeClr val="dk1"/>
              </a:solidFill>
              <a:latin typeface="Arial"/>
              <a:ea typeface="Arial"/>
              <a:cs typeface="Arial"/>
              <a:sym typeface="Arial"/>
            </a:endParaRPr>
          </a:p>
        </p:txBody>
      </p:sp>
      <p:sp>
        <p:nvSpPr>
          <p:cNvPr id="129" name="Google Shape;129;p16"/>
          <p:cNvSpPr/>
          <p:nvPr/>
        </p:nvSpPr>
        <p:spPr>
          <a:xfrm>
            <a:off x="694944" y="2304288"/>
            <a:ext cx="1691700" cy="41100"/>
          </a:xfrm>
          <a:prstGeom prst="rect">
            <a:avLst/>
          </a:prstGeom>
          <a:solidFill>
            <a:srgbClr val="CC741B"/>
          </a:solidFill>
          <a:ln cap="flat" cmpd="sng" w="12700">
            <a:solidFill>
              <a:srgbClr val="CC7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6"/>
          <p:cNvSpPr/>
          <p:nvPr/>
        </p:nvSpPr>
        <p:spPr>
          <a:xfrm>
            <a:off x="694944" y="2724912"/>
            <a:ext cx="566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431E"/>
              </a:buClr>
              <a:buSzPts val="1450"/>
              <a:buFont typeface="Arial"/>
              <a:buNone/>
            </a:pPr>
            <a:r>
              <a:rPr b="1" i="0" lang="en-US" sz="1450" u="none" cap="none" strike="noStrike">
                <a:solidFill>
                  <a:srgbClr val="84431E"/>
                </a:solidFill>
                <a:latin typeface="Arial"/>
                <a:ea typeface="Arial"/>
                <a:cs typeface="Arial"/>
                <a:sym typeface="Arial"/>
              </a:rPr>
              <a:t>Vom manuellen Verkauf zum strukturierten Prozess</a:t>
            </a:r>
            <a:endParaRPr b="0" i="0" sz="1450" u="none" cap="none" strike="noStrike">
              <a:solidFill>
                <a:schemeClr val="dk1"/>
              </a:solidFill>
              <a:latin typeface="Arial"/>
              <a:ea typeface="Arial"/>
              <a:cs typeface="Arial"/>
              <a:sym typeface="Arial"/>
            </a:endParaRPr>
          </a:p>
        </p:txBody>
      </p:sp>
      <p:sp>
        <p:nvSpPr>
          <p:cNvPr id="131" name="Google Shape;131;p16"/>
          <p:cNvSpPr/>
          <p:nvPr/>
        </p:nvSpPr>
        <p:spPr>
          <a:xfrm>
            <a:off x="731520" y="3195828"/>
            <a:ext cx="109800" cy="109800"/>
          </a:xfrm>
          <a:prstGeom prst="ellipse">
            <a:avLst/>
          </a:prstGeom>
          <a:solidFill>
            <a:srgbClr val="CC741B"/>
          </a:solidFill>
          <a:ln cap="flat" cmpd="sng" w="12700">
            <a:solidFill>
              <a:srgbClr val="CC7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a:off x="987552" y="3154680"/>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542"/>
              </a:buClr>
              <a:buSzPts val="1150"/>
              <a:buFont typeface="Arial"/>
              <a:buNone/>
            </a:pPr>
            <a:r>
              <a:rPr b="0" i="0" lang="en-US" sz="1150" u="none" cap="none" strike="noStrike">
                <a:solidFill>
                  <a:srgbClr val="2F3542"/>
                </a:solidFill>
                <a:latin typeface="Arial"/>
                <a:ea typeface="Arial"/>
                <a:cs typeface="Arial"/>
                <a:sym typeface="Arial"/>
              </a:rPr>
              <a:t>Verkauf läuft bisher stark über informelle Kanäle wie Social Media, E-Mail oder direkte Kommunikation.</a:t>
            </a:r>
            <a:endParaRPr b="0" i="0" sz="1150" u="none" cap="none" strike="noStrike">
              <a:solidFill>
                <a:schemeClr val="dk1"/>
              </a:solidFill>
              <a:latin typeface="Arial"/>
              <a:ea typeface="Arial"/>
              <a:cs typeface="Arial"/>
              <a:sym typeface="Arial"/>
            </a:endParaRPr>
          </a:p>
        </p:txBody>
      </p:sp>
      <p:sp>
        <p:nvSpPr>
          <p:cNvPr id="133" name="Google Shape;133;p16"/>
          <p:cNvSpPr/>
          <p:nvPr/>
        </p:nvSpPr>
        <p:spPr>
          <a:xfrm>
            <a:off x="731520" y="3771900"/>
            <a:ext cx="109800" cy="109800"/>
          </a:xfrm>
          <a:prstGeom prst="ellipse">
            <a:avLst/>
          </a:prstGeom>
          <a:solidFill>
            <a:srgbClr val="C89B35"/>
          </a:solidFill>
          <a:ln cap="flat" cmpd="sng" w="12700">
            <a:solidFill>
              <a:srgbClr val="C89B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a:off x="987552" y="37307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542"/>
              </a:buClr>
              <a:buSzPts val="1150"/>
              <a:buFont typeface="Arial"/>
              <a:buNone/>
            </a:pPr>
            <a:r>
              <a:rPr b="0" i="0" lang="en-US" sz="1150" u="none" cap="none" strike="noStrike">
                <a:solidFill>
                  <a:srgbClr val="2F3542"/>
                </a:solidFill>
                <a:latin typeface="Arial"/>
                <a:ea typeface="Arial"/>
                <a:cs typeface="Arial"/>
                <a:sym typeface="Arial"/>
              </a:rPr>
              <a:t>Bei mehr Produkten und Kunden werden Bestellungen, Rückfragen und Rücksendungen schnell unübersichtlich.</a:t>
            </a:r>
            <a:endParaRPr b="0" i="0" sz="1150" u="none" cap="none" strike="noStrike">
              <a:solidFill>
                <a:schemeClr val="dk1"/>
              </a:solidFill>
              <a:latin typeface="Arial"/>
              <a:ea typeface="Arial"/>
              <a:cs typeface="Arial"/>
              <a:sym typeface="Arial"/>
            </a:endParaRPr>
          </a:p>
        </p:txBody>
      </p:sp>
      <p:sp>
        <p:nvSpPr>
          <p:cNvPr id="135" name="Google Shape;135;p16"/>
          <p:cNvSpPr/>
          <p:nvPr/>
        </p:nvSpPr>
        <p:spPr>
          <a:xfrm>
            <a:off x="731520" y="4357116"/>
            <a:ext cx="109800" cy="109800"/>
          </a:xfrm>
          <a:prstGeom prst="ellipse">
            <a:avLst/>
          </a:prstGeom>
          <a:solidFill>
            <a:srgbClr val="CC741B"/>
          </a:solidFill>
          <a:ln cap="flat" cmpd="sng" w="12700">
            <a:solidFill>
              <a:srgbClr val="CC7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6"/>
          <p:cNvSpPr/>
          <p:nvPr/>
        </p:nvSpPr>
        <p:spPr>
          <a:xfrm>
            <a:off x="987552" y="4315968"/>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542"/>
              </a:buClr>
              <a:buSzPts val="1150"/>
              <a:buFont typeface="Arial"/>
              <a:buNone/>
            </a:pPr>
            <a:r>
              <a:rPr b="0" i="0" lang="en-US" sz="1150" u="none" cap="none" strike="noStrike">
                <a:solidFill>
                  <a:srgbClr val="2F3542"/>
                </a:solidFill>
                <a:latin typeface="Arial"/>
                <a:ea typeface="Arial"/>
                <a:cs typeface="Arial"/>
                <a:sym typeface="Arial"/>
              </a:rPr>
              <a:t>Kundendaten, Bestellstatus und Retouren sind ohne zentrales System schwer nachvollziehbar.</a:t>
            </a:r>
            <a:endParaRPr b="0" i="0" sz="1150" u="none" cap="none" strike="noStrike">
              <a:solidFill>
                <a:schemeClr val="dk1"/>
              </a:solidFill>
              <a:latin typeface="Arial"/>
              <a:ea typeface="Arial"/>
              <a:cs typeface="Arial"/>
              <a:sym typeface="Arial"/>
            </a:endParaRPr>
          </a:p>
        </p:txBody>
      </p:sp>
      <p:sp>
        <p:nvSpPr>
          <p:cNvPr id="137" name="Google Shape;137;p16"/>
          <p:cNvSpPr/>
          <p:nvPr/>
        </p:nvSpPr>
        <p:spPr>
          <a:xfrm>
            <a:off x="731520" y="4942332"/>
            <a:ext cx="109800" cy="109800"/>
          </a:xfrm>
          <a:prstGeom prst="ellipse">
            <a:avLst/>
          </a:prstGeom>
          <a:solidFill>
            <a:srgbClr val="C89B35"/>
          </a:solidFill>
          <a:ln cap="flat" cmpd="sng" w="12700">
            <a:solidFill>
              <a:srgbClr val="C89B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a:off x="987552" y="4901184"/>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542"/>
              </a:buClr>
              <a:buSzPts val="1150"/>
              <a:buFont typeface="Arial"/>
              <a:buNone/>
            </a:pPr>
            <a:r>
              <a:rPr b="0" i="0" lang="en-US" sz="1150" u="none" cap="none" strike="noStrike">
                <a:solidFill>
                  <a:srgbClr val="2F3542"/>
                </a:solidFill>
                <a:latin typeface="Arial"/>
                <a:ea typeface="Arial"/>
                <a:cs typeface="Arial"/>
                <a:sym typeface="Arial"/>
              </a:rPr>
              <a:t>Das Unternehmen braucht einen professionellen, skalierbaren und kundenfreundlichen Verkaufsprozess.</a:t>
            </a:r>
            <a:endParaRPr b="0" i="0" sz="1150" u="none" cap="none" strike="noStrike">
              <a:solidFill>
                <a:schemeClr val="dk1"/>
              </a:solidFill>
              <a:latin typeface="Arial"/>
              <a:ea typeface="Arial"/>
              <a:cs typeface="Arial"/>
              <a:sym typeface="Arial"/>
            </a:endParaRPr>
          </a:p>
        </p:txBody>
      </p:sp>
      <p:pic>
        <p:nvPicPr>
          <p:cNvPr descr="/mnt/data/extracted_1_image-1-1.jpeg" id="139" name="Google Shape;139;p16"/>
          <p:cNvPicPr preferRelativeResize="0"/>
          <p:nvPr/>
        </p:nvPicPr>
        <p:blipFill rotWithShape="1">
          <a:blip r:embed="rId4">
            <a:alphaModFix/>
          </a:blip>
          <a:srcRect b="0" l="0" r="0" t="0"/>
          <a:stretch/>
        </p:blipFill>
        <p:spPr>
          <a:xfrm>
            <a:off x="7738850" y="1481325"/>
            <a:ext cx="3965576" cy="3657601"/>
          </a:xfrm>
          <a:prstGeom prst="rect">
            <a:avLst/>
          </a:prstGeom>
          <a:noFill/>
          <a:ln>
            <a:noFill/>
          </a:ln>
        </p:spPr>
      </p:pic>
      <p:sp>
        <p:nvSpPr>
          <p:cNvPr id="140" name="Google Shape;140;p16"/>
          <p:cNvSpPr/>
          <p:nvPr/>
        </p:nvSpPr>
        <p:spPr>
          <a:xfrm>
            <a:off x="694944" y="5705856"/>
            <a:ext cx="7086600" cy="502800"/>
          </a:xfrm>
          <a:prstGeom prst="roundRect">
            <a:avLst>
              <a:gd fmla="val 9091" name="adj"/>
            </a:avLst>
          </a:prstGeom>
          <a:solidFill>
            <a:srgbClr val="FFF1DA"/>
          </a:solidFill>
          <a:ln cap="flat" cmpd="sng" w="12700">
            <a:solidFill>
              <a:srgbClr val="F0C5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
          <p:cNvSpPr/>
          <p:nvPr/>
        </p:nvSpPr>
        <p:spPr>
          <a:xfrm>
            <a:off x="932688" y="5870448"/>
            <a:ext cx="6629400" cy="109800"/>
          </a:xfrm>
          <a:prstGeom prst="rect">
            <a:avLst/>
          </a:prstGeom>
          <a:noFill/>
          <a:ln>
            <a:noFill/>
          </a:ln>
        </p:spPr>
        <p:txBody>
          <a:bodyPr anchorCtr="0" anchor="ctr" bIns="27432" lIns="73152" spcFirstLastPara="1" rIns="73152" wrap="square" tIns="27432">
            <a:noAutofit/>
          </a:bodyPr>
          <a:lstStyle/>
          <a:p>
            <a:r>
              <a:rPr sz="1050" b="1">
                <a:solidFill>
                  <a:srgbClr val="2E3440"/>
                </a:solidFill>
                <a:latin typeface="Arial"/>
              </a:rPr>
              <a:t>Kernproblem: Es fehlt nicht nur eine Webseite, sondern ein strukturierter Verkaufsprozess.</a:t>
            </a:r>
          </a:p>
        </p:txBody>
      </p:sp>
      <p:sp>
        <p:nvSpPr>
          <p:cNvPr id="142" name="TextBox 141"/>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02</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4ED"/>
        </a:solidFill>
      </p:bgPr>
    </p:bg>
    <p:spTree>
      <p:nvGrpSpPr>
        <p:cNvPr id="146" name="Shape 146"/>
        <p:cNvGrpSpPr/>
        <p:nvPr/>
      </p:nvGrpSpPr>
      <p:grpSpPr>
        <a:xfrm>
          <a:off x="0" y="0"/>
          <a:ext cx="0" cy="0"/>
          <a:chOff x="0" y="0"/>
          <a:chExt cx="0" cy="0"/>
        </a:xfrm>
      </p:grpSpPr>
      <p:sp>
        <p:nvSpPr>
          <p:cNvPr id="147" name="Google Shape;147;p17"/>
          <p:cNvSpPr/>
          <p:nvPr/>
        </p:nvSpPr>
        <p:spPr>
          <a:xfrm>
            <a:off x="0" y="0"/>
            <a:ext cx="12191700" cy="384000"/>
          </a:xfrm>
          <a:prstGeom prst="rect">
            <a:avLst/>
          </a:prstGeom>
          <a:solidFill>
            <a:srgbClr val="15100D"/>
          </a:solidFill>
          <a:ln cap="flat" cmpd="sng" w="12700">
            <a:solidFill>
              <a:srgbClr val="1510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7"/>
          <p:cNvSpPr/>
          <p:nvPr/>
        </p:nvSpPr>
        <p:spPr>
          <a:xfrm>
            <a:off x="621792" y="109728"/>
            <a:ext cx="4206300" cy="13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MavaziHub · African Fashion Store</a:t>
            </a:r>
            <a:endParaRPr b="0" i="0" sz="800" u="none" cap="none" strike="noStrike">
              <a:solidFill>
                <a:schemeClr val="dk1"/>
              </a:solidFill>
              <a:latin typeface="Arial"/>
              <a:ea typeface="Arial"/>
              <a:cs typeface="Arial"/>
              <a:sym typeface="Arial"/>
            </a:endParaRPr>
          </a:p>
        </p:txBody>
      </p:sp>
      <p:sp>
        <p:nvSpPr>
          <p:cNvPr id="149" name="Google Shape;149;p17"/>
          <p:cNvSpPr/>
          <p:nvPr/>
        </p:nvSpPr>
        <p:spPr>
          <a:xfrm>
            <a:off x="566928" y="621792"/>
            <a:ext cx="347400" cy="347400"/>
          </a:xfrm>
          <a:prstGeom prst="ellipse">
            <a:avLst/>
          </a:prstGeom>
          <a:solidFill>
            <a:srgbClr val="6A2E1D"/>
          </a:solidFill>
          <a:ln cap="flat" cmpd="sng" w="12700">
            <a:solidFill>
              <a:srgbClr val="6A2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7"/>
          <p:cNvSpPr/>
          <p:nvPr/>
        </p:nvSpPr>
        <p:spPr>
          <a:xfrm>
            <a:off x="566928" y="722376"/>
            <a:ext cx="347400" cy="9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MH</a:t>
            </a:r>
            <a:endParaRPr b="0" i="0" sz="900" u="none" cap="none" strike="noStrike">
              <a:solidFill>
                <a:schemeClr val="dk1"/>
              </a:solidFill>
              <a:latin typeface="Arial"/>
              <a:ea typeface="Arial"/>
              <a:cs typeface="Arial"/>
              <a:sym typeface="Arial"/>
            </a:endParaRPr>
          </a:p>
        </p:txBody>
      </p:sp>
      <p:sp>
        <p:nvSpPr>
          <p:cNvPr id="151" name="Google Shape;151;p17"/>
          <p:cNvSpPr/>
          <p:nvPr/>
        </p:nvSpPr>
        <p:spPr>
          <a:xfrm>
            <a:off x="1024128" y="603504"/>
            <a:ext cx="21945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542"/>
              </a:buClr>
              <a:buSzPts val="1800"/>
              <a:buFont typeface="Play"/>
              <a:buNone/>
            </a:pPr>
            <a:r>
              <a:rPr b="1" i="0" lang="en-US" sz="1800" u="none" cap="none" strike="noStrike">
                <a:solidFill>
                  <a:srgbClr val="2F3542"/>
                </a:solidFill>
                <a:latin typeface="Play"/>
                <a:ea typeface="Play"/>
                <a:cs typeface="Play"/>
                <a:sym typeface="Play"/>
              </a:rPr>
              <a:t>MavaziHub</a:t>
            </a:r>
            <a:endParaRPr b="0" i="0" sz="1800" u="none" cap="none" strike="noStrike">
              <a:solidFill>
                <a:schemeClr val="dk1"/>
              </a:solidFill>
              <a:latin typeface="Arial"/>
              <a:ea typeface="Arial"/>
              <a:cs typeface="Arial"/>
              <a:sym typeface="Arial"/>
            </a:endParaRPr>
          </a:p>
        </p:txBody>
      </p:sp>
      <p:sp>
        <p:nvSpPr>
          <p:cNvPr id="152" name="Google Shape;152;p17"/>
          <p:cNvSpPr/>
          <p:nvPr/>
        </p:nvSpPr>
        <p:spPr>
          <a:xfrm>
            <a:off x="1024128" y="859536"/>
            <a:ext cx="18288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741B"/>
              </a:buClr>
              <a:buSzPts val="700"/>
              <a:buFont typeface="Arial"/>
              <a:buNone/>
            </a:pPr>
            <a:r>
              <a:rPr b="1" i="0" lang="en-US" sz="700" u="none" cap="none" strike="noStrike">
                <a:solidFill>
                  <a:srgbClr val="CC741B"/>
                </a:solidFill>
                <a:latin typeface="Arial"/>
                <a:ea typeface="Arial"/>
                <a:cs typeface="Arial"/>
                <a:sym typeface="Arial"/>
              </a:rPr>
              <a:t>African Fashion Store</a:t>
            </a:r>
            <a:endParaRPr b="0" i="0" sz="700" u="none" cap="none" strike="noStrike">
              <a:solidFill>
                <a:schemeClr val="dk1"/>
              </a:solidFill>
              <a:latin typeface="Arial"/>
              <a:ea typeface="Arial"/>
              <a:cs typeface="Arial"/>
              <a:sym typeface="Arial"/>
            </a:endParaRPr>
          </a:p>
        </p:txBody>
      </p:sp>
      <p:pic>
        <p:nvPicPr>
          <p:cNvPr descr="/mnt/data/nordbyte_logo_cropped2.png" id="153" name="Google Shape;153;p17"/>
          <p:cNvPicPr preferRelativeResize="0"/>
          <p:nvPr/>
        </p:nvPicPr>
        <p:blipFill rotWithShape="1">
          <a:blip r:embed="rId3">
            <a:alphaModFix/>
          </a:blip>
          <a:srcRect b="0" l="0" r="0" t="0"/>
          <a:stretch/>
        </p:blipFill>
        <p:spPr>
          <a:xfrm>
            <a:off x="10361202" y="516725"/>
            <a:ext cx="1343223" cy="502800"/>
          </a:xfrm>
          <a:prstGeom prst="rect">
            <a:avLst/>
          </a:prstGeom>
          <a:noFill/>
          <a:ln>
            <a:noFill/>
          </a:ln>
        </p:spPr>
      </p:pic>
      <p:sp>
        <p:nvSpPr>
          <p:cNvPr id="154" name="Google Shape;154;p17"/>
          <p:cNvSpPr/>
          <p:nvPr/>
        </p:nvSpPr>
        <p:spPr>
          <a:xfrm>
            <a:off x="10149840" y="6510528"/>
            <a:ext cx="1326000" cy="10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C736D"/>
              </a:buClr>
              <a:buSzPts val="700"/>
              <a:buFont typeface="Arial"/>
              <a:buNone/>
            </a:pPr>
            <a:r>
              <a:rPr b="0" i="0" lang="en-US" sz="700" u="none" cap="none" strike="noStrike">
                <a:solidFill>
                  <a:srgbClr val="7C736D"/>
                </a:solidFill>
                <a:latin typeface="Arial"/>
                <a:ea typeface="Arial"/>
                <a:cs typeface="Arial"/>
                <a:sym typeface="Arial"/>
              </a:rPr>
              <a:t>NordByte Solutions</a:t>
            </a:r>
            <a:endParaRPr b="0" i="0" sz="700" u="none" cap="none" strike="noStrike">
              <a:solidFill>
                <a:schemeClr val="dk1"/>
              </a:solidFill>
              <a:latin typeface="Arial"/>
              <a:ea typeface="Arial"/>
              <a:cs typeface="Arial"/>
              <a:sym typeface="Arial"/>
            </a:endParaRPr>
          </a:p>
        </p:txBody>
      </p:sp>
      <p:sp>
        <p:nvSpPr>
          <p:cNvPr id="156" name="Google Shape;156;p17"/>
          <p:cNvSpPr/>
          <p:nvPr/>
        </p:nvSpPr>
        <p:spPr>
          <a:xfrm>
            <a:off x="676656" y="1417320"/>
            <a:ext cx="7132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542"/>
              </a:buClr>
              <a:buSzPts val="2700"/>
              <a:buFont typeface="Play"/>
              <a:buNone/>
            </a:pPr>
            <a:r>
              <a:rPr b="1" i="0" lang="en-US" sz="2700" u="none" cap="none" strike="noStrike">
                <a:solidFill>
                  <a:srgbClr val="2F3542"/>
                </a:solidFill>
              </a:rPr>
              <a:t>Vision &amp; Business Value</a:t>
            </a:r>
            <a:endParaRPr i="0" sz="2700" u="none" cap="none" strike="noStrike">
              <a:solidFill>
                <a:schemeClr val="dk1"/>
              </a:solidFill>
            </a:endParaRPr>
          </a:p>
        </p:txBody>
      </p:sp>
      <p:sp>
        <p:nvSpPr>
          <p:cNvPr id="157" name="Google Shape;157;p17"/>
          <p:cNvSpPr/>
          <p:nvPr/>
        </p:nvSpPr>
        <p:spPr>
          <a:xfrm>
            <a:off x="694944" y="1965960"/>
            <a:ext cx="7132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736D"/>
              </a:buClr>
              <a:buSzPts val="1250"/>
              <a:buFont typeface="Arial"/>
              <a:buNone/>
            </a:pPr>
            <a:r>
              <a:rPr b="0" i="0" lang="en-US" sz="1250" u="none" cap="none" strike="noStrike">
                <a:solidFill>
                  <a:srgbClr val="7C736D"/>
                </a:solidFill>
                <a:latin typeface="Arial"/>
                <a:ea typeface="Arial"/>
                <a:cs typeface="Arial"/>
                <a:sym typeface="Arial"/>
              </a:rPr>
              <a:t>Welche Wirkung MavaziHub für Tamu Fashion erzeugt</a:t>
            </a:r>
            <a:endParaRPr b="0" i="0" sz="1250" u="none" cap="none" strike="noStrike">
              <a:solidFill>
                <a:schemeClr val="dk1"/>
              </a:solidFill>
              <a:latin typeface="Arial"/>
              <a:ea typeface="Arial"/>
              <a:cs typeface="Arial"/>
              <a:sym typeface="Arial"/>
            </a:endParaRPr>
          </a:p>
        </p:txBody>
      </p:sp>
      <p:sp>
        <p:nvSpPr>
          <p:cNvPr id="158" name="Google Shape;158;p17"/>
          <p:cNvSpPr/>
          <p:nvPr/>
        </p:nvSpPr>
        <p:spPr>
          <a:xfrm>
            <a:off x="694944" y="2304288"/>
            <a:ext cx="1691700" cy="41100"/>
          </a:xfrm>
          <a:prstGeom prst="rect">
            <a:avLst/>
          </a:prstGeom>
          <a:solidFill>
            <a:srgbClr val="CC741B"/>
          </a:solidFill>
          <a:ln cap="flat" cmpd="sng" w="12700">
            <a:solidFill>
              <a:srgbClr val="CC7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7"/>
          <p:cNvSpPr/>
          <p:nvPr/>
        </p:nvSpPr>
        <p:spPr>
          <a:xfrm>
            <a:off x="694944" y="2697480"/>
            <a:ext cx="5166300" cy="1737300"/>
          </a:xfrm>
          <a:prstGeom prst="roundRect">
            <a:avLst>
              <a:gd fmla="val 3158" name="adj"/>
            </a:avLst>
          </a:prstGeom>
          <a:solidFill>
            <a:srgbClr val="15100D"/>
          </a:solidFill>
          <a:ln cap="flat" cmpd="sng" w="12700">
            <a:solidFill>
              <a:srgbClr val="1510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7"/>
          <p:cNvSpPr/>
          <p:nvPr/>
        </p:nvSpPr>
        <p:spPr>
          <a:xfrm>
            <a:off x="960120" y="2971800"/>
            <a:ext cx="1828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741B"/>
              </a:buClr>
              <a:buSzPts val="1700"/>
              <a:buFont typeface="Arial"/>
              <a:buNone/>
            </a:pPr>
            <a:r>
              <a:rPr b="1" i="0" lang="en-US" sz="1700" u="none" cap="none" strike="noStrike">
                <a:solidFill>
                  <a:srgbClr val="CC741B"/>
                </a:solidFill>
                <a:latin typeface="Arial"/>
                <a:ea typeface="Arial"/>
                <a:cs typeface="Arial"/>
                <a:sym typeface="Arial"/>
              </a:rPr>
              <a:t>Vision</a:t>
            </a:r>
            <a:endParaRPr b="0" i="0" sz="1700" u="none" cap="none" strike="noStrike">
              <a:solidFill>
                <a:schemeClr val="dk1"/>
              </a:solidFill>
              <a:latin typeface="Arial"/>
              <a:ea typeface="Arial"/>
              <a:cs typeface="Arial"/>
              <a:sym typeface="Arial"/>
            </a:endParaRPr>
          </a:p>
        </p:txBody>
      </p:sp>
      <p:sp>
        <p:nvSpPr>
          <p:cNvPr id="161" name="Google Shape;161;p17"/>
          <p:cNvSpPr/>
          <p:nvPr/>
        </p:nvSpPr>
        <p:spPr>
          <a:xfrm>
            <a:off x="960120" y="3429000"/>
            <a:ext cx="45264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7EA"/>
              </a:buClr>
              <a:buSzPts val="1430"/>
              <a:buFont typeface="Arial"/>
              <a:buNone/>
            </a:pPr>
            <a:r>
              <a:rPr b="1" i="0" lang="en-US" sz="1430" u="none" cap="none" strike="noStrike">
                <a:solidFill>
                  <a:srgbClr val="FFF7EA"/>
                </a:solidFill>
                <a:latin typeface="Arial"/>
                <a:ea typeface="Arial"/>
                <a:cs typeface="Arial"/>
                <a:sym typeface="Arial"/>
              </a:rPr>
              <a:t>MavaziHub führt Tamu Fashion von einem informellen Verkaufsprozess zu einer strukturierten digitalen B2C-E-Commerce-Plattform.</a:t>
            </a:r>
            <a:endParaRPr b="0" i="0" sz="1430" u="none" cap="none" strike="noStrike">
              <a:solidFill>
                <a:schemeClr val="dk1"/>
              </a:solidFill>
              <a:latin typeface="Arial"/>
              <a:ea typeface="Arial"/>
              <a:cs typeface="Arial"/>
              <a:sym typeface="Arial"/>
            </a:endParaRPr>
          </a:p>
        </p:txBody>
      </p:sp>
      <p:sp>
        <p:nvSpPr>
          <p:cNvPr id="162" name="Google Shape;162;p17"/>
          <p:cNvSpPr/>
          <p:nvPr/>
        </p:nvSpPr>
        <p:spPr>
          <a:xfrm>
            <a:off x="6263640" y="2560320"/>
            <a:ext cx="2487300" cy="841200"/>
          </a:xfrm>
          <a:prstGeom prst="roundRect">
            <a:avLst>
              <a:gd fmla="val 5435" name="adj"/>
            </a:avLst>
          </a:prstGeom>
          <a:solidFill>
            <a:srgbClr val="FFFCF8"/>
          </a:solidFill>
          <a:ln cap="flat" cmpd="sng" w="12700">
            <a:solidFill>
              <a:srgbClr val="E7D3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7"/>
          <p:cNvSpPr/>
          <p:nvPr/>
        </p:nvSpPr>
        <p:spPr>
          <a:xfrm>
            <a:off x="6263640" y="2560320"/>
            <a:ext cx="77700" cy="841200"/>
          </a:xfrm>
          <a:prstGeom prst="rect">
            <a:avLst/>
          </a:prstGeom>
          <a:solidFill>
            <a:srgbClr val="CC741B"/>
          </a:solidFill>
          <a:ln cap="flat" cmpd="sng" w="12700">
            <a:solidFill>
              <a:srgbClr val="CC7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7"/>
          <p:cNvSpPr/>
          <p:nvPr/>
        </p:nvSpPr>
        <p:spPr>
          <a:xfrm>
            <a:off x="6492240" y="2761488"/>
            <a:ext cx="20757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542"/>
              </a:buClr>
              <a:buSzPts val="1300"/>
              <a:buFont typeface="Arial"/>
              <a:buNone/>
            </a:pPr>
            <a:r>
              <a:rPr b="1" i="0" lang="en-US" sz="1300" u="none" cap="none" strike="noStrike">
                <a:solidFill>
                  <a:srgbClr val="2F3542"/>
                </a:solidFill>
                <a:latin typeface="Arial"/>
                <a:ea typeface="Arial"/>
                <a:cs typeface="Arial"/>
                <a:sym typeface="Arial"/>
              </a:rPr>
              <a:t>Reichweite</a:t>
            </a:r>
            <a:endParaRPr b="0" i="0" sz="1300" u="none" cap="none" strike="noStrike">
              <a:solidFill>
                <a:schemeClr val="dk1"/>
              </a:solidFill>
              <a:latin typeface="Arial"/>
              <a:ea typeface="Arial"/>
              <a:cs typeface="Arial"/>
              <a:sym typeface="Arial"/>
            </a:endParaRPr>
          </a:p>
        </p:txBody>
      </p:sp>
      <p:sp>
        <p:nvSpPr>
          <p:cNvPr id="165" name="Google Shape;165;p17"/>
          <p:cNvSpPr/>
          <p:nvPr/>
        </p:nvSpPr>
        <p:spPr>
          <a:xfrm>
            <a:off x="6492240" y="3063240"/>
            <a:ext cx="2075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736D"/>
              </a:buClr>
              <a:buSzPts val="950"/>
              <a:buFont typeface="Arial"/>
              <a:buNone/>
            </a:pPr>
            <a:r>
              <a:rPr b="0" i="0" lang="en-US" sz="950" u="none" cap="none" strike="noStrike">
                <a:solidFill>
                  <a:srgbClr val="7C736D"/>
                </a:solidFill>
                <a:latin typeface="Arial"/>
                <a:ea typeface="Arial"/>
                <a:cs typeface="Arial"/>
                <a:sym typeface="Arial"/>
              </a:rPr>
              <a:t>Eigener Online-Shop macht das Angebot unabhängiger von einzelnen Social-Media-Kanälen.</a:t>
            </a:r>
            <a:endParaRPr b="0" i="0" sz="950" u="none" cap="none" strike="noStrike">
              <a:solidFill>
                <a:schemeClr val="dk1"/>
              </a:solidFill>
              <a:latin typeface="Arial"/>
              <a:ea typeface="Arial"/>
              <a:cs typeface="Arial"/>
              <a:sym typeface="Arial"/>
            </a:endParaRPr>
          </a:p>
        </p:txBody>
      </p:sp>
      <p:sp>
        <p:nvSpPr>
          <p:cNvPr id="166" name="Google Shape;166;p17"/>
          <p:cNvSpPr/>
          <p:nvPr/>
        </p:nvSpPr>
        <p:spPr>
          <a:xfrm>
            <a:off x="9070848" y="2560320"/>
            <a:ext cx="2487300" cy="841200"/>
          </a:xfrm>
          <a:prstGeom prst="roundRect">
            <a:avLst>
              <a:gd fmla="val 5435" name="adj"/>
            </a:avLst>
          </a:prstGeom>
          <a:solidFill>
            <a:srgbClr val="FFFCF8"/>
          </a:solidFill>
          <a:ln cap="flat" cmpd="sng" w="12700">
            <a:solidFill>
              <a:srgbClr val="E7D3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7"/>
          <p:cNvSpPr/>
          <p:nvPr/>
        </p:nvSpPr>
        <p:spPr>
          <a:xfrm>
            <a:off x="9070848" y="2560320"/>
            <a:ext cx="77700" cy="841200"/>
          </a:xfrm>
          <a:prstGeom prst="rect">
            <a:avLst/>
          </a:prstGeom>
          <a:solidFill>
            <a:srgbClr val="C89B35"/>
          </a:solidFill>
          <a:ln cap="flat" cmpd="sng" w="12700">
            <a:solidFill>
              <a:srgbClr val="C89B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7"/>
          <p:cNvSpPr/>
          <p:nvPr/>
        </p:nvSpPr>
        <p:spPr>
          <a:xfrm>
            <a:off x="9299448" y="2761488"/>
            <a:ext cx="20757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542"/>
              </a:buClr>
              <a:buSzPts val="1300"/>
              <a:buFont typeface="Arial"/>
              <a:buNone/>
            </a:pPr>
            <a:r>
              <a:rPr b="1" i="0" lang="en-US" sz="1300" u="none" cap="none" strike="noStrike">
                <a:solidFill>
                  <a:srgbClr val="2F3542"/>
                </a:solidFill>
                <a:latin typeface="Arial"/>
                <a:ea typeface="Arial"/>
                <a:cs typeface="Arial"/>
                <a:sym typeface="Arial"/>
              </a:rPr>
              <a:t>Effizienz</a:t>
            </a:r>
            <a:endParaRPr b="0" i="0" sz="1300" u="none" cap="none" strike="noStrike">
              <a:solidFill>
                <a:schemeClr val="dk1"/>
              </a:solidFill>
              <a:latin typeface="Arial"/>
              <a:ea typeface="Arial"/>
              <a:cs typeface="Arial"/>
              <a:sym typeface="Arial"/>
            </a:endParaRPr>
          </a:p>
        </p:txBody>
      </p:sp>
      <p:sp>
        <p:nvSpPr>
          <p:cNvPr id="169" name="Google Shape;169;p17"/>
          <p:cNvSpPr/>
          <p:nvPr/>
        </p:nvSpPr>
        <p:spPr>
          <a:xfrm>
            <a:off x="9299448" y="3063240"/>
            <a:ext cx="2075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736D"/>
              </a:buClr>
              <a:buSzPts val="950"/>
              <a:buFont typeface="Arial"/>
              <a:buNone/>
            </a:pPr>
            <a:r>
              <a:rPr b="0" i="0" lang="en-US" sz="950" u="none" cap="none" strike="noStrike">
                <a:solidFill>
                  <a:srgbClr val="7C736D"/>
                </a:solidFill>
                <a:latin typeface="Arial"/>
                <a:ea typeface="Arial"/>
                <a:cs typeface="Arial"/>
                <a:sym typeface="Arial"/>
              </a:rPr>
              <a:t>Bestellungen, Kundendaten und Rücksendungen werden zentral verwaltet.</a:t>
            </a:r>
            <a:endParaRPr b="0" i="0" sz="950" u="none" cap="none" strike="noStrike">
              <a:solidFill>
                <a:schemeClr val="dk1"/>
              </a:solidFill>
              <a:latin typeface="Arial"/>
              <a:ea typeface="Arial"/>
              <a:cs typeface="Arial"/>
              <a:sym typeface="Arial"/>
            </a:endParaRPr>
          </a:p>
        </p:txBody>
      </p:sp>
      <p:sp>
        <p:nvSpPr>
          <p:cNvPr id="170" name="Google Shape;170;p17"/>
          <p:cNvSpPr/>
          <p:nvPr/>
        </p:nvSpPr>
        <p:spPr>
          <a:xfrm>
            <a:off x="6263640" y="3886200"/>
            <a:ext cx="2487300" cy="841200"/>
          </a:xfrm>
          <a:prstGeom prst="roundRect">
            <a:avLst>
              <a:gd fmla="val 5435" name="adj"/>
            </a:avLst>
          </a:prstGeom>
          <a:solidFill>
            <a:srgbClr val="FFFCF8"/>
          </a:solidFill>
          <a:ln cap="flat" cmpd="sng" w="12700">
            <a:solidFill>
              <a:srgbClr val="E7D3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7"/>
          <p:cNvSpPr/>
          <p:nvPr/>
        </p:nvSpPr>
        <p:spPr>
          <a:xfrm>
            <a:off x="6263640" y="3886200"/>
            <a:ext cx="77700" cy="841200"/>
          </a:xfrm>
          <a:prstGeom prst="rect">
            <a:avLst/>
          </a:prstGeom>
          <a:solidFill>
            <a:srgbClr val="84431E"/>
          </a:solidFill>
          <a:ln cap="flat" cmpd="sng" w="12700">
            <a:solidFill>
              <a:srgbClr val="8443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
          <p:cNvSpPr/>
          <p:nvPr/>
        </p:nvSpPr>
        <p:spPr>
          <a:xfrm>
            <a:off x="6492240" y="4087368"/>
            <a:ext cx="20757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542"/>
              </a:buClr>
              <a:buSzPts val="1300"/>
              <a:buFont typeface="Arial"/>
              <a:buNone/>
            </a:pPr>
            <a:r>
              <a:rPr b="1" i="0" lang="en-US" sz="1300" u="none" cap="none" strike="noStrike">
                <a:solidFill>
                  <a:srgbClr val="2F3542"/>
                </a:solidFill>
                <a:latin typeface="Arial"/>
                <a:ea typeface="Arial"/>
                <a:cs typeface="Arial"/>
                <a:sym typeface="Arial"/>
              </a:rPr>
              <a:t>Professionalität</a:t>
            </a:r>
            <a:endParaRPr b="0" i="0" sz="1300" u="none" cap="none" strike="noStrike">
              <a:solidFill>
                <a:schemeClr val="dk1"/>
              </a:solidFill>
              <a:latin typeface="Arial"/>
              <a:ea typeface="Arial"/>
              <a:cs typeface="Arial"/>
              <a:sym typeface="Arial"/>
            </a:endParaRPr>
          </a:p>
        </p:txBody>
      </p:sp>
      <p:sp>
        <p:nvSpPr>
          <p:cNvPr id="173" name="Google Shape;173;p17"/>
          <p:cNvSpPr/>
          <p:nvPr/>
        </p:nvSpPr>
        <p:spPr>
          <a:xfrm>
            <a:off x="6492240" y="4389120"/>
            <a:ext cx="2075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736D"/>
              </a:buClr>
              <a:buSzPts val="950"/>
              <a:buFont typeface="Arial"/>
              <a:buNone/>
            </a:pPr>
            <a:r>
              <a:rPr b="0" i="0" lang="en-US" sz="950" u="none" cap="none" strike="noStrike">
                <a:solidFill>
                  <a:srgbClr val="7C736D"/>
                </a:solidFill>
                <a:latin typeface="Arial"/>
                <a:ea typeface="Arial"/>
                <a:cs typeface="Arial"/>
                <a:sym typeface="Arial"/>
              </a:rPr>
              <a:t>Ein klarer Shop-Prozess erhöht Vertrauen und verbessert das Kundenerlebnis.</a:t>
            </a:r>
            <a:endParaRPr b="0" i="0" sz="950" u="none" cap="none" strike="noStrike">
              <a:solidFill>
                <a:schemeClr val="dk1"/>
              </a:solidFill>
              <a:latin typeface="Arial"/>
              <a:ea typeface="Arial"/>
              <a:cs typeface="Arial"/>
              <a:sym typeface="Arial"/>
            </a:endParaRPr>
          </a:p>
        </p:txBody>
      </p:sp>
      <p:sp>
        <p:nvSpPr>
          <p:cNvPr id="174" name="Google Shape;174;p17"/>
          <p:cNvSpPr/>
          <p:nvPr/>
        </p:nvSpPr>
        <p:spPr>
          <a:xfrm>
            <a:off x="9070848" y="3886200"/>
            <a:ext cx="2487300" cy="841200"/>
          </a:xfrm>
          <a:prstGeom prst="roundRect">
            <a:avLst>
              <a:gd fmla="val 5435" name="adj"/>
            </a:avLst>
          </a:prstGeom>
          <a:solidFill>
            <a:srgbClr val="FFFCF8"/>
          </a:solidFill>
          <a:ln cap="flat" cmpd="sng" w="12700">
            <a:solidFill>
              <a:srgbClr val="E7D3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7"/>
          <p:cNvSpPr/>
          <p:nvPr/>
        </p:nvSpPr>
        <p:spPr>
          <a:xfrm>
            <a:off x="9070848" y="3886200"/>
            <a:ext cx="77700" cy="841200"/>
          </a:xfrm>
          <a:prstGeom prst="rect">
            <a:avLst/>
          </a:prstGeom>
          <a:solidFill>
            <a:srgbClr val="328B84"/>
          </a:solidFill>
          <a:ln cap="flat" cmpd="sng" w="12700">
            <a:solidFill>
              <a:srgbClr val="328B8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
          <p:cNvSpPr/>
          <p:nvPr/>
        </p:nvSpPr>
        <p:spPr>
          <a:xfrm>
            <a:off x="9299448" y="4087368"/>
            <a:ext cx="20757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542"/>
              </a:buClr>
              <a:buSzPts val="1300"/>
              <a:buFont typeface="Arial"/>
              <a:buNone/>
            </a:pPr>
            <a:r>
              <a:rPr b="1" i="0" lang="en-US" sz="1300" u="none" cap="none" strike="noStrike">
                <a:solidFill>
                  <a:srgbClr val="2F3542"/>
                </a:solidFill>
                <a:latin typeface="Arial"/>
                <a:ea typeface="Arial"/>
                <a:cs typeface="Arial"/>
                <a:sym typeface="Arial"/>
              </a:rPr>
              <a:t>Skalierbarkeit</a:t>
            </a:r>
            <a:endParaRPr b="0" i="0" sz="1300" u="none" cap="none" strike="noStrike">
              <a:solidFill>
                <a:schemeClr val="dk1"/>
              </a:solidFill>
              <a:latin typeface="Arial"/>
              <a:ea typeface="Arial"/>
              <a:cs typeface="Arial"/>
              <a:sym typeface="Arial"/>
            </a:endParaRPr>
          </a:p>
        </p:txBody>
      </p:sp>
      <p:sp>
        <p:nvSpPr>
          <p:cNvPr id="177" name="Google Shape;177;p17"/>
          <p:cNvSpPr/>
          <p:nvPr/>
        </p:nvSpPr>
        <p:spPr>
          <a:xfrm>
            <a:off x="9299448" y="4389120"/>
            <a:ext cx="2075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736D"/>
              </a:buClr>
              <a:buSzPts val="950"/>
              <a:buFont typeface="Arial"/>
              <a:buNone/>
            </a:pPr>
            <a:r>
              <a:rPr b="0" i="0" lang="en-US" sz="950" u="none" cap="none" strike="noStrike">
                <a:solidFill>
                  <a:srgbClr val="7C736D"/>
                </a:solidFill>
                <a:latin typeface="Arial"/>
                <a:ea typeface="Arial"/>
                <a:cs typeface="Arial"/>
                <a:sym typeface="Arial"/>
              </a:rPr>
              <a:t>Die technische Basis kann später um Zahlung, Versand und Admin-Funktionen erweitert werden.</a:t>
            </a:r>
            <a:endParaRPr b="0" i="0" sz="950" u="none" cap="none" strike="noStrike">
              <a:solidFill>
                <a:schemeClr val="dk1"/>
              </a:solidFill>
              <a:latin typeface="Arial"/>
              <a:ea typeface="Arial"/>
              <a:cs typeface="Arial"/>
              <a:sym typeface="Arial"/>
            </a:endParaRPr>
          </a:p>
        </p:txBody>
      </p:sp>
      <p:sp>
        <p:nvSpPr>
          <p:cNvPr id="178" name="Google Shape;178;p17"/>
          <p:cNvSpPr/>
          <p:nvPr/>
        </p:nvSpPr>
        <p:spPr>
          <a:xfrm>
            <a:off x="694944" y="5596128"/>
            <a:ext cx="10863000" cy="502800"/>
          </a:xfrm>
          <a:prstGeom prst="roundRect">
            <a:avLst>
              <a:gd fmla="val 9091" name="adj"/>
            </a:avLst>
          </a:prstGeom>
          <a:solidFill>
            <a:srgbClr val="FFF1DA"/>
          </a:solidFill>
          <a:ln cap="flat" cmpd="sng" w="12700">
            <a:solidFill>
              <a:srgbClr val="F0C5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7"/>
          <p:cNvSpPr/>
          <p:nvPr/>
        </p:nvSpPr>
        <p:spPr>
          <a:xfrm>
            <a:off x="960120" y="5760720"/>
            <a:ext cx="10241400" cy="109800"/>
          </a:xfrm>
          <a:prstGeom prst="rect">
            <a:avLst/>
          </a:prstGeom>
          <a:noFill/>
          <a:ln>
            <a:noFill/>
          </a:ln>
        </p:spPr>
        <p:txBody>
          <a:bodyPr anchorCtr="0" anchor="ctr" bIns="27432" lIns="73152" spcFirstLastPara="1" rIns="73152" wrap="square" tIns="27432">
            <a:noAutofit/>
          </a:bodyPr>
          <a:lstStyle/>
          <a:p>
            <a:r>
              <a:rPr sz="1050" b="1">
                <a:solidFill>
                  <a:srgbClr val="2E3440"/>
                </a:solidFill>
                <a:latin typeface="Arial"/>
              </a:rPr>
              <a:t>MavaziHub schafft die Basis, um den digitalen Vertrieb kontrolliert auszubauen.</a:t>
            </a:r>
          </a:p>
        </p:txBody>
      </p:sp>
      <p:sp>
        <p:nvSpPr>
          <p:cNvPr id="180" name="TextBox 179"/>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03</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184" name="Shape 184"/>
        <p:cNvGrpSpPr/>
        <p:nvPr/>
      </p:nvGrpSpPr>
      <p:grpSpPr>
        <a:xfrm>
          <a:off x="0" y="0"/>
          <a:ext cx="0" cy="0"/>
          <a:chOff x="0" y="0"/>
          <a:chExt cx="0" cy="0"/>
        </a:xfrm>
      </p:grpSpPr>
      <p:sp>
        <p:nvSpPr>
          <p:cNvPr id="185" name="Google Shape;185;p18"/>
          <p:cNvSpPr/>
          <p:nvPr/>
        </p:nvSpPr>
        <p:spPr>
          <a:xfrm>
            <a:off x="0" y="0"/>
            <a:ext cx="12191695" cy="384048"/>
          </a:xfrm>
          <a:prstGeom prst="rect">
            <a:avLst/>
          </a:prstGeom>
          <a:solidFill>
            <a:srgbClr val="0B0907"/>
          </a:solidFill>
          <a:ln cap="flat" cmpd="sng" w="12700">
            <a:solidFill>
              <a:srgbClr val="0B090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8"/>
          <p:cNvSpPr/>
          <p:nvPr/>
        </p:nvSpPr>
        <p:spPr>
          <a:xfrm>
            <a:off x="621792" y="118872"/>
            <a:ext cx="42976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Arial"/>
              <a:buNone/>
            </a:pPr>
            <a:r>
              <a:rPr b="1" lang="en-US" sz="850">
                <a:solidFill>
                  <a:srgbClr val="FFFFFF"/>
                </a:solidFill>
                <a:latin typeface="Arial"/>
                <a:ea typeface="Arial"/>
                <a:cs typeface="Arial"/>
                <a:sym typeface="Arial"/>
              </a:rPr>
              <a:t>MavaziHub · African Fashion Store</a:t>
            </a:r>
            <a:endParaRPr sz="850">
              <a:solidFill>
                <a:schemeClr val="dk1"/>
              </a:solidFill>
              <a:latin typeface="Arial"/>
              <a:ea typeface="Arial"/>
              <a:cs typeface="Arial"/>
              <a:sym typeface="Arial"/>
            </a:endParaRPr>
          </a:p>
        </p:txBody>
      </p:sp>
      <p:sp>
        <p:nvSpPr>
          <p:cNvPr id="187" name="Google Shape;187;p18"/>
          <p:cNvSpPr/>
          <p:nvPr/>
        </p:nvSpPr>
        <p:spPr>
          <a:xfrm>
            <a:off x="621792" y="621792"/>
            <a:ext cx="329184" cy="329184"/>
          </a:xfrm>
          <a:prstGeom prst="ellipse">
            <a:avLst/>
          </a:prstGeom>
          <a:solidFill>
            <a:srgbClr val="5B2619"/>
          </a:solidFill>
          <a:ln cap="flat" cmpd="sng" w="12700">
            <a:solidFill>
              <a:srgbClr val="5B26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8"/>
          <p:cNvSpPr/>
          <p:nvPr/>
        </p:nvSpPr>
        <p:spPr>
          <a:xfrm>
            <a:off x="667512" y="717804"/>
            <a:ext cx="237744" cy="91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50"/>
              <a:buFont typeface="Arial"/>
              <a:buNone/>
            </a:pPr>
            <a:r>
              <a:rPr b="1" lang="en-US" sz="650">
                <a:solidFill>
                  <a:srgbClr val="FFFFFF"/>
                </a:solidFill>
                <a:latin typeface="Arial"/>
                <a:ea typeface="Arial"/>
                <a:cs typeface="Arial"/>
                <a:sym typeface="Arial"/>
              </a:rPr>
              <a:t>MH</a:t>
            </a:r>
            <a:endParaRPr sz="650">
              <a:solidFill>
                <a:schemeClr val="dk1"/>
              </a:solidFill>
              <a:latin typeface="Arial"/>
              <a:ea typeface="Arial"/>
              <a:cs typeface="Arial"/>
              <a:sym typeface="Arial"/>
            </a:endParaRPr>
          </a:p>
        </p:txBody>
      </p:sp>
      <p:sp>
        <p:nvSpPr>
          <p:cNvPr id="189" name="Google Shape;189;p18"/>
          <p:cNvSpPr/>
          <p:nvPr/>
        </p:nvSpPr>
        <p:spPr>
          <a:xfrm>
            <a:off x="1024128" y="585216"/>
            <a:ext cx="1920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440"/>
              </a:buClr>
              <a:buSzPts val="1600"/>
              <a:buFont typeface="Arial"/>
              <a:buNone/>
            </a:pPr>
            <a:r>
              <a:rPr b="1" lang="en-US" sz="1600">
                <a:solidFill>
                  <a:srgbClr val="2E3440"/>
                </a:solidFill>
                <a:latin typeface="Arial"/>
                <a:ea typeface="Arial"/>
                <a:cs typeface="Arial"/>
                <a:sym typeface="Arial"/>
              </a:rPr>
              <a:t>MavaziHub</a:t>
            </a:r>
            <a:endParaRPr sz="1600">
              <a:solidFill>
                <a:schemeClr val="dk1"/>
              </a:solidFill>
              <a:latin typeface="Arial"/>
              <a:ea typeface="Arial"/>
              <a:cs typeface="Arial"/>
              <a:sym typeface="Arial"/>
            </a:endParaRPr>
          </a:p>
        </p:txBody>
      </p:sp>
      <p:sp>
        <p:nvSpPr>
          <p:cNvPr id="190" name="Google Shape;190;p18"/>
          <p:cNvSpPr/>
          <p:nvPr/>
        </p:nvSpPr>
        <p:spPr>
          <a:xfrm>
            <a:off x="1024128" y="877824"/>
            <a:ext cx="2011680"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752A"/>
              </a:buClr>
              <a:buSzPts val="650"/>
              <a:buFont typeface="Arial"/>
              <a:buNone/>
            </a:pPr>
            <a:r>
              <a:rPr b="1" lang="en-US" sz="650">
                <a:solidFill>
                  <a:srgbClr val="C8752A"/>
                </a:solidFill>
                <a:latin typeface="Arial"/>
                <a:ea typeface="Arial"/>
                <a:cs typeface="Arial"/>
                <a:sym typeface="Arial"/>
              </a:rPr>
              <a:t>African Fashion Store</a:t>
            </a:r>
            <a:endParaRPr sz="650">
              <a:solidFill>
                <a:schemeClr val="dk1"/>
              </a:solidFill>
              <a:latin typeface="Arial"/>
              <a:ea typeface="Arial"/>
              <a:cs typeface="Arial"/>
              <a:sym typeface="Arial"/>
            </a:endParaRPr>
          </a:p>
        </p:txBody>
      </p:sp>
      <p:sp>
        <p:nvSpPr>
          <p:cNvPr id="192" name="Google Shape;192;p18"/>
          <p:cNvSpPr/>
          <p:nvPr/>
        </p:nvSpPr>
        <p:spPr>
          <a:xfrm>
            <a:off x="713232" y="1243584"/>
            <a:ext cx="6675120" cy="493776"/>
          </a:xfrm>
          <a:prstGeom prst="rect">
            <a:avLst/>
          </a:prstGeom>
          <a:noFill/>
          <a:ln>
            <a:noFill/>
          </a:ln>
        </p:spPr>
        <p:txBody>
          <a:bodyPr anchorCtr="0" anchor="ctr" bIns="27432" lIns="73152" spcFirstLastPara="1" rIns="73152" wrap="square" tIns="27432">
            <a:noAutofit/>
          </a:bodyPr>
          <a:lstStyle/>
          <a:p>
            <a:r>
              <a:rPr sz="2700" b="1">
                <a:solidFill>
                  <a:srgbClr val="2E3440"/>
                </a:solidFill>
                <a:latin typeface="Arial"/>
              </a:rPr>
              <a:t>Zielgruppe &amp; Nutzerrollen</a:t>
            </a:r>
          </a:p>
        </p:txBody>
      </p:sp>
      <p:sp>
        <p:nvSpPr>
          <p:cNvPr id="193" name="Google Shape;193;p18"/>
          <p:cNvSpPr/>
          <p:nvPr/>
        </p:nvSpPr>
        <p:spPr>
          <a:xfrm>
            <a:off x="713232" y="1847088"/>
            <a:ext cx="6675120" cy="329184"/>
          </a:xfrm>
          <a:prstGeom prst="rect">
            <a:avLst/>
          </a:prstGeom>
          <a:noFill/>
          <a:ln>
            <a:noFill/>
          </a:ln>
        </p:spPr>
        <p:txBody>
          <a:bodyPr anchorCtr="0" anchor="ctr" bIns="27432" lIns="73152" spcFirstLastPara="1" rIns="73152" wrap="square" tIns="27432">
            <a:noAutofit/>
          </a:bodyPr>
          <a:lstStyle/>
          <a:p>
            <a:r>
              <a:rPr sz="1150" b="0">
                <a:solidFill>
                  <a:srgbClr val="77716A"/>
                </a:solidFill>
                <a:latin typeface="Arial"/>
              </a:rPr>
              <a:t>Welche Akteure das System unterstützt</a:t>
            </a:r>
          </a:p>
        </p:txBody>
      </p:sp>
      <p:sp>
        <p:nvSpPr>
          <p:cNvPr id="195" name="Google Shape;195;p18"/>
          <p:cNvSpPr/>
          <p:nvPr/>
        </p:nvSpPr>
        <p:spPr>
          <a:xfrm>
            <a:off x="8823960" y="694944"/>
            <a:ext cx="2651760" cy="310896"/>
          </a:xfrm>
          <a:prstGeom prst="roundRect">
            <a:avLst>
              <a:gd fmla="val 11765" name="adj"/>
            </a:avLst>
          </a:prstGeom>
          <a:solidFill>
            <a:srgbClr val="FFFDF8"/>
          </a:solidFill>
          <a:ln cap="flat" cmpd="sng" w="9525">
            <a:solidFill>
              <a:srgbClr val="E7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8"/>
          <p:cNvSpPr/>
          <p:nvPr/>
        </p:nvSpPr>
        <p:spPr>
          <a:xfrm>
            <a:off x="8961120" y="786384"/>
            <a:ext cx="2377440" cy="91440"/>
          </a:xfrm>
          <a:prstGeom prst="rect">
            <a:avLst/>
          </a:prstGeom>
          <a:noFill/>
          <a:ln>
            <a:noFill/>
          </a:ln>
        </p:spPr>
        <p:txBody>
          <a:bodyPr anchorCtr="0" anchor="ctr" bIns="27432" lIns="73152" spcFirstLastPara="1" rIns="73152" wrap="square" tIns="27432">
            <a:noAutofit/>
          </a:bodyPr>
          <a:lstStyle/>
          <a:p>
            <a:pPr algn="r"/>
            <a:r>
              <a:rPr sz="750" b="0">
                <a:solidFill>
                  <a:srgbClr val="77716A"/>
                </a:solidFill>
                <a:latin typeface="Arial"/>
              </a:rPr>
              <a:t>Verantwortlich: Person 1</a:t>
            </a:r>
          </a:p>
        </p:txBody>
      </p:sp>
      <p:sp>
        <p:nvSpPr>
          <p:cNvPr id="198" name="Rounded Rectangle 197"/>
          <p:cNvSpPr/>
          <p:nvPr/>
        </p:nvSpPr>
        <p:spPr>
          <a:xfrm>
            <a:off x="868680" y="2788920"/>
            <a:ext cx="2148840" cy="1371600"/>
          </a:xfrm>
          <a:prstGeom prst="roundRect">
            <a:avLst/>
          </a:prstGeom>
          <a:solidFill>
            <a:srgbClr val="EFEEEC"/>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ounded Rectangle 198"/>
          <p:cNvSpPr/>
          <p:nvPr/>
        </p:nvSpPr>
        <p:spPr>
          <a:xfrm>
            <a:off x="1005839" y="2926080"/>
            <a:ext cx="420624" cy="42062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00" b="1">
                <a:solidFill>
                  <a:srgbClr val="FFFFFF"/>
                </a:solidFill>
                <a:latin typeface="Arial"/>
              </a:rPr>
              <a:t>01</a:t>
            </a:r>
          </a:p>
        </p:txBody>
      </p:sp>
      <p:sp>
        <p:nvSpPr>
          <p:cNvPr id="200" name="TextBox 199"/>
          <p:cNvSpPr txBox="1"/>
          <p:nvPr/>
        </p:nvSpPr>
        <p:spPr>
          <a:xfrm>
            <a:off x="1527048" y="2926080"/>
            <a:ext cx="1371600" cy="256032"/>
          </a:xfrm>
          <a:prstGeom prst="rect">
            <a:avLst/>
          </a:prstGeom>
          <a:noFill/>
        </p:spPr>
        <p:txBody>
          <a:bodyPr wrap="square" lIns="73152" rIns="73152" tIns="27432" bIns="27432">
            <a:spAutoFit/>
          </a:bodyPr>
          <a:lstStyle/>
          <a:p>
            <a:r>
              <a:rPr sz="1400" b="1">
                <a:solidFill>
                  <a:srgbClr val="2E3440"/>
                </a:solidFill>
                <a:latin typeface="Arial"/>
              </a:rPr>
              <a:t>Gast</a:t>
            </a:r>
          </a:p>
        </p:txBody>
      </p:sp>
      <p:sp>
        <p:nvSpPr>
          <p:cNvPr id="201" name="TextBox 200"/>
          <p:cNvSpPr txBox="1"/>
          <p:nvPr/>
        </p:nvSpPr>
        <p:spPr>
          <a:xfrm>
            <a:off x="1069848" y="3493008"/>
            <a:ext cx="1783080" cy="502920"/>
          </a:xfrm>
          <a:prstGeom prst="rect">
            <a:avLst/>
          </a:prstGeom>
          <a:noFill/>
        </p:spPr>
        <p:txBody>
          <a:bodyPr wrap="square" lIns="73152" rIns="73152" tIns="27432" bIns="27432">
            <a:spAutoFit/>
          </a:bodyPr>
          <a:lstStyle/>
          <a:p>
            <a:pPr algn="ctr"/>
            <a:r>
              <a:rPr sz="1019" b="0">
                <a:solidFill>
                  <a:srgbClr val="2E3440"/>
                </a:solidFill>
                <a:latin typeface="Arial"/>
              </a:rPr>
              <a:t>Produkte ansehen</a:t>
            </a:r>
          </a:p>
          <a:p>
            <a:pPr algn="ctr"/>
            <a:r>
              <a:rPr sz="1019" b="0">
                <a:solidFill>
                  <a:srgbClr val="2E3440"/>
                </a:solidFill>
                <a:latin typeface="Arial"/>
              </a:rPr>
              <a:t>Shop kennenlernen</a:t>
            </a:r>
          </a:p>
        </p:txBody>
      </p:sp>
      <p:sp>
        <p:nvSpPr>
          <p:cNvPr id="202" name="Rounded Rectangle 201"/>
          <p:cNvSpPr/>
          <p:nvPr/>
        </p:nvSpPr>
        <p:spPr>
          <a:xfrm>
            <a:off x="3657600" y="2788920"/>
            <a:ext cx="2148840" cy="1371600"/>
          </a:xfrm>
          <a:prstGeom prst="roundRect">
            <a:avLst/>
          </a:prstGeom>
          <a:solidFill>
            <a:srgbClr val="E0EEE5"/>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ounded Rectangle 202"/>
          <p:cNvSpPr/>
          <p:nvPr/>
        </p:nvSpPr>
        <p:spPr>
          <a:xfrm>
            <a:off x="3794760" y="2926080"/>
            <a:ext cx="420624" cy="42062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00" b="1">
                <a:solidFill>
                  <a:srgbClr val="FFFFFF"/>
                </a:solidFill>
                <a:latin typeface="Arial"/>
              </a:rPr>
              <a:t>02</a:t>
            </a:r>
          </a:p>
        </p:txBody>
      </p:sp>
      <p:sp>
        <p:nvSpPr>
          <p:cNvPr id="204" name="TextBox 203"/>
          <p:cNvSpPr txBox="1"/>
          <p:nvPr/>
        </p:nvSpPr>
        <p:spPr>
          <a:xfrm>
            <a:off x="4315968" y="2926080"/>
            <a:ext cx="1371600" cy="256032"/>
          </a:xfrm>
          <a:prstGeom prst="rect">
            <a:avLst/>
          </a:prstGeom>
          <a:noFill/>
        </p:spPr>
        <p:txBody>
          <a:bodyPr wrap="square" lIns="73152" rIns="73152" tIns="27432" bIns="27432">
            <a:spAutoFit/>
          </a:bodyPr>
          <a:lstStyle/>
          <a:p>
            <a:r>
              <a:rPr sz="1400" b="1">
                <a:solidFill>
                  <a:srgbClr val="2E3440"/>
                </a:solidFill>
                <a:latin typeface="Arial"/>
              </a:rPr>
              <a:t>Kunde</a:t>
            </a:r>
          </a:p>
        </p:txBody>
      </p:sp>
      <p:sp>
        <p:nvSpPr>
          <p:cNvPr id="205" name="TextBox 204"/>
          <p:cNvSpPr txBox="1"/>
          <p:nvPr/>
        </p:nvSpPr>
        <p:spPr>
          <a:xfrm>
            <a:off x="3858768" y="3493008"/>
            <a:ext cx="1783080" cy="502920"/>
          </a:xfrm>
          <a:prstGeom prst="rect">
            <a:avLst/>
          </a:prstGeom>
          <a:noFill/>
        </p:spPr>
        <p:txBody>
          <a:bodyPr wrap="square" lIns="73152" rIns="73152" tIns="27432" bIns="27432">
            <a:spAutoFit/>
          </a:bodyPr>
          <a:lstStyle/>
          <a:p>
            <a:pPr algn="ctr"/>
            <a:r>
              <a:rPr sz="1019" b="0">
                <a:solidFill>
                  <a:srgbClr val="2E3440"/>
                </a:solidFill>
                <a:latin typeface="Arial"/>
              </a:rPr>
              <a:t>registrieren</a:t>
            </a:r>
          </a:p>
          <a:p>
            <a:pPr algn="ctr"/>
            <a:r>
              <a:rPr sz="1019" b="0">
                <a:solidFill>
                  <a:srgbClr val="2E3440"/>
                </a:solidFill>
                <a:latin typeface="Arial"/>
              </a:rPr>
              <a:t>bestellen</a:t>
            </a:r>
          </a:p>
          <a:p>
            <a:pPr algn="ctr"/>
            <a:r>
              <a:rPr sz="1019" b="0">
                <a:solidFill>
                  <a:srgbClr val="2E3440"/>
                </a:solidFill>
                <a:latin typeface="Arial"/>
              </a:rPr>
              <a:t>Rücksendung anfragen</a:t>
            </a:r>
          </a:p>
        </p:txBody>
      </p:sp>
      <p:sp>
        <p:nvSpPr>
          <p:cNvPr id="206" name="Rounded Rectangle 205"/>
          <p:cNvSpPr/>
          <p:nvPr/>
        </p:nvSpPr>
        <p:spPr>
          <a:xfrm>
            <a:off x="6446520" y="2788920"/>
            <a:ext cx="2148840" cy="1371600"/>
          </a:xfrm>
          <a:prstGeom prst="roundRect">
            <a:avLst/>
          </a:prstGeom>
          <a:solidFill>
            <a:srgbClr val="E5EBF4"/>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ounded Rectangle 206"/>
          <p:cNvSpPr/>
          <p:nvPr/>
        </p:nvSpPr>
        <p:spPr>
          <a:xfrm>
            <a:off x="6583680" y="2926080"/>
            <a:ext cx="420624" cy="42062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00" b="1">
                <a:solidFill>
                  <a:srgbClr val="FFFFFF"/>
                </a:solidFill>
                <a:latin typeface="Arial"/>
              </a:rPr>
              <a:t>03</a:t>
            </a:r>
          </a:p>
        </p:txBody>
      </p:sp>
      <p:sp>
        <p:nvSpPr>
          <p:cNvPr id="208" name="TextBox 207"/>
          <p:cNvSpPr txBox="1"/>
          <p:nvPr/>
        </p:nvSpPr>
        <p:spPr>
          <a:xfrm>
            <a:off x="7104888" y="2926080"/>
            <a:ext cx="1371600" cy="256032"/>
          </a:xfrm>
          <a:prstGeom prst="rect">
            <a:avLst/>
          </a:prstGeom>
          <a:noFill/>
        </p:spPr>
        <p:txBody>
          <a:bodyPr wrap="square" lIns="73152" rIns="73152" tIns="27432" bIns="27432">
            <a:spAutoFit/>
          </a:bodyPr>
          <a:lstStyle/>
          <a:p>
            <a:r>
              <a:rPr sz="1400" b="1">
                <a:solidFill>
                  <a:srgbClr val="2E3440"/>
                </a:solidFill>
                <a:latin typeface="Arial"/>
              </a:rPr>
              <a:t>Mitarbeiter</a:t>
            </a:r>
          </a:p>
        </p:txBody>
      </p:sp>
      <p:sp>
        <p:nvSpPr>
          <p:cNvPr id="209" name="TextBox 208"/>
          <p:cNvSpPr txBox="1"/>
          <p:nvPr/>
        </p:nvSpPr>
        <p:spPr>
          <a:xfrm>
            <a:off x="6647688" y="3493008"/>
            <a:ext cx="1783080" cy="502920"/>
          </a:xfrm>
          <a:prstGeom prst="rect">
            <a:avLst/>
          </a:prstGeom>
          <a:noFill/>
        </p:spPr>
        <p:txBody>
          <a:bodyPr wrap="square" lIns="73152" rIns="73152" tIns="27432" bIns="27432">
            <a:spAutoFit/>
          </a:bodyPr>
          <a:lstStyle/>
          <a:p>
            <a:pPr algn="ctr"/>
            <a:r>
              <a:rPr sz="1019" b="0">
                <a:solidFill>
                  <a:srgbClr val="2E3440"/>
                </a:solidFill>
                <a:latin typeface="Arial"/>
              </a:rPr>
              <a:t>Produkte pflegen</a:t>
            </a:r>
          </a:p>
          <a:p>
            <a:pPr algn="ctr"/>
            <a:r>
              <a:rPr sz="1019" b="0">
                <a:solidFill>
                  <a:srgbClr val="2E3440"/>
                </a:solidFill>
                <a:latin typeface="Arial"/>
              </a:rPr>
              <a:t>Rücksendungen bearbeiten</a:t>
            </a:r>
          </a:p>
        </p:txBody>
      </p:sp>
      <p:sp>
        <p:nvSpPr>
          <p:cNvPr id="210" name="Rounded Rectangle 209"/>
          <p:cNvSpPr/>
          <p:nvPr/>
        </p:nvSpPr>
        <p:spPr>
          <a:xfrm>
            <a:off x="9235439" y="2788920"/>
            <a:ext cx="2148840" cy="1371600"/>
          </a:xfrm>
          <a:prstGeom prst="roundRect">
            <a:avLst/>
          </a:prstGeom>
          <a:solidFill>
            <a:srgbClr val="F2E2D3"/>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ounded Rectangle 210"/>
          <p:cNvSpPr/>
          <p:nvPr/>
        </p:nvSpPr>
        <p:spPr>
          <a:xfrm>
            <a:off x="9372599" y="2926080"/>
            <a:ext cx="420624" cy="42062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00" b="1">
                <a:solidFill>
                  <a:srgbClr val="FFFFFF"/>
                </a:solidFill>
                <a:latin typeface="Arial"/>
              </a:rPr>
              <a:t>04</a:t>
            </a:r>
          </a:p>
        </p:txBody>
      </p:sp>
      <p:sp>
        <p:nvSpPr>
          <p:cNvPr id="212" name="TextBox 211"/>
          <p:cNvSpPr txBox="1"/>
          <p:nvPr/>
        </p:nvSpPr>
        <p:spPr>
          <a:xfrm>
            <a:off x="9893807" y="2926080"/>
            <a:ext cx="1371600" cy="256032"/>
          </a:xfrm>
          <a:prstGeom prst="rect">
            <a:avLst/>
          </a:prstGeom>
          <a:noFill/>
        </p:spPr>
        <p:txBody>
          <a:bodyPr wrap="square" lIns="73152" rIns="73152" tIns="27432" bIns="27432">
            <a:spAutoFit/>
          </a:bodyPr>
          <a:lstStyle/>
          <a:p>
            <a:r>
              <a:rPr sz="1400" b="1">
                <a:solidFill>
                  <a:srgbClr val="2E3440"/>
                </a:solidFill>
                <a:latin typeface="Arial"/>
              </a:rPr>
              <a:t>Admin</a:t>
            </a:r>
          </a:p>
        </p:txBody>
      </p:sp>
      <p:sp>
        <p:nvSpPr>
          <p:cNvPr id="213" name="TextBox 212"/>
          <p:cNvSpPr txBox="1"/>
          <p:nvPr/>
        </p:nvSpPr>
        <p:spPr>
          <a:xfrm>
            <a:off x="9436607" y="3493008"/>
            <a:ext cx="1783080" cy="502920"/>
          </a:xfrm>
          <a:prstGeom prst="rect">
            <a:avLst/>
          </a:prstGeom>
          <a:noFill/>
        </p:spPr>
        <p:txBody>
          <a:bodyPr wrap="square" lIns="73152" rIns="73152" tIns="27432" bIns="27432">
            <a:spAutoFit/>
          </a:bodyPr>
          <a:lstStyle/>
          <a:p>
            <a:pPr algn="ctr"/>
            <a:r>
              <a:rPr sz="1019" b="0">
                <a:solidFill>
                  <a:srgbClr val="2E3440"/>
                </a:solidFill>
                <a:latin typeface="Arial"/>
              </a:rPr>
              <a:t>Rollen verwalten</a:t>
            </a:r>
          </a:p>
          <a:p>
            <a:pPr algn="ctr"/>
            <a:r>
              <a:rPr sz="1019" b="0">
                <a:solidFill>
                  <a:srgbClr val="2E3440"/>
                </a:solidFill>
                <a:latin typeface="Arial"/>
              </a:rPr>
              <a:t>Zugriffe steuern</a:t>
            </a:r>
          </a:p>
        </p:txBody>
      </p:sp>
      <p:sp>
        <p:nvSpPr>
          <p:cNvPr id="214" name="Rounded Rectangle 213"/>
          <p:cNvSpPr/>
          <p:nvPr/>
        </p:nvSpPr>
        <p:spPr>
          <a:xfrm>
            <a:off x="960120" y="5074920"/>
            <a:ext cx="9966960" cy="502920"/>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0">
                <a:solidFill>
                  <a:srgbClr val="2E3440"/>
                </a:solidFill>
                <a:latin typeface="Arial"/>
              </a:rPr>
              <a:t>Das Rollenkonzept trennt Kundenfunktionen von internen Verwaltungsaufgaben.</a:t>
            </a:r>
          </a:p>
        </p:txBody>
      </p:sp>
      <p:sp>
        <p:nvSpPr>
          <p:cNvPr id="215" name="TextBox 214"/>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04</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215" name="Shape 215"/>
        <p:cNvGrpSpPr/>
        <p:nvPr/>
      </p:nvGrpSpPr>
      <p:grpSpPr>
        <a:xfrm>
          <a:off x="0" y="0"/>
          <a:ext cx="0" cy="0"/>
          <a:chOff x="0" y="0"/>
          <a:chExt cx="0" cy="0"/>
        </a:xfrm>
      </p:grpSpPr>
      <p:sp>
        <p:nvSpPr>
          <p:cNvPr id="216" name="Rectangle 215"/>
          <p:cNvSpPr/>
          <p:nvPr/>
        </p:nvSpPr>
        <p:spPr>
          <a:xfrm>
            <a:off x="0" y="0"/>
            <a:ext cx="12191695" cy="384048"/>
          </a:xfrm>
          <a:prstGeom prst="rect">
            <a:avLst/>
          </a:prstGeom>
          <a:solidFill>
            <a:srgbClr val="152620"/>
          </a:solidFill>
          <a:ln w="12700">
            <a:solidFill>
              <a:srgbClr val="1526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621792" y="109728"/>
            <a:ext cx="4297680" cy="146304"/>
          </a:xfrm>
          <a:prstGeom prst="rect">
            <a:avLst/>
          </a:prstGeom>
          <a:noFill/>
        </p:spPr>
        <p:txBody>
          <a:bodyPr wrap="square" lIns="73152" rIns="73152" tIns="27432" bIns="27432">
            <a:spAutoFit/>
          </a:bodyPr>
          <a:lstStyle/>
          <a:p>
            <a:r>
              <a:rPr sz="850" b="1">
                <a:solidFill>
                  <a:srgbClr val="FFFFFF"/>
                </a:solidFill>
                <a:latin typeface="Arial"/>
              </a:rPr>
              <a:t>MavaziHub · African Fashion Store</a:t>
            </a:r>
          </a:p>
        </p:txBody>
      </p:sp>
      <p:sp>
        <p:nvSpPr>
          <p:cNvPr id="218" name="TextBox 217"/>
          <p:cNvSpPr txBox="1"/>
          <p:nvPr/>
        </p:nvSpPr>
        <p:spPr>
          <a:xfrm>
            <a:off x="8686800" y="109728"/>
            <a:ext cx="2834640" cy="146304"/>
          </a:xfrm>
          <a:prstGeom prst="rect">
            <a:avLst/>
          </a:prstGeom>
          <a:noFill/>
        </p:spPr>
        <p:txBody>
          <a:bodyPr wrap="square" lIns="73152" rIns="73152" tIns="27432" bIns="27432">
            <a:spAutoFit/>
          </a:bodyPr>
          <a:lstStyle/>
          <a:p>
            <a:pPr algn="r"/>
            <a:r>
              <a:rPr sz="850" b="0">
                <a:solidFill>
                  <a:srgbClr val="FFFFFF"/>
                </a:solidFill>
                <a:latin typeface="Arial"/>
              </a:rPr>
              <a:t>L03 Abschlusspräsentation</a:t>
            </a:r>
          </a:p>
        </p:txBody>
      </p:sp>
      <p:sp>
        <p:nvSpPr>
          <p:cNvPr id="219" name="Rounded Rectangle 218"/>
          <p:cNvSpPr/>
          <p:nvPr/>
        </p:nvSpPr>
        <p:spPr>
          <a:xfrm>
            <a:off x="566928" y="621792"/>
            <a:ext cx="347472" cy="34747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50" b="1">
                <a:solidFill>
                  <a:srgbClr val="FFFFFF"/>
                </a:solidFill>
                <a:latin typeface="Arial"/>
              </a:rPr>
              <a:t>MH</a:t>
            </a:r>
          </a:p>
        </p:txBody>
      </p:sp>
      <p:sp>
        <p:nvSpPr>
          <p:cNvPr id="220" name="TextBox 219"/>
          <p:cNvSpPr txBox="1"/>
          <p:nvPr/>
        </p:nvSpPr>
        <p:spPr>
          <a:xfrm>
            <a:off x="1024128" y="566928"/>
            <a:ext cx="2011680" cy="256032"/>
          </a:xfrm>
          <a:prstGeom prst="rect">
            <a:avLst/>
          </a:prstGeom>
          <a:noFill/>
        </p:spPr>
        <p:txBody>
          <a:bodyPr wrap="square" lIns="73152" rIns="73152" tIns="27432" bIns="27432">
            <a:spAutoFit/>
          </a:bodyPr>
          <a:lstStyle/>
          <a:p>
            <a:r>
              <a:rPr sz="1600" b="1">
                <a:solidFill>
                  <a:srgbClr val="2E3440"/>
                </a:solidFill>
                <a:latin typeface="Arial"/>
              </a:rPr>
              <a:t>MavaziHub</a:t>
            </a:r>
          </a:p>
        </p:txBody>
      </p:sp>
      <p:sp>
        <p:nvSpPr>
          <p:cNvPr id="221" name="TextBox 220"/>
          <p:cNvSpPr txBox="1"/>
          <p:nvPr/>
        </p:nvSpPr>
        <p:spPr>
          <a:xfrm>
            <a:off x="1024128" y="859536"/>
            <a:ext cx="2011680" cy="164592"/>
          </a:xfrm>
          <a:prstGeom prst="rect">
            <a:avLst/>
          </a:prstGeom>
          <a:noFill/>
        </p:spPr>
        <p:txBody>
          <a:bodyPr wrap="square" lIns="73152" rIns="73152" tIns="27432" bIns="27432">
            <a:spAutoFit/>
          </a:bodyPr>
          <a:lstStyle/>
          <a:p>
            <a:r>
              <a:rPr sz="650" b="1">
                <a:solidFill>
                  <a:srgbClr val="C8752A"/>
                </a:solidFill>
                <a:latin typeface="Arial"/>
              </a:rPr>
              <a:t>African Fashion Store</a:t>
            </a:r>
          </a:p>
        </p:txBody>
      </p:sp>
      <p:sp>
        <p:nvSpPr>
          <p:cNvPr id="222" name="TextBox 221"/>
          <p:cNvSpPr txBox="1"/>
          <p:nvPr/>
        </p:nvSpPr>
        <p:spPr>
          <a:xfrm>
            <a:off x="713232" y="1243584"/>
            <a:ext cx="6675120" cy="493776"/>
          </a:xfrm>
          <a:prstGeom prst="rect">
            <a:avLst/>
          </a:prstGeom>
          <a:noFill/>
        </p:spPr>
        <p:txBody>
          <a:bodyPr wrap="square" lIns="73152" rIns="73152" tIns="27432" bIns="27432">
            <a:spAutoFit/>
          </a:bodyPr>
          <a:lstStyle/>
          <a:p>
            <a:r>
              <a:rPr sz="2700" b="1">
                <a:solidFill>
                  <a:srgbClr val="2E3440"/>
                </a:solidFill>
                <a:latin typeface="Arial"/>
              </a:rPr>
              <a:t>User Journey</a:t>
            </a:r>
          </a:p>
        </p:txBody>
      </p:sp>
      <p:sp>
        <p:nvSpPr>
          <p:cNvPr id="223" name="TextBox 222"/>
          <p:cNvSpPr txBox="1"/>
          <p:nvPr/>
        </p:nvSpPr>
        <p:spPr>
          <a:xfrm>
            <a:off x="713232" y="1847088"/>
            <a:ext cx="6675120" cy="329184"/>
          </a:xfrm>
          <a:prstGeom prst="rect">
            <a:avLst/>
          </a:prstGeom>
          <a:noFill/>
        </p:spPr>
        <p:txBody>
          <a:bodyPr wrap="square" lIns="73152" rIns="73152" tIns="27432" bIns="27432">
            <a:spAutoFit/>
          </a:bodyPr>
          <a:lstStyle/>
          <a:p>
            <a:r>
              <a:rPr sz="1150" b="0">
                <a:solidFill>
                  <a:srgbClr val="77716A"/>
                </a:solidFill>
                <a:latin typeface="Arial"/>
              </a:rPr>
              <a:t>Vom Produktinteresse bis zur Rücksendung</a:t>
            </a:r>
          </a:p>
        </p:txBody>
      </p:sp>
      <p:sp>
        <p:nvSpPr>
          <p:cNvPr id="224" name="TextBox 223"/>
          <p:cNvSpPr txBox="1"/>
          <p:nvPr/>
        </p:nvSpPr>
        <p:spPr>
          <a:xfrm>
            <a:off x="8961120" y="786384"/>
            <a:ext cx="2377440" cy="128016"/>
          </a:xfrm>
          <a:prstGeom prst="rect">
            <a:avLst/>
          </a:prstGeom>
          <a:noFill/>
        </p:spPr>
        <p:txBody>
          <a:bodyPr wrap="square" lIns="73152" rIns="73152" tIns="27432" bIns="27432">
            <a:spAutoFit/>
          </a:bodyPr>
          <a:lstStyle/>
          <a:p>
            <a:pPr algn="r"/>
            <a:r>
              <a:rPr sz="750" b="0">
                <a:solidFill>
                  <a:srgbClr val="77716A"/>
                </a:solidFill>
                <a:latin typeface="Arial"/>
              </a:rPr>
              <a:t>Verantwortlich: Person 2</a:t>
            </a:r>
          </a:p>
        </p:txBody>
      </p:sp>
      <p:sp>
        <p:nvSpPr>
          <p:cNvPr id="226" name="Rounded Rectangle 225"/>
          <p:cNvSpPr/>
          <p:nvPr/>
        </p:nvSpPr>
        <p:spPr>
          <a:xfrm>
            <a:off x="640080" y="2880360"/>
            <a:ext cx="1143000" cy="685800"/>
          </a:xfrm>
          <a:prstGeom prst="roundRect">
            <a:avLst/>
          </a:prstGeom>
          <a:solidFill>
            <a:srgbClr val="E0EEE5"/>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30" b="1">
                <a:solidFill>
                  <a:srgbClr val="2E3440"/>
                </a:solidFill>
                <a:latin typeface="Arial"/>
              </a:rPr>
              <a:t>1</a:t>
            </a:r>
          </a:p>
          <a:p>
            <a:pPr algn="ctr"/>
            <a:r>
              <a:rPr sz="930" b="1">
                <a:solidFill>
                  <a:srgbClr val="2E3440"/>
                </a:solidFill>
                <a:latin typeface="Arial"/>
              </a:rPr>
              <a:t>Produkt</a:t>
            </a:r>
          </a:p>
          <a:p>
            <a:pPr algn="ctr"/>
            <a:r>
              <a:rPr sz="930" b="1">
                <a:solidFill>
                  <a:srgbClr val="2E3440"/>
                </a:solidFill>
                <a:latin typeface="Arial"/>
              </a:rPr>
              <a:t>entdecken</a:t>
            </a:r>
          </a:p>
        </p:txBody>
      </p:sp>
      <p:cxnSp>
        <p:nvCxnSpPr>
          <p:cNvPr id="227" name="Connector 226"/>
          <p:cNvCxnSpPr/>
          <p:nvPr/>
        </p:nvCxnSpPr>
        <p:spPr>
          <a:xfrm>
            <a:off x="1783080" y="3227832"/>
            <a:ext cx="457200" cy="0"/>
          </a:xfrm>
          <a:prstGeom prst="line">
            <a:avLst/>
          </a:prstGeom>
          <a:ln w="2286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228" name="Rounded Rectangle 227"/>
          <p:cNvSpPr/>
          <p:nvPr/>
        </p:nvSpPr>
        <p:spPr>
          <a:xfrm>
            <a:off x="2240280" y="2880360"/>
            <a:ext cx="1143000" cy="68580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30" b="1">
                <a:solidFill>
                  <a:srgbClr val="2E3440"/>
                </a:solidFill>
                <a:latin typeface="Arial"/>
              </a:rPr>
              <a:t>2</a:t>
            </a:r>
          </a:p>
          <a:p>
            <a:pPr algn="ctr"/>
            <a:r>
              <a:rPr sz="930" b="1">
                <a:solidFill>
                  <a:srgbClr val="2E3440"/>
                </a:solidFill>
                <a:latin typeface="Arial"/>
              </a:rPr>
              <a:t>Detail</a:t>
            </a:r>
          </a:p>
          <a:p>
            <a:pPr algn="ctr"/>
            <a:r>
              <a:rPr sz="930" b="1">
                <a:solidFill>
                  <a:srgbClr val="2E3440"/>
                </a:solidFill>
                <a:latin typeface="Arial"/>
              </a:rPr>
              <a:t>ansehen</a:t>
            </a:r>
          </a:p>
        </p:txBody>
      </p:sp>
      <p:cxnSp>
        <p:nvCxnSpPr>
          <p:cNvPr id="229" name="Connector 228"/>
          <p:cNvCxnSpPr/>
          <p:nvPr/>
        </p:nvCxnSpPr>
        <p:spPr>
          <a:xfrm>
            <a:off x="3383280" y="3227832"/>
            <a:ext cx="457200" cy="0"/>
          </a:xfrm>
          <a:prstGeom prst="line">
            <a:avLst/>
          </a:prstGeom>
          <a:ln w="2286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230" name="Rounded Rectangle 229"/>
          <p:cNvSpPr/>
          <p:nvPr/>
        </p:nvSpPr>
        <p:spPr>
          <a:xfrm>
            <a:off x="3840480" y="2880360"/>
            <a:ext cx="1143000" cy="68580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30" b="1">
                <a:solidFill>
                  <a:srgbClr val="2E3440"/>
                </a:solidFill>
                <a:latin typeface="Arial"/>
              </a:rPr>
              <a:t>3</a:t>
            </a:r>
          </a:p>
          <a:p>
            <a:pPr algn="ctr"/>
            <a:r>
              <a:rPr sz="930" b="1">
                <a:solidFill>
                  <a:srgbClr val="2E3440"/>
                </a:solidFill>
                <a:latin typeface="Arial"/>
              </a:rPr>
              <a:t>Login /</a:t>
            </a:r>
          </a:p>
          <a:p>
            <a:pPr algn="ctr"/>
            <a:r>
              <a:rPr sz="930" b="1">
                <a:solidFill>
                  <a:srgbClr val="2E3440"/>
                </a:solidFill>
                <a:latin typeface="Arial"/>
              </a:rPr>
              <a:t>Registrierung</a:t>
            </a:r>
          </a:p>
        </p:txBody>
      </p:sp>
      <p:cxnSp>
        <p:nvCxnSpPr>
          <p:cNvPr id="231" name="Connector 230"/>
          <p:cNvCxnSpPr/>
          <p:nvPr/>
        </p:nvCxnSpPr>
        <p:spPr>
          <a:xfrm>
            <a:off x="4983480" y="3227832"/>
            <a:ext cx="457200" cy="0"/>
          </a:xfrm>
          <a:prstGeom prst="line">
            <a:avLst/>
          </a:prstGeom>
          <a:ln w="2286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232" name="Rounded Rectangle 231"/>
          <p:cNvSpPr/>
          <p:nvPr/>
        </p:nvSpPr>
        <p:spPr>
          <a:xfrm>
            <a:off x="5440680" y="2880360"/>
            <a:ext cx="1143000" cy="685800"/>
          </a:xfrm>
          <a:prstGeom prst="roundRect">
            <a:avLst/>
          </a:prstGeom>
          <a:solidFill>
            <a:srgbClr val="F2E2D3"/>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30" b="1">
                <a:solidFill>
                  <a:srgbClr val="2E3440"/>
                </a:solidFill>
                <a:latin typeface="Arial"/>
              </a:rPr>
              <a:t>4</a:t>
            </a:r>
          </a:p>
          <a:p>
            <a:pPr algn="ctr"/>
            <a:r>
              <a:rPr sz="930" b="1">
                <a:solidFill>
                  <a:srgbClr val="2E3440"/>
                </a:solidFill>
                <a:latin typeface="Arial"/>
              </a:rPr>
              <a:t>Warenkorb</a:t>
            </a:r>
          </a:p>
        </p:txBody>
      </p:sp>
      <p:cxnSp>
        <p:nvCxnSpPr>
          <p:cNvPr id="233" name="Connector 232"/>
          <p:cNvCxnSpPr/>
          <p:nvPr/>
        </p:nvCxnSpPr>
        <p:spPr>
          <a:xfrm>
            <a:off x="6583680" y="3227832"/>
            <a:ext cx="457200" cy="0"/>
          </a:xfrm>
          <a:prstGeom prst="line">
            <a:avLst/>
          </a:prstGeom>
          <a:ln w="2286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234" name="Rounded Rectangle 233"/>
          <p:cNvSpPr/>
          <p:nvPr/>
        </p:nvSpPr>
        <p:spPr>
          <a:xfrm>
            <a:off x="7040880" y="2880360"/>
            <a:ext cx="1143000" cy="685800"/>
          </a:xfrm>
          <a:prstGeom prst="roundRect">
            <a:avLst/>
          </a:prstGeom>
          <a:solidFill>
            <a:srgbClr val="F2E2D3"/>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30" b="1">
                <a:solidFill>
                  <a:srgbClr val="2E3440"/>
                </a:solidFill>
                <a:latin typeface="Arial"/>
              </a:rPr>
              <a:t>5</a:t>
            </a:r>
          </a:p>
          <a:p>
            <a:pPr algn="ctr"/>
            <a:r>
              <a:rPr sz="930" b="1">
                <a:solidFill>
                  <a:srgbClr val="2E3440"/>
                </a:solidFill>
                <a:latin typeface="Arial"/>
              </a:rPr>
              <a:t>Bestellung</a:t>
            </a:r>
          </a:p>
          <a:p>
            <a:pPr algn="ctr"/>
            <a:r>
              <a:rPr sz="930" b="1">
                <a:solidFill>
                  <a:srgbClr val="2E3440"/>
                </a:solidFill>
                <a:latin typeface="Arial"/>
              </a:rPr>
              <a:t>abschließen</a:t>
            </a:r>
          </a:p>
        </p:txBody>
      </p:sp>
      <p:cxnSp>
        <p:nvCxnSpPr>
          <p:cNvPr id="235" name="Connector 234"/>
          <p:cNvCxnSpPr/>
          <p:nvPr/>
        </p:nvCxnSpPr>
        <p:spPr>
          <a:xfrm>
            <a:off x="8183879" y="3227832"/>
            <a:ext cx="457201" cy="0"/>
          </a:xfrm>
          <a:prstGeom prst="line">
            <a:avLst/>
          </a:prstGeom>
          <a:ln w="2286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236" name="Rounded Rectangle 235"/>
          <p:cNvSpPr/>
          <p:nvPr/>
        </p:nvSpPr>
        <p:spPr>
          <a:xfrm>
            <a:off x="8641080" y="2880360"/>
            <a:ext cx="1143000" cy="68580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30" b="1">
                <a:solidFill>
                  <a:srgbClr val="2E3440"/>
                </a:solidFill>
                <a:latin typeface="Arial"/>
              </a:rPr>
              <a:t>6</a:t>
            </a:r>
          </a:p>
          <a:p>
            <a:pPr algn="ctr"/>
            <a:r>
              <a:rPr sz="930" b="1">
                <a:solidFill>
                  <a:srgbClr val="2E3440"/>
                </a:solidFill>
                <a:latin typeface="Arial"/>
              </a:rPr>
              <a:t>Historie</a:t>
            </a:r>
          </a:p>
          <a:p>
            <a:pPr algn="ctr"/>
            <a:r>
              <a:rPr sz="930" b="1">
                <a:solidFill>
                  <a:srgbClr val="2E3440"/>
                </a:solidFill>
                <a:latin typeface="Arial"/>
              </a:rPr>
              <a:t>öffnen</a:t>
            </a:r>
          </a:p>
        </p:txBody>
      </p:sp>
      <p:cxnSp>
        <p:nvCxnSpPr>
          <p:cNvPr id="237" name="Connector 236"/>
          <p:cNvCxnSpPr/>
          <p:nvPr/>
        </p:nvCxnSpPr>
        <p:spPr>
          <a:xfrm>
            <a:off x="9784080" y="3227832"/>
            <a:ext cx="457200" cy="0"/>
          </a:xfrm>
          <a:prstGeom prst="line">
            <a:avLst/>
          </a:prstGeom>
          <a:ln w="2286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238" name="Rounded Rectangle 237"/>
          <p:cNvSpPr/>
          <p:nvPr/>
        </p:nvSpPr>
        <p:spPr>
          <a:xfrm>
            <a:off x="10241280" y="2880360"/>
            <a:ext cx="1143000" cy="685800"/>
          </a:xfrm>
          <a:prstGeom prst="roundRect">
            <a:avLst/>
          </a:prstGeom>
          <a:solidFill>
            <a:srgbClr val="E5EBF4"/>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30" b="1">
                <a:solidFill>
                  <a:srgbClr val="2E3440"/>
                </a:solidFill>
                <a:latin typeface="Arial"/>
              </a:rPr>
              <a:t>7</a:t>
            </a:r>
          </a:p>
          <a:p>
            <a:pPr algn="ctr"/>
            <a:r>
              <a:rPr sz="930" b="1">
                <a:solidFill>
                  <a:srgbClr val="2E3440"/>
                </a:solidFill>
                <a:latin typeface="Arial"/>
              </a:rPr>
              <a:t>Rücksendung</a:t>
            </a:r>
          </a:p>
          <a:p>
            <a:pPr algn="ctr"/>
            <a:r>
              <a:rPr sz="930" b="1">
                <a:solidFill>
                  <a:srgbClr val="2E3440"/>
                </a:solidFill>
                <a:latin typeface="Arial"/>
              </a:rPr>
              <a:t>anfragen</a:t>
            </a:r>
          </a:p>
        </p:txBody>
      </p:sp>
      <p:sp>
        <p:nvSpPr>
          <p:cNvPr id="239" name="Rounded Rectangle 238"/>
          <p:cNvSpPr/>
          <p:nvPr/>
        </p:nvSpPr>
        <p:spPr>
          <a:xfrm>
            <a:off x="914400" y="4709160"/>
            <a:ext cx="10149840" cy="685800"/>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0">
                <a:solidFill>
                  <a:srgbClr val="2E3440"/>
                </a:solidFill>
                <a:latin typeface="Arial"/>
              </a:rPr>
              <a:t>Die Journey verbindet mehrere Anforderungen zu einem durchgehenden Prozess: Produkt auswählen, Bestellung erzeugen und Rücksendung digital abwickeln.</a:t>
            </a:r>
          </a:p>
        </p:txBody>
      </p:sp>
      <p:sp>
        <p:nvSpPr>
          <p:cNvPr id="240" name="TextBox 239"/>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05</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222" name="Shape 222"/>
        <p:cNvGrpSpPr/>
        <p:nvPr/>
      </p:nvGrpSpPr>
      <p:grpSpPr>
        <a:xfrm>
          <a:off x="0" y="0"/>
          <a:ext cx="0" cy="0"/>
          <a:chOff x="0" y="0"/>
          <a:chExt cx="0" cy="0"/>
        </a:xfrm>
      </p:grpSpPr>
      <p:sp>
        <p:nvSpPr>
          <p:cNvPr id="223" name="Google Shape;223;p20"/>
          <p:cNvSpPr/>
          <p:nvPr/>
        </p:nvSpPr>
        <p:spPr>
          <a:xfrm>
            <a:off x="0" y="0"/>
            <a:ext cx="12191700" cy="384000"/>
          </a:xfrm>
          <a:prstGeom prst="rect">
            <a:avLst/>
          </a:prstGeom>
          <a:solidFill>
            <a:srgbClr val="0B0907"/>
          </a:solidFill>
          <a:ln cap="flat" cmpd="sng" w="12700">
            <a:solidFill>
              <a:srgbClr val="0B090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0"/>
          <p:cNvSpPr/>
          <p:nvPr/>
        </p:nvSpPr>
        <p:spPr>
          <a:xfrm>
            <a:off x="621792" y="118872"/>
            <a:ext cx="42976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Arial"/>
              <a:buNone/>
            </a:pPr>
            <a:r>
              <a:rPr b="1" lang="en-US" sz="850">
                <a:solidFill>
                  <a:srgbClr val="FFFFFF"/>
                </a:solidFill>
                <a:latin typeface="Arial"/>
                <a:ea typeface="Arial"/>
                <a:cs typeface="Arial"/>
                <a:sym typeface="Arial"/>
              </a:rPr>
              <a:t>MavaziHub · African Fashion Store</a:t>
            </a:r>
            <a:endParaRPr sz="850">
              <a:solidFill>
                <a:schemeClr val="dk1"/>
              </a:solidFill>
              <a:latin typeface="Arial"/>
              <a:ea typeface="Arial"/>
              <a:cs typeface="Arial"/>
              <a:sym typeface="Arial"/>
            </a:endParaRPr>
          </a:p>
        </p:txBody>
      </p:sp>
      <p:sp>
        <p:nvSpPr>
          <p:cNvPr id="225" name="Google Shape;225;p20"/>
          <p:cNvSpPr/>
          <p:nvPr/>
        </p:nvSpPr>
        <p:spPr>
          <a:xfrm>
            <a:off x="621792" y="621792"/>
            <a:ext cx="329184" cy="329184"/>
          </a:xfrm>
          <a:prstGeom prst="ellipse">
            <a:avLst/>
          </a:prstGeom>
          <a:solidFill>
            <a:srgbClr val="5B2619"/>
          </a:solidFill>
          <a:ln cap="flat" cmpd="sng" w="12700">
            <a:solidFill>
              <a:srgbClr val="5B26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0"/>
          <p:cNvSpPr/>
          <p:nvPr/>
        </p:nvSpPr>
        <p:spPr>
          <a:xfrm>
            <a:off x="667512" y="717804"/>
            <a:ext cx="237744" cy="91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50"/>
              <a:buFont typeface="Arial"/>
              <a:buNone/>
            </a:pPr>
            <a:r>
              <a:rPr b="1" lang="en-US" sz="650">
                <a:solidFill>
                  <a:srgbClr val="FFFFFF"/>
                </a:solidFill>
                <a:latin typeface="Arial"/>
                <a:ea typeface="Arial"/>
                <a:cs typeface="Arial"/>
                <a:sym typeface="Arial"/>
              </a:rPr>
              <a:t>MH</a:t>
            </a:r>
            <a:endParaRPr sz="650">
              <a:solidFill>
                <a:schemeClr val="dk1"/>
              </a:solidFill>
              <a:latin typeface="Arial"/>
              <a:ea typeface="Arial"/>
              <a:cs typeface="Arial"/>
              <a:sym typeface="Arial"/>
            </a:endParaRPr>
          </a:p>
        </p:txBody>
      </p:sp>
      <p:sp>
        <p:nvSpPr>
          <p:cNvPr id="227" name="Google Shape;227;p20"/>
          <p:cNvSpPr/>
          <p:nvPr/>
        </p:nvSpPr>
        <p:spPr>
          <a:xfrm>
            <a:off x="1024128" y="585216"/>
            <a:ext cx="1920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440"/>
              </a:buClr>
              <a:buSzPts val="1600"/>
              <a:buFont typeface="Arial"/>
              <a:buNone/>
            </a:pPr>
            <a:r>
              <a:rPr b="1" lang="en-US" sz="1600">
                <a:solidFill>
                  <a:srgbClr val="2E3440"/>
                </a:solidFill>
                <a:latin typeface="Arial"/>
                <a:ea typeface="Arial"/>
                <a:cs typeface="Arial"/>
                <a:sym typeface="Arial"/>
              </a:rPr>
              <a:t>MavaziHub</a:t>
            </a:r>
            <a:endParaRPr sz="1600">
              <a:solidFill>
                <a:schemeClr val="dk1"/>
              </a:solidFill>
              <a:latin typeface="Arial"/>
              <a:ea typeface="Arial"/>
              <a:cs typeface="Arial"/>
              <a:sym typeface="Arial"/>
            </a:endParaRPr>
          </a:p>
        </p:txBody>
      </p:sp>
      <p:sp>
        <p:nvSpPr>
          <p:cNvPr id="228" name="Google Shape;228;p20"/>
          <p:cNvSpPr/>
          <p:nvPr/>
        </p:nvSpPr>
        <p:spPr>
          <a:xfrm>
            <a:off x="1024128" y="877824"/>
            <a:ext cx="2011680"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752A"/>
              </a:buClr>
              <a:buSzPts val="650"/>
              <a:buFont typeface="Arial"/>
              <a:buNone/>
            </a:pPr>
            <a:r>
              <a:rPr b="1" lang="en-US" sz="650">
                <a:solidFill>
                  <a:srgbClr val="C8752A"/>
                </a:solidFill>
                <a:latin typeface="Arial"/>
                <a:ea typeface="Arial"/>
                <a:cs typeface="Arial"/>
                <a:sym typeface="Arial"/>
              </a:rPr>
              <a:t>African Fashion Store</a:t>
            </a:r>
            <a:endParaRPr sz="650">
              <a:solidFill>
                <a:schemeClr val="dk1"/>
              </a:solidFill>
              <a:latin typeface="Arial"/>
              <a:ea typeface="Arial"/>
              <a:cs typeface="Arial"/>
              <a:sym typeface="Arial"/>
            </a:endParaRPr>
          </a:p>
        </p:txBody>
      </p:sp>
      <p:sp>
        <p:nvSpPr>
          <p:cNvPr id="230" name="Google Shape;230;p20"/>
          <p:cNvSpPr/>
          <p:nvPr/>
        </p:nvSpPr>
        <p:spPr>
          <a:xfrm>
            <a:off x="713232" y="1243584"/>
            <a:ext cx="6675120" cy="493776"/>
          </a:xfrm>
          <a:prstGeom prst="rect">
            <a:avLst/>
          </a:prstGeom>
          <a:noFill/>
          <a:ln>
            <a:noFill/>
          </a:ln>
        </p:spPr>
        <p:txBody>
          <a:bodyPr anchorCtr="0" anchor="ctr" bIns="27432" lIns="73152" spcFirstLastPara="1" rIns="73152" wrap="square" tIns="27432">
            <a:noAutofit/>
          </a:bodyPr>
          <a:lstStyle/>
          <a:p>
            <a:r>
              <a:rPr sz="2700" b="1">
                <a:solidFill>
                  <a:srgbClr val="2E3440"/>
                </a:solidFill>
                <a:latin typeface="Arial"/>
              </a:rPr>
              <a:t>MVP / Funktionsumfang V1.0</a:t>
            </a:r>
          </a:p>
        </p:txBody>
      </p:sp>
      <p:sp>
        <p:nvSpPr>
          <p:cNvPr id="231" name="Google Shape;231;p20"/>
          <p:cNvSpPr/>
          <p:nvPr/>
        </p:nvSpPr>
        <p:spPr>
          <a:xfrm>
            <a:off x="713232" y="1847088"/>
            <a:ext cx="6675120" cy="329184"/>
          </a:xfrm>
          <a:prstGeom prst="rect">
            <a:avLst/>
          </a:prstGeom>
          <a:noFill/>
          <a:ln>
            <a:noFill/>
          </a:ln>
        </p:spPr>
        <p:txBody>
          <a:bodyPr anchorCtr="0" anchor="ctr" bIns="27432" lIns="73152" spcFirstLastPara="1" rIns="73152" wrap="square" tIns="27432">
            <a:noAutofit/>
          </a:bodyPr>
          <a:lstStyle/>
          <a:p>
            <a:r>
              <a:rPr sz="1150" b="0">
                <a:solidFill>
                  <a:srgbClr val="77716A"/>
                </a:solidFill>
                <a:latin typeface="Arial"/>
              </a:rPr>
              <a:t>Bewusst fokussierter Umfang für eine stabile erste Version</a:t>
            </a:r>
          </a:p>
        </p:txBody>
      </p:sp>
      <p:pic>
        <p:nvPicPr>
          <p:cNvPr id="237" name="Google Shape;237;p20" title="SWSYS_LOGO2.png"/>
          <p:cNvPicPr preferRelativeResize="0"/>
          <p:nvPr/>
        </p:nvPicPr>
        <p:blipFill>
          <a:blip r:embed="rId3">
            <a:alphaModFix/>
          </a:blip>
          <a:stretch>
            <a:fillRect/>
          </a:stretch>
        </p:blipFill>
        <p:spPr>
          <a:xfrm>
            <a:off x="10929687" y="0"/>
            <a:ext cx="1261975" cy="885186"/>
          </a:xfrm>
          <a:prstGeom prst="rect">
            <a:avLst/>
          </a:prstGeom>
          <a:noFill/>
          <a:ln>
            <a:noFill/>
          </a:ln>
        </p:spPr>
      </p:pic>
      <p:sp>
        <p:nvSpPr>
          <p:cNvPr id="238" name="TextBox 237"/>
          <p:cNvSpPr txBox="1"/>
          <p:nvPr/>
        </p:nvSpPr>
        <p:spPr>
          <a:xfrm>
            <a:off x="8961120" y="786384"/>
            <a:ext cx="2377440" cy="128016"/>
          </a:xfrm>
          <a:prstGeom prst="rect">
            <a:avLst/>
          </a:prstGeom>
          <a:noFill/>
        </p:spPr>
        <p:txBody>
          <a:bodyPr wrap="square" lIns="73152" rIns="73152" tIns="27432" bIns="27432">
            <a:spAutoFit/>
          </a:bodyPr>
          <a:lstStyle/>
          <a:p>
            <a:pPr algn="r"/>
            <a:r>
              <a:rPr sz="750" b="0">
                <a:solidFill>
                  <a:srgbClr val="77716A"/>
                </a:solidFill>
                <a:latin typeface="Arial"/>
              </a:rPr>
              <a:t>Verantwortlich: Person 2</a:t>
            </a:r>
          </a:p>
        </p:txBody>
      </p:sp>
      <p:sp>
        <p:nvSpPr>
          <p:cNvPr id="240" name="TextBox 239"/>
          <p:cNvSpPr txBox="1"/>
          <p:nvPr/>
        </p:nvSpPr>
        <p:spPr>
          <a:xfrm>
            <a:off x="868680" y="2514600"/>
            <a:ext cx="4389120" cy="274320"/>
          </a:xfrm>
          <a:prstGeom prst="rect">
            <a:avLst/>
          </a:prstGeom>
          <a:noFill/>
        </p:spPr>
        <p:txBody>
          <a:bodyPr wrap="square" lIns="73152" rIns="73152" tIns="27432" bIns="27432">
            <a:spAutoFit/>
          </a:bodyPr>
          <a:lstStyle/>
          <a:p>
            <a:r>
              <a:rPr sz="1400" b="1">
                <a:solidFill>
                  <a:srgbClr val="C8752A"/>
                </a:solidFill>
                <a:latin typeface="Arial"/>
              </a:rPr>
              <a:t>In Version 1.0 enthalten</a:t>
            </a:r>
          </a:p>
        </p:txBody>
      </p:sp>
      <p:sp>
        <p:nvSpPr>
          <p:cNvPr id="241" name="Rounded Rectangle 240"/>
          <p:cNvSpPr/>
          <p:nvPr/>
        </p:nvSpPr>
        <p:spPr>
          <a:xfrm>
            <a:off x="868680" y="2907792"/>
            <a:ext cx="4572000" cy="2084831"/>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ounded Rectangle 241"/>
          <p:cNvSpPr/>
          <p:nvPr/>
        </p:nvSpPr>
        <p:spPr>
          <a:xfrm>
            <a:off x="1078992" y="3172968"/>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1371600" y="3108960"/>
            <a:ext cx="3776472" cy="256032"/>
          </a:xfrm>
          <a:prstGeom prst="rect">
            <a:avLst/>
          </a:prstGeom>
          <a:noFill/>
        </p:spPr>
        <p:txBody>
          <a:bodyPr wrap="square" lIns="73152" rIns="73152" tIns="27432" bIns="27432">
            <a:spAutoFit/>
          </a:bodyPr>
          <a:lstStyle/>
          <a:p>
            <a:r>
              <a:rPr sz="1080" b="0">
                <a:solidFill>
                  <a:srgbClr val="2E3440"/>
                </a:solidFill>
                <a:latin typeface="Arial"/>
              </a:rPr>
              <a:t>Registrierung und Login</a:t>
            </a:r>
          </a:p>
        </p:txBody>
      </p:sp>
      <p:sp>
        <p:nvSpPr>
          <p:cNvPr id="244" name="Rounded Rectangle 243"/>
          <p:cNvSpPr/>
          <p:nvPr/>
        </p:nvSpPr>
        <p:spPr>
          <a:xfrm>
            <a:off x="1078992" y="3456432"/>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1371600" y="3392424"/>
            <a:ext cx="3776472" cy="256032"/>
          </a:xfrm>
          <a:prstGeom prst="rect">
            <a:avLst/>
          </a:prstGeom>
          <a:noFill/>
        </p:spPr>
        <p:txBody>
          <a:bodyPr wrap="square" lIns="73152" rIns="73152" tIns="27432" bIns="27432">
            <a:spAutoFit/>
          </a:bodyPr>
          <a:lstStyle/>
          <a:p>
            <a:r>
              <a:rPr sz="1080" b="0">
                <a:solidFill>
                  <a:srgbClr val="2E3440"/>
                </a:solidFill>
                <a:latin typeface="Arial"/>
              </a:rPr>
              <a:t>Produktanzeige und Produktdetails</a:t>
            </a:r>
          </a:p>
        </p:txBody>
      </p:sp>
      <p:sp>
        <p:nvSpPr>
          <p:cNvPr id="246" name="Rounded Rectangle 245"/>
          <p:cNvSpPr/>
          <p:nvPr/>
        </p:nvSpPr>
        <p:spPr>
          <a:xfrm>
            <a:off x="1078992" y="3739896"/>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371600" y="3675888"/>
            <a:ext cx="3776472" cy="256032"/>
          </a:xfrm>
          <a:prstGeom prst="rect">
            <a:avLst/>
          </a:prstGeom>
          <a:noFill/>
        </p:spPr>
        <p:txBody>
          <a:bodyPr wrap="square" lIns="73152" rIns="73152" tIns="27432" bIns="27432">
            <a:spAutoFit/>
          </a:bodyPr>
          <a:lstStyle/>
          <a:p>
            <a:r>
              <a:rPr sz="1080" b="0">
                <a:solidFill>
                  <a:srgbClr val="2E3440"/>
                </a:solidFill>
                <a:latin typeface="Arial"/>
              </a:rPr>
              <a:t>Warenkorb und Bestellung</a:t>
            </a:r>
          </a:p>
        </p:txBody>
      </p:sp>
      <p:sp>
        <p:nvSpPr>
          <p:cNvPr id="248" name="Rounded Rectangle 247"/>
          <p:cNvSpPr/>
          <p:nvPr/>
        </p:nvSpPr>
        <p:spPr>
          <a:xfrm>
            <a:off x="1078992" y="4023359"/>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1371600" y="3959352"/>
            <a:ext cx="3776472" cy="256032"/>
          </a:xfrm>
          <a:prstGeom prst="rect">
            <a:avLst/>
          </a:prstGeom>
          <a:noFill/>
        </p:spPr>
        <p:txBody>
          <a:bodyPr wrap="square" lIns="73152" rIns="73152" tIns="27432" bIns="27432">
            <a:spAutoFit/>
          </a:bodyPr>
          <a:lstStyle/>
          <a:p>
            <a:r>
              <a:rPr sz="1080" b="0">
                <a:solidFill>
                  <a:srgbClr val="2E3440"/>
                </a:solidFill>
                <a:latin typeface="Arial"/>
              </a:rPr>
              <a:t>Bestellhistorie</a:t>
            </a:r>
          </a:p>
        </p:txBody>
      </p:sp>
      <p:sp>
        <p:nvSpPr>
          <p:cNvPr id="250" name="Rounded Rectangle 249"/>
          <p:cNvSpPr/>
          <p:nvPr/>
        </p:nvSpPr>
        <p:spPr>
          <a:xfrm>
            <a:off x="1078992" y="4306824"/>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1371600" y="4242816"/>
            <a:ext cx="3776472" cy="256032"/>
          </a:xfrm>
          <a:prstGeom prst="rect">
            <a:avLst/>
          </a:prstGeom>
          <a:noFill/>
        </p:spPr>
        <p:txBody>
          <a:bodyPr wrap="square" lIns="73152" rIns="73152" tIns="27432" bIns="27432">
            <a:spAutoFit/>
          </a:bodyPr>
          <a:lstStyle/>
          <a:p>
            <a:r>
              <a:rPr sz="1080" b="0">
                <a:solidFill>
                  <a:srgbClr val="2E3440"/>
                </a:solidFill>
                <a:latin typeface="Arial"/>
              </a:rPr>
              <a:t>Rücksendung anfragen</a:t>
            </a:r>
          </a:p>
        </p:txBody>
      </p:sp>
      <p:sp>
        <p:nvSpPr>
          <p:cNvPr id="252" name="Rounded Rectangle 251"/>
          <p:cNvSpPr/>
          <p:nvPr/>
        </p:nvSpPr>
        <p:spPr>
          <a:xfrm>
            <a:off x="1078992" y="4590288"/>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1371600" y="4526280"/>
            <a:ext cx="3776472" cy="256032"/>
          </a:xfrm>
          <a:prstGeom prst="rect">
            <a:avLst/>
          </a:prstGeom>
          <a:noFill/>
        </p:spPr>
        <p:txBody>
          <a:bodyPr wrap="square" lIns="73152" rIns="73152" tIns="27432" bIns="27432">
            <a:spAutoFit/>
          </a:bodyPr>
          <a:lstStyle/>
          <a:p>
            <a:r>
              <a:rPr sz="1080" b="0">
                <a:solidFill>
                  <a:srgbClr val="2E3440"/>
                </a:solidFill>
                <a:latin typeface="Arial"/>
              </a:rPr>
              <a:t>einfache Mitarbeiter- und Adminfunktionen</a:t>
            </a:r>
          </a:p>
        </p:txBody>
      </p:sp>
      <p:sp>
        <p:nvSpPr>
          <p:cNvPr id="254" name="TextBox 253"/>
          <p:cNvSpPr txBox="1"/>
          <p:nvPr/>
        </p:nvSpPr>
        <p:spPr>
          <a:xfrm>
            <a:off x="6400800" y="2514600"/>
            <a:ext cx="4389120" cy="274320"/>
          </a:xfrm>
          <a:prstGeom prst="rect">
            <a:avLst/>
          </a:prstGeom>
          <a:noFill/>
        </p:spPr>
        <p:txBody>
          <a:bodyPr wrap="square" lIns="73152" rIns="73152" tIns="27432" bIns="27432">
            <a:spAutoFit/>
          </a:bodyPr>
          <a:lstStyle/>
          <a:p>
            <a:r>
              <a:rPr sz="1400" b="1">
                <a:solidFill>
                  <a:srgbClr val="C8752A"/>
                </a:solidFill>
                <a:latin typeface="Arial"/>
              </a:rPr>
              <a:t>Nicht Teil von V1.0</a:t>
            </a:r>
          </a:p>
        </p:txBody>
      </p:sp>
      <p:sp>
        <p:nvSpPr>
          <p:cNvPr id="255" name="Rounded Rectangle 254"/>
          <p:cNvSpPr/>
          <p:nvPr/>
        </p:nvSpPr>
        <p:spPr>
          <a:xfrm>
            <a:off x="6400800" y="2907792"/>
            <a:ext cx="4572000" cy="2084831"/>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ounded Rectangle 255"/>
          <p:cNvSpPr/>
          <p:nvPr/>
        </p:nvSpPr>
        <p:spPr>
          <a:xfrm>
            <a:off x="6611112" y="3172968"/>
            <a:ext cx="146304" cy="146304"/>
          </a:xfrm>
          <a:prstGeom prst="roundRect">
            <a:avLst/>
          </a:prstGeom>
          <a:solidFill>
            <a:srgbClr val="77716A"/>
          </a:solidFill>
          <a:ln w="12700">
            <a:solidFill>
              <a:srgbClr val="777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6903720" y="3108960"/>
            <a:ext cx="3776472" cy="256032"/>
          </a:xfrm>
          <a:prstGeom prst="rect">
            <a:avLst/>
          </a:prstGeom>
          <a:noFill/>
        </p:spPr>
        <p:txBody>
          <a:bodyPr wrap="square" lIns="73152" rIns="73152" tIns="27432" bIns="27432">
            <a:spAutoFit/>
          </a:bodyPr>
          <a:lstStyle/>
          <a:p>
            <a:r>
              <a:rPr sz="1080" b="0">
                <a:solidFill>
                  <a:srgbClr val="2E3440"/>
                </a:solidFill>
                <a:latin typeface="Arial"/>
              </a:rPr>
              <a:t>echte Zahlungsanbieter</a:t>
            </a:r>
          </a:p>
        </p:txBody>
      </p:sp>
      <p:sp>
        <p:nvSpPr>
          <p:cNvPr id="258" name="Rounded Rectangle 257"/>
          <p:cNvSpPr/>
          <p:nvPr/>
        </p:nvSpPr>
        <p:spPr>
          <a:xfrm>
            <a:off x="6611112" y="3456432"/>
            <a:ext cx="146304" cy="146304"/>
          </a:xfrm>
          <a:prstGeom prst="roundRect">
            <a:avLst/>
          </a:prstGeom>
          <a:solidFill>
            <a:srgbClr val="77716A"/>
          </a:solidFill>
          <a:ln w="12700">
            <a:solidFill>
              <a:srgbClr val="777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6903720" y="3392424"/>
            <a:ext cx="3776472" cy="256032"/>
          </a:xfrm>
          <a:prstGeom prst="rect">
            <a:avLst/>
          </a:prstGeom>
          <a:noFill/>
        </p:spPr>
        <p:txBody>
          <a:bodyPr wrap="square" lIns="73152" rIns="73152" tIns="27432" bIns="27432">
            <a:spAutoFit/>
          </a:bodyPr>
          <a:lstStyle/>
          <a:p>
            <a:r>
              <a:rPr sz="1080" b="0">
                <a:solidFill>
                  <a:srgbClr val="2E3440"/>
                </a:solidFill>
                <a:latin typeface="Arial"/>
              </a:rPr>
              <a:t>Versandlabel-Erzeugung</a:t>
            </a:r>
          </a:p>
        </p:txBody>
      </p:sp>
      <p:sp>
        <p:nvSpPr>
          <p:cNvPr id="260" name="Rounded Rectangle 259"/>
          <p:cNvSpPr/>
          <p:nvPr/>
        </p:nvSpPr>
        <p:spPr>
          <a:xfrm>
            <a:off x="6611112" y="3739896"/>
            <a:ext cx="146304" cy="146304"/>
          </a:xfrm>
          <a:prstGeom prst="roundRect">
            <a:avLst/>
          </a:prstGeom>
          <a:solidFill>
            <a:srgbClr val="77716A"/>
          </a:solidFill>
          <a:ln w="12700">
            <a:solidFill>
              <a:srgbClr val="777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6903720" y="3675888"/>
            <a:ext cx="3776472" cy="256032"/>
          </a:xfrm>
          <a:prstGeom prst="rect">
            <a:avLst/>
          </a:prstGeom>
          <a:noFill/>
        </p:spPr>
        <p:txBody>
          <a:bodyPr wrap="square" lIns="73152" rIns="73152" tIns="27432" bIns="27432">
            <a:spAutoFit/>
          </a:bodyPr>
          <a:lstStyle/>
          <a:p>
            <a:r>
              <a:rPr sz="1080" b="0">
                <a:solidFill>
                  <a:srgbClr val="2E3440"/>
                </a:solidFill>
                <a:latin typeface="Arial"/>
              </a:rPr>
              <a:t>ERP- oder CRM-Anbindung</a:t>
            </a:r>
          </a:p>
        </p:txBody>
      </p:sp>
      <p:sp>
        <p:nvSpPr>
          <p:cNvPr id="262" name="Rounded Rectangle 261"/>
          <p:cNvSpPr/>
          <p:nvPr/>
        </p:nvSpPr>
        <p:spPr>
          <a:xfrm>
            <a:off x="6611112" y="4023359"/>
            <a:ext cx="146304" cy="146304"/>
          </a:xfrm>
          <a:prstGeom prst="roundRect">
            <a:avLst/>
          </a:prstGeom>
          <a:solidFill>
            <a:srgbClr val="77716A"/>
          </a:solidFill>
          <a:ln w="12700">
            <a:solidFill>
              <a:srgbClr val="777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6903720" y="3959352"/>
            <a:ext cx="3776472" cy="256032"/>
          </a:xfrm>
          <a:prstGeom prst="rect">
            <a:avLst/>
          </a:prstGeom>
          <a:noFill/>
        </p:spPr>
        <p:txBody>
          <a:bodyPr wrap="square" lIns="73152" rIns="73152" tIns="27432" bIns="27432">
            <a:spAutoFit/>
          </a:bodyPr>
          <a:lstStyle/>
          <a:p>
            <a:r>
              <a:rPr sz="1080" b="0">
                <a:solidFill>
                  <a:srgbClr val="2E3440"/>
                </a:solidFill>
                <a:latin typeface="Arial"/>
              </a:rPr>
              <a:t>produktiver Cloud-Betrieb</a:t>
            </a:r>
          </a:p>
        </p:txBody>
      </p:sp>
      <p:sp>
        <p:nvSpPr>
          <p:cNvPr id="264" name="Rounded Rectangle 263"/>
          <p:cNvSpPr/>
          <p:nvPr/>
        </p:nvSpPr>
        <p:spPr>
          <a:xfrm>
            <a:off x="6611112" y="4306824"/>
            <a:ext cx="146304" cy="146304"/>
          </a:xfrm>
          <a:prstGeom prst="roundRect">
            <a:avLst/>
          </a:prstGeom>
          <a:solidFill>
            <a:srgbClr val="77716A"/>
          </a:solidFill>
          <a:ln w="12700">
            <a:solidFill>
              <a:srgbClr val="777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6903720" y="4242816"/>
            <a:ext cx="3776472" cy="256032"/>
          </a:xfrm>
          <a:prstGeom prst="rect">
            <a:avLst/>
          </a:prstGeom>
          <a:noFill/>
        </p:spPr>
        <p:txBody>
          <a:bodyPr wrap="square" lIns="73152" rIns="73152" tIns="27432" bIns="27432">
            <a:spAutoFit/>
          </a:bodyPr>
          <a:lstStyle/>
          <a:p>
            <a:r>
              <a:rPr sz="1080" b="0">
                <a:solidFill>
                  <a:srgbClr val="2E3440"/>
                </a:solidFill>
                <a:latin typeface="Arial"/>
              </a:rPr>
              <a:t>vollständige Lagerverwaltung</a:t>
            </a:r>
          </a:p>
        </p:txBody>
      </p:sp>
      <p:sp>
        <p:nvSpPr>
          <p:cNvPr id="266" name="Rounded Rectangle 265"/>
          <p:cNvSpPr/>
          <p:nvPr/>
        </p:nvSpPr>
        <p:spPr>
          <a:xfrm>
            <a:off x="6611112" y="4590288"/>
            <a:ext cx="146304" cy="146304"/>
          </a:xfrm>
          <a:prstGeom prst="roundRect">
            <a:avLst/>
          </a:prstGeom>
          <a:solidFill>
            <a:srgbClr val="77716A"/>
          </a:solidFill>
          <a:ln w="12700">
            <a:solidFill>
              <a:srgbClr val="777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6903720" y="4526280"/>
            <a:ext cx="3776472" cy="256032"/>
          </a:xfrm>
          <a:prstGeom prst="rect">
            <a:avLst/>
          </a:prstGeom>
          <a:noFill/>
        </p:spPr>
        <p:txBody>
          <a:bodyPr wrap="square" lIns="73152" rIns="73152" tIns="27432" bIns="27432">
            <a:spAutoFit/>
          </a:bodyPr>
          <a:lstStyle/>
          <a:p>
            <a:r>
              <a:rPr sz="1080" b="0">
                <a:solidFill>
                  <a:srgbClr val="2E3440"/>
                </a:solidFill>
                <a:latin typeface="Arial"/>
              </a:rPr>
              <a:t>umfangreiches Reporting</a:t>
            </a:r>
          </a:p>
        </p:txBody>
      </p:sp>
      <p:sp>
        <p:nvSpPr>
          <p:cNvPr id="268" name="Rounded Rectangle 267"/>
          <p:cNvSpPr/>
          <p:nvPr/>
        </p:nvSpPr>
        <p:spPr>
          <a:xfrm>
            <a:off x="914400" y="5303520"/>
            <a:ext cx="9966960" cy="438912"/>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0">
                <a:solidFill>
                  <a:srgbClr val="2E3440"/>
                </a:solidFill>
                <a:latin typeface="Arial"/>
              </a:rPr>
              <a:t>Der MVP bildet den Kernprozess ab, ohne das Projekt mit zu vielen Funktionen zu überladen.</a:t>
            </a:r>
          </a:p>
        </p:txBody>
      </p:sp>
      <p:sp>
        <p:nvSpPr>
          <p:cNvPr id="269" name="TextBox 268"/>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06</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242" name="Shape 242"/>
        <p:cNvGrpSpPr/>
        <p:nvPr/>
      </p:nvGrpSpPr>
      <p:grpSpPr>
        <a:xfrm>
          <a:off x="0" y="0"/>
          <a:ext cx="0" cy="0"/>
          <a:chOff x="0" y="0"/>
          <a:chExt cx="0" cy="0"/>
        </a:xfrm>
      </p:grpSpPr>
      <p:sp>
        <p:nvSpPr>
          <p:cNvPr id="243" name="Google Shape;243;p21"/>
          <p:cNvSpPr/>
          <p:nvPr/>
        </p:nvSpPr>
        <p:spPr>
          <a:xfrm>
            <a:off x="0" y="0"/>
            <a:ext cx="12191695" cy="384048"/>
          </a:xfrm>
          <a:prstGeom prst="rect">
            <a:avLst/>
          </a:prstGeom>
          <a:solidFill>
            <a:srgbClr val="0B0907"/>
          </a:solidFill>
          <a:ln cap="flat" cmpd="sng" w="12700">
            <a:solidFill>
              <a:srgbClr val="0B090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1"/>
          <p:cNvSpPr/>
          <p:nvPr/>
        </p:nvSpPr>
        <p:spPr>
          <a:xfrm>
            <a:off x="621792" y="118872"/>
            <a:ext cx="42976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Arial"/>
              <a:buNone/>
            </a:pPr>
            <a:r>
              <a:rPr b="1" lang="en-US" sz="850">
                <a:solidFill>
                  <a:srgbClr val="FFFFFF"/>
                </a:solidFill>
                <a:latin typeface="Arial"/>
                <a:ea typeface="Arial"/>
                <a:cs typeface="Arial"/>
                <a:sym typeface="Arial"/>
              </a:rPr>
              <a:t>MavaziHub · African Fashion Store</a:t>
            </a:r>
            <a:endParaRPr sz="850">
              <a:solidFill>
                <a:schemeClr val="dk1"/>
              </a:solidFill>
              <a:latin typeface="Arial"/>
              <a:ea typeface="Arial"/>
              <a:cs typeface="Arial"/>
              <a:sym typeface="Arial"/>
            </a:endParaRPr>
          </a:p>
        </p:txBody>
      </p:sp>
      <p:sp>
        <p:nvSpPr>
          <p:cNvPr id="245" name="Google Shape;245;p21"/>
          <p:cNvSpPr/>
          <p:nvPr/>
        </p:nvSpPr>
        <p:spPr>
          <a:xfrm>
            <a:off x="621792" y="621792"/>
            <a:ext cx="329184" cy="329184"/>
          </a:xfrm>
          <a:prstGeom prst="ellipse">
            <a:avLst/>
          </a:prstGeom>
          <a:solidFill>
            <a:srgbClr val="5B2619"/>
          </a:solidFill>
          <a:ln cap="flat" cmpd="sng" w="12700">
            <a:solidFill>
              <a:srgbClr val="5B26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1"/>
          <p:cNvSpPr/>
          <p:nvPr/>
        </p:nvSpPr>
        <p:spPr>
          <a:xfrm>
            <a:off x="667512" y="717804"/>
            <a:ext cx="237744" cy="91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50"/>
              <a:buFont typeface="Arial"/>
              <a:buNone/>
            </a:pPr>
            <a:r>
              <a:rPr b="1" lang="en-US" sz="650">
                <a:solidFill>
                  <a:srgbClr val="FFFFFF"/>
                </a:solidFill>
                <a:latin typeface="Arial"/>
                <a:ea typeface="Arial"/>
                <a:cs typeface="Arial"/>
                <a:sym typeface="Arial"/>
              </a:rPr>
              <a:t>MH</a:t>
            </a:r>
            <a:endParaRPr sz="650">
              <a:solidFill>
                <a:schemeClr val="dk1"/>
              </a:solidFill>
              <a:latin typeface="Arial"/>
              <a:ea typeface="Arial"/>
              <a:cs typeface="Arial"/>
              <a:sym typeface="Arial"/>
            </a:endParaRPr>
          </a:p>
        </p:txBody>
      </p:sp>
      <p:sp>
        <p:nvSpPr>
          <p:cNvPr id="247" name="Google Shape;247;p21"/>
          <p:cNvSpPr/>
          <p:nvPr/>
        </p:nvSpPr>
        <p:spPr>
          <a:xfrm>
            <a:off x="1024128" y="585216"/>
            <a:ext cx="1920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440"/>
              </a:buClr>
              <a:buSzPts val="1600"/>
              <a:buFont typeface="Arial"/>
              <a:buNone/>
            </a:pPr>
            <a:r>
              <a:rPr b="1" lang="en-US" sz="1600">
                <a:solidFill>
                  <a:srgbClr val="2E3440"/>
                </a:solidFill>
                <a:latin typeface="Arial"/>
                <a:ea typeface="Arial"/>
                <a:cs typeface="Arial"/>
                <a:sym typeface="Arial"/>
              </a:rPr>
              <a:t>MavaziHub</a:t>
            </a:r>
            <a:endParaRPr sz="1600">
              <a:solidFill>
                <a:schemeClr val="dk1"/>
              </a:solidFill>
              <a:latin typeface="Arial"/>
              <a:ea typeface="Arial"/>
              <a:cs typeface="Arial"/>
              <a:sym typeface="Arial"/>
            </a:endParaRPr>
          </a:p>
        </p:txBody>
      </p:sp>
      <p:sp>
        <p:nvSpPr>
          <p:cNvPr id="248" name="Google Shape;248;p21"/>
          <p:cNvSpPr/>
          <p:nvPr/>
        </p:nvSpPr>
        <p:spPr>
          <a:xfrm>
            <a:off x="1024128" y="877824"/>
            <a:ext cx="2011680"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752A"/>
              </a:buClr>
              <a:buSzPts val="650"/>
              <a:buFont typeface="Arial"/>
              <a:buNone/>
            </a:pPr>
            <a:r>
              <a:rPr b="1" lang="en-US" sz="650">
                <a:solidFill>
                  <a:srgbClr val="C8752A"/>
                </a:solidFill>
                <a:latin typeface="Arial"/>
                <a:ea typeface="Arial"/>
                <a:cs typeface="Arial"/>
                <a:sym typeface="Arial"/>
              </a:rPr>
              <a:t>African Fashion Store</a:t>
            </a:r>
            <a:endParaRPr sz="650">
              <a:solidFill>
                <a:schemeClr val="dk1"/>
              </a:solidFill>
              <a:latin typeface="Arial"/>
              <a:ea typeface="Arial"/>
              <a:cs typeface="Arial"/>
              <a:sym typeface="Arial"/>
            </a:endParaRPr>
          </a:p>
        </p:txBody>
      </p:sp>
      <p:sp>
        <p:nvSpPr>
          <p:cNvPr id="250" name="Google Shape;250;p21"/>
          <p:cNvSpPr/>
          <p:nvPr/>
        </p:nvSpPr>
        <p:spPr>
          <a:xfrm>
            <a:off x="713232" y="1243584"/>
            <a:ext cx="6675120" cy="493776"/>
          </a:xfrm>
          <a:prstGeom prst="rect">
            <a:avLst/>
          </a:prstGeom>
          <a:noFill/>
          <a:ln>
            <a:noFill/>
          </a:ln>
        </p:spPr>
        <p:txBody>
          <a:bodyPr anchorCtr="0" anchor="ctr" bIns="27432" lIns="73152" spcFirstLastPara="1" rIns="73152" wrap="square" tIns="27432">
            <a:noAutofit/>
          </a:bodyPr>
          <a:lstStyle/>
          <a:p>
            <a:r>
              <a:rPr sz="2700" b="1">
                <a:solidFill>
                  <a:srgbClr val="2E3440"/>
                </a:solidFill>
                <a:latin typeface="Arial"/>
              </a:rPr>
              <a:t>Wichtige Use Cases</a:t>
            </a:r>
          </a:p>
        </p:txBody>
      </p:sp>
      <p:sp>
        <p:nvSpPr>
          <p:cNvPr id="251" name="Google Shape;251;p21"/>
          <p:cNvSpPr/>
          <p:nvPr/>
        </p:nvSpPr>
        <p:spPr>
          <a:xfrm>
            <a:off x="713232" y="1847088"/>
            <a:ext cx="6675120" cy="329184"/>
          </a:xfrm>
          <a:prstGeom prst="rect">
            <a:avLst/>
          </a:prstGeom>
          <a:noFill/>
          <a:ln>
            <a:noFill/>
          </a:ln>
        </p:spPr>
        <p:txBody>
          <a:bodyPr anchorCtr="0" anchor="ctr" bIns="27432" lIns="73152" spcFirstLastPara="1" rIns="73152" wrap="square" tIns="27432">
            <a:noAutofit/>
          </a:bodyPr>
          <a:lstStyle/>
          <a:p>
            <a:r>
              <a:rPr sz="1150" b="0">
                <a:solidFill>
                  <a:srgbClr val="77716A"/>
                </a:solidFill>
                <a:latin typeface="Arial"/>
              </a:rPr>
              <a:t>Vom Kundenprozess bis zur internen Bearbeitung</a:t>
            </a:r>
          </a:p>
        </p:txBody>
      </p:sp>
      <p:sp>
        <p:nvSpPr>
          <p:cNvPr id="253" name="Google Shape;253;p21"/>
          <p:cNvSpPr/>
          <p:nvPr/>
        </p:nvSpPr>
        <p:spPr>
          <a:xfrm>
            <a:off x="8823960" y="694944"/>
            <a:ext cx="2651760" cy="310896"/>
          </a:xfrm>
          <a:prstGeom prst="roundRect">
            <a:avLst>
              <a:gd fmla="val 11765" name="adj"/>
            </a:avLst>
          </a:prstGeom>
          <a:solidFill>
            <a:srgbClr val="FFFDF8"/>
          </a:solidFill>
          <a:ln cap="flat" cmpd="sng" w="9525">
            <a:solidFill>
              <a:srgbClr val="E7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1"/>
          <p:cNvSpPr/>
          <p:nvPr/>
        </p:nvSpPr>
        <p:spPr>
          <a:xfrm>
            <a:off x="8961120" y="786384"/>
            <a:ext cx="2377440" cy="91440"/>
          </a:xfrm>
          <a:prstGeom prst="rect">
            <a:avLst/>
          </a:prstGeom>
          <a:noFill/>
          <a:ln>
            <a:noFill/>
          </a:ln>
        </p:spPr>
        <p:txBody>
          <a:bodyPr anchorCtr="0" anchor="ctr" bIns="27432" lIns="73152" spcFirstLastPara="1" rIns="73152" wrap="square" tIns="27432">
            <a:noAutofit/>
          </a:bodyPr>
          <a:lstStyle/>
          <a:p>
            <a:pPr algn="r"/>
            <a:r>
              <a:rPr sz="750" b="0">
                <a:solidFill>
                  <a:srgbClr val="77716A"/>
                </a:solidFill>
                <a:latin typeface="Arial"/>
              </a:rPr>
              <a:t>Verantwortlich: Person 3</a:t>
            </a:r>
          </a:p>
        </p:txBody>
      </p:sp>
      <p:sp>
        <p:nvSpPr>
          <p:cNvPr id="256" name="TextBox 255"/>
          <p:cNvSpPr txBox="1"/>
          <p:nvPr/>
        </p:nvSpPr>
        <p:spPr>
          <a:xfrm>
            <a:off x="868680" y="2487168"/>
            <a:ext cx="4389120" cy="274320"/>
          </a:xfrm>
          <a:prstGeom prst="rect">
            <a:avLst/>
          </a:prstGeom>
          <a:noFill/>
        </p:spPr>
        <p:txBody>
          <a:bodyPr wrap="square" lIns="73152" rIns="73152" tIns="27432" bIns="27432">
            <a:spAutoFit/>
          </a:bodyPr>
          <a:lstStyle/>
          <a:p>
            <a:r>
              <a:rPr sz="1400" b="1">
                <a:solidFill>
                  <a:srgbClr val="C8752A"/>
                </a:solidFill>
                <a:latin typeface="Arial"/>
              </a:rPr>
              <a:t>Kernprozess aus Kundensicht</a:t>
            </a:r>
          </a:p>
        </p:txBody>
      </p:sp>
      <p:sp>
        <p:nvSpPr>
          <p:cNvPr id="257" name="Rounded Rectangle 256"/>
          <p:cNvSpPr/>
          <p:nvPr/>
        </p:nvSpPr>
        <p:spPr>
          <a:xfrm>
            <a:off x="868680" y="2953512"/>
            <a:ext cx="502920" cy="502920"/>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latin typeface="Arial"/>
              </a:rPr>
              <a:t>1</a:t>
            </a:r>
          </a:p>
        </p:txBody>
      </p:sp>
      <p:sp>
        <p:nvSpPr>
          <p:cNvPr id="258" name="TextBox 257"/>
          <p:cNvSpPr txBox="1"/>
          <p:nvPr/>
        </p:nvSpPr>
        <p:spPr>
          <a:xfrm>
            <a:off x="667512" y="3575304"/>
            <a:ext cx="932688" cy="475488"/>
          </a:xfrm>
          <a:prstGeom prst="rect">
            <a:avLst/>
          </a:prstGeom>
          <a:noFill/>
        </p:spPr>
        <p:txBody>
          <a:bodyPr wrap="square" lIns="73152" rIns="73152" tIns="27432" bIns="27432">
            <a:spAutoFit/>
          </a:bodyPr>
          <a:lstStyle/>
          <a:p>
            <a:pPr algn="ctr"/>
            <a:r>
              <a:rPr sz="919" b="0">
                <a:solidFill>
                  <a:srgbClr val="2E3440"/>
                </a:solidFill>
                <a:latin typeface="Arial"/>
              </a:rPr>
              <a:t>Produkt ansehen</a:t>
            </a:r>
          </a:p>
        </p:txBody>
      </p:sp>
      <p:cxnSp>
        <p:nvCxnSpPr>
          <p:cNvPr id="259" name="Connector 258"/>
          <p:cNvCxnSpPr/>
          <p:nvPr/>
        </p:nvCxnSpPr>
        <p:spPr>
          <a:xfrm>
            <a:off x="1371600" y="3209544"/>
            <a:ext cx="484632" cy="0"/>
          </a:xfrm>
          <a:prstGeom prst="line">
            <a:avLst/>
          </a:prstGeom>
          <a:ln w="2286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260" name="Rounded Rectangle 259"/>
          <p:cNvSpPr/>
          <p:nvPr/>
        </p:nvSpPr>
        <p:spPr>
          <a:xfrm>
            <a:off x="1856232" y="2953512"/>
            <a:ext cx="502920" cy="502920"/>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latin typeface="Arial"/>
              </a:rPr>
              <a:t>2</a:t>
            </a:r>
          </a:p>
        </p:txBody>
      </p:sp>
      <p:sp>
        <p:nvSpPr>
          <p:cNvPr id="261" name="TextBox 260"/>
          <p:cNvSpPr txBox="1"/>
          <p:nvPr/>
        </p:nvSpPr>
        <p:spPr>
          <a:xfrm>
            <a:off x="1655064" y="3575304"/>
            <a:ext cx="932688" cy="475488"/>
          </a:xfrm>
          <a:prstGeom prst="rect">
            <a:avLst/>
          </a:prstGeom>
          <a:noFill/>
        </p:spPr>
        <p:txBody>
          <a:bodyPr wrap="square" lIns="73152" rIns="73152" tIns="27432" bIns="27432">
            <a:spAutoFit/>
          </a:bodyPr>
          <a:lstStyle/>
          <a:p>
            <a:pPr algn="ctr"/>
            <a:r>
              <a:rPr sz="919" b="0">
                <a:solidFill>
                  <a:srgbClr val="2E3440"/>
                </a:solidFill>
                <a:latin typeface="Arial"/>
              </a:rPr>
              <a:t>In den Warenkorb legen</a:t>
            </a:r>
          </a:p>
        </p:txBody>
      </p:sp>
      <p:cxnSp>
        <p:nvCxnSpPr>
          <p:cNvPr id="262" name="Connector 261"/>
          <p:cNvCxnSpPr/>
          <p:nvPr/>
        </p:nvCxnSpPr>
        <p:spPr>
          <a:xfrm>
            <a:off x="2359152" y="3209544"/>
            <a:ext cx="484632" cy="0"/>
          </a:xfrm>
          <a:prstGeom prst="line">
            <a:avLst/>
          </a:prstGeom>
          <a:ln w="2286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263" name="Rounded Rectangle 262"/>
          <p:cNvSpPr/>
          <p:nvPr/>
        </p:nvSpPr>
        <p:spPr>
          <a:xfrm>
            <a:off x="2843784" y="2953512"/>
            <a:ext cx="502920" cy="502920"/>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latin typeface="Arial"/>
              </a:rPr>
              <a:t>3</a:t>
            </a:r>
          </a:p>
        </p:txBody>
      </p:sp>
      <p:sp>
        <p:nvSpPr>
          <p:cNvPr id="264" name="TextBox 263"/>
          <p:cNvSpPr txBox="1"/>
          <p:nvPr/>
        </p:nvSpPr>
        <p:spPr>
          <a:xfrm>
            <a:off x="2642616" y="3575304"/>
            <a:ext cx="932688" cy="475488"/>
          </a:xfrm>
          <a:prstGeom prst="rect">
            <a:avLst/>
          </a:prstGeom>
          <a:noFill/>
        </p:spPr>
        <p:txBody>
          <a:bodyPr wrap="square" lIns="73152" rIns="73152" tIns="27432" bIns="27432">
            <a:spAutoFit/>
          </a:bodyPr>
          <a:lstStyle/>
          <a:p>
            <a:pPr algn="ctr"/>
            <a:r>
              <a:rPr sz="919" b="0">
                <a:solidFill>
                  <a:srgbClr val="2E3440"/>
                </a:solidFill>
                <a:latin typeface="Arial"/>
              </a:rPr>
              <a:t>Bestellung abschließen</a:t>
            </a:r>
          </a:p>
        </p:txBody>
      </p:sp>
      <p:cxnSp>
        <p:nvCxnSpPr>
          <p:cNvPr id="265" name="Connector 264"/>
          <p:cNvCxnSpPr/>
          <p:nvPr/>
        </p:nvCxnSpPr>
        <p:spPr>
          <a:xfrm>
            <a:off x="3346704" y="3209544"/>
            <a:ext cx="484632" cy="0"/>
          </a:xfrm>
          <a:prstGeom prst="line">
            <a:avLst/>
          </a:prstGeom>
          <a:ln w="2286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266" name="Rounded Rectangle 265"/>
          <p:cNvSpPr/>
          <p:nvPr/>
        </p:nvSpPr>
        <p:spPr>
          <a:xfrm>
            <a:off x="3831336" y="2953512"/>
            <a:ext cx="502920" cy="502920"/>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latin typeface="Arial"/>
              </a:rPr>
              <a:t>4</a:t>
            </a:r>
          </a:p>
        </p:txBody>
      </p:sp>
      <p:sp>
        <p:nvSpPr>
          <p:cNvPr id="267" name="TextBox 266"/>
          <p:cNvSpPr txBox="1"/>
          <p:nvPr/>
        </p:nvSpPr>
        <p:spPr>
          <a:xfrm>
            <a:off x="3630168" y="3575304"/>
            <a:ext cx="932688" cy="475488"/>
          </a:xfrm>
          <a:prstGeom prst="rect">
            <a:avLst/>
          </a:prstGeom>
          <a:noFill/>
        </p:spPr>
        <p:txBody>
          <a:bodyPr wrap="square" lIns="73152" rIns="73152" tIns="27432" bIns="27432">
            <a:spAutoFit/>
          </a:bodyPr>
          <a:lstStyle/>
          <a:p>
            <a:pPr algn="ctr"/>
            <a:r>
              <a:rPr sz="919" b="0">
                <a:solidFill>
                  <a:srgbClr val="2E3440"/>
                </a:solidFill>
                <a:latin typeface="Arial"/>
              </a:rPr>
              <a:t>Bestellhistorie öffnen</a:t>
            </a:r>
          </a:p>
        </p:txBody>
      </p:sp>
      <p:cxnSp>
        <p:nvCxnSpPr>
          <p:cNvPr id="268" name="Connector 267"/>
          <p:cNvCxnSpPr/>
          <p:nvPr/>
        </p:nvCxnSpPr>
        <p:spPr>
          <a:xfrm>
            <a:off x="4334256" y="3209544"/>
            <a:ext cx="484632" cy="0"/>
          </a:xfrm>
          <a:prstGeom prst="line">
            <a:avLst/>
          </a:prstGeom>
          <a:ln w="2286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269" name="Rounded Rectangle 268"/>
          <p:cNvSpPr/>
          <p:nvPr/>
        </p:nvSpPr>
        <p:spPr>
          <a:xfrm>
            <a:off x="4818888" y="2953512"/>
            <a:ext cx="502920" cy="502920"/>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latin typeface="Arial"/>
              </a:rPr>
              <a:t>5</a:t>
            </a:r>
          </a:p>
        </p:txBody>
      </p:sp>
      <p:sp>
        <p:nvSpPr>
          <p:cNvPr id="270" name="TextBox 269"/>
          <p:cNvSpPr txBox="1"/>
          <p:nvPr/>
        </p:nvSpPr>
        <p:spPr>
          <a:xfrm>
            <a:off x="4617720" y="3575304"/>
            <a:ext cx="932688" cy="475488"/>
          </a:xfrm>
          <a:prstGeom prst="rect">
            <a:avLst/>
          </a:prstGeom>
          <a:noFill/>
        </p:spPr>
        <p:txBody>
          <a:bodyPr wrap="square" lIns="73152" rIns="73152" tIns="27432" bIns="27432">
            <a:spAutoFit/>
          </a:bodyPr>
          <a:lstStyle/>
          <a:p>
            <a:pPr algn="ctr"/>
            <a:r>
              <a:rPr sz="919" b="0">
                <a:solidFill>
                  <a:srgbClr val="2E3440"/>
                </a:solidFill>
                <a:latin typeface="Arial"/>
              </a:rPr>
              <a:t>Rücksendung anfragen</a:t>
            </a:r>
          </a:p>
        </p:txBody>
      </p:sp>
      <p:sp>
        <p:nvSpPr>
          <p:cNvPr id="271" name="TextBox 270"/>
          <p:cNvSpPr txBox="1"/>
          <p:nvPr/>
        </p:nvSpPr>
        <p:spPr>
          <a:xfrm>
            <a:off x="6400800" y="2487168"/>
            <a:ext cx="4389120" cy="274320"/>
          </a:xfrm>
          <a:prstGeom prst="rect">
            <a:avLst/>
          </a:prstGeom>
          <a:noFill/>
        </p:spPr>
        <p:txBody>
          <a:bodyPr wrap="square" lIns="73152" rIns="73152" tIns="27432" bIns="27432">
            <a:spAutoFit/>
          </a:bodyPr>
          <a:lstStyle/>
          <a:p>
            <a:r>
              <a:rPr sz="1400" b="1">
                <a:solidFill>
                  <a:srgbClr val="C8752A"/>
                </a:solidFill>
                <a:latin typeface="Arial"/>
              </a:rPr>
              <a:t>Rollen im System</a:t>
            </a:r>
          </a:p>
        </p:txBody>
      </p:sp>
      <p:sp>
        <p:nvSpPr>
          <p:cNvPr id="272" name="Rounded Rectangle 271"/>
          <p:cNvSpPr/>
          <p:nvPr/>
        </p:nvSpPr>
        <p:spPr>
          <a:xfrm>
            <a:off x="6400800" y="2880360"/>
            <a:ext cx="1325880" cy="438912"/>
          </a:xfrm>
          <a:prstGeom prst="roundRect">
            <a:avLst/>
          </a:prstGeom>
          <a:solidFill>
            <a:srgbClr val="E0EEE5"/>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2E3440"/>
                </a:solidFill>
                <a:latin typeface="Arial"/>
              </a:rPr>
              <a:t>Kunde</a:t>
            </a:r>
          </a:p>
        </p:txBody>
      </p:sp>
      <p:sp>
        <p:nvSpPr>
          <p:cNvPr id="273" name="Rounded Rectangle 272"/>
          <p:cNvSpPr/>
          <p:nvPr/>
        </p:nvSpPr>
        <p:spPr>
          <a:xfrm>
            <a:off x="8001000" y="2880360"/>
            <a:ext cx="2423160" cy="438912"/>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950" b="0">
                <a:solidFill>
                  <a:srgbClr val="2E3440"/>
                </a:solidFill>
                <a:latin typeface="Arial"/>
              </a:rPr>
              <a:t>registrieren, bestellen, Rücksendung anfragen</a:t>
            </a:r>
          </a:p>
        </p:txBody>
      </p:sp>
      <p:cxnSp>
        <p:nvCxnSpPr>
          <p:cNvPr id="274" name="Connector 273"/>
          <p:cNvCxnSpPr/>
          <p:nvPr/>
        </p:nvCxnSpPr>
        <p:spPr>
          <a:xfrm>
            <a:off x="7726679" y="3099815"/>
            <a:ext cx="274321" cy="0"/>
          </a:xfrm>
          <a:prstGeom prst="line">
            <a:avLst/>
          </a:prstGeom>
          <a:ln w="13970">
            <a:solidFill>
              <a:srgbClr val="DCD4CA"/>
            </a:solidFill>
            <a:headEnd type="triangle"/>
          </a:ln>
        </p:spPr>
        <p:style>
          <a:lnRef idx="2">
            <a:schemeClr val="accent1"/>
          </a:lnRef>
          <a:fillRef idx="0">
            <a:schemeClr val="accent1"/>
          </a:fillRef>
          <a:effectRef idx="1">
            <a:schemeClr val="accent1"/>
          </a:effectRef>
          <a:fontRef idx="minor">
            <a:schemeClr val="tx1"/>
          </a:fontRef>
        </p:style>
      </p:cxnSp>
      <p:sp>
        <p:nvSpPr>
          <p:cNvPr id="275" name="Rounded Rectangle 274"/>
          <p:cNvSpPr/>
          <p:nvPr/>
        </p:nvSpPr>
        <p:spPr>
          <a:xfrm>
            <a:off x="6400800" y="3749039"/>
            <a:ext cx="1325880" cy="438912"/>
          </a:xfrm>
          <a:prstGeom prst="roundRect">
            <a:avLst/>
          </a:prstGeom>
          <a:solidFill>
            <a:srgbClr val="E5EBF4"/>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2E3440"/>
                </a:solidFill>
                <a:latin typeface="Arial"/>
              </a:rPr>
              <a:t>Mitarbeiter</a:t>
            </a:r>
          </a:p>
        </p:txBody>
      </p:sp>
      <p:sp>
        <p:nvSpPr>
          <p:cNvPr id="276" name="Rounded Rectangle 275"/>
          <p:cNvSpPr/>
          <p:nvPr/>
        </p:nvSpPr>
        <p:spPr>
          <a:xfrm>
            <a:off x="8001000" y="3749039"/>
            <a:ext cx="2423160" cy="438912"/>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950" b="0">
                <a:solidFill>
                  <a:srgbClr val="2E3440"/>
                </a:solidFill>
                <a:latin typeface="Arial"/>
              </a:rPr>
              <a:t>Produkte und Rücksendungen bearbeiten</a:t>
            </a:r>
          </a:p>
        </p:txBody>
      </p:sp>
      <p:cxnSp>
        <p:nvCxnSpPr>
          <p:cNvPr id="277" name="Connector 276"/>
          <p:cNvCxnSpPr/>
          <p:nvPr/>
        </p:nvCxnSpPr>
        <p:spPr>
          <a:xfrm>
            <a:off x="7726679" y="3968496"/>
            <a:ext cx="274321" cy="0"/>
          </a:xfrm>
          <a:prstGeom prst="line">
            <a:avLst/>
          </a:prstGeom>
          <a:ln w="13970">
            <a:solidFill>
              <a:srgbClr val="DCD4CA"/>
            </a:solidFill>
            <a:headEnd type="triangle"/>
          </a:ln>
        </p:spPr>
        <p:style>
          <a:lnRef idx="2">
            <a:schemeClr val="accent1"/>
          </a:lnRef>
          <a:fillRef idx="0">
            <a:schemeClr val="accent1"/>
          </a:fillRef>
          <a:effectRef idx="1">
            <a:schemeClr val="accent1"/>
          </a:effectRef>
          <a:fontRef idx="minor">
            <a:schemeClr val="tx1"/>
          </a:fontRef>
        </p:style>
      </p:cxnSp>
      <p:sp>
        <p:nvSpPr>
          <p:cNvPr id="278" name="Rounded Rectangle 277"/>
          <p:cNvSpPr/>
          <p:nvPr/>
        </p:nvSpPr>
        <p:spPr>
          <a:xfrm>
            <a:off x="6400800" y="4617720"/>
            <a:ext cx="1325880" cy="438912"/>
          </a:xfrm>
          <a:prstGeom prst="roundRect">
            <a:avLst/>
          </a:prstGeom>
          <a:solidFill>
            <a:srgbClr val="F2E2D3"/>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2E3440"/>
                </a:solidFill>
                <a:latin typeface="Arial"/>
              </a:rPr>
              <a:t>Admin</a:t>
            </a:r>
          </a:p>
        </p:txBody>
      </p:sp>
      <p:sp>
        <p:nvSpPr>
          <p:cNvPr id="279" name="Rounded Rectangle 278"/>
          <p:cNvSpPr/>
          <p:nvPr/>
        </p:nvSpPr>
        <p:spPr>
          <a:xfrm>
            <a:off x="8001000" y="4617720"/>
            <a:ext cx="2423160" cy="438912"/>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950" b="0">
                <a:solidFill>
                  <a:srgbClr val="2E3440"/>
                </a:solidFill>
                <a:latin typeface="Arial"/>
              </a:rPr>
              <a:t>Rollen und Zugriffe verwalten</a:t>
            </a:r>
          </a:p>
        </p:txBody>
      </p:sp>
      <p:cxnSp>
        <p:nvCxnSpPr>
          <p:cNvPr id="280" name="Connector 279"/>
          <p:cNvCxnSpPr/>
          <p:nvPr/>
        </p:nvCxnSpPr>
        <p:spPr>
          <a:xfrm>
            <a:off x="7726679" y="4837176"/>
            <a:ext cx="274321" cy="0"/>
          </a:xfrm>
          <a:prstGeom prst="line">
            <a:avLst/>
          </a:prstGeom>
          <a:ln w="13970">
            <a:solidFill>
              <a:srgbClr val="DCD4CA"/>
            </a:solidFill>
            <a:headEnd type="triangle"/>
          </a:ln>
        </p:spPr>
        <p:style>
          <a:lnRef idx="2">
            <a:schemeClr val="accent1"/>
          </a:lnRef>
          <a:fillRef idx="0">
            <a:schemeClr val="accent1"/>
          </a:fillRef>
          <a:effectRef idx="1">
            <a:schemeClr val="accent1"/>
          </a:effectRef>
          <a:fontRef idx="minor">
            <a:schemeClr val="tx1"/>
          </a:fontRef>
        </p:style>
      </p:cxnSp>
      <p:sp>
        <p:nvSpPr>
          <p:cNvPr id="281" name="Rounded Rectangle 280"/>
          <p:cNvSpPr/>
          <p:nvPr/>
        </p:nvSpPr>
        <p:spPr>
          <a:xfrm>
            <a:off x="868680" y="5257800"/>
            <a:ext cx="9555480" cy="566928"/>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0">
                <a:solidFill>
                  <a:srgbClr val="2E3440"/>
                </a:solidFill>
                <a:latin typeface="Arial"/>
              </a:rPr>
              <a:t>Fokus der Version 1.0: Ein stabiler Bestell- und Rücksendeprozess, der die Mindestanforderungen des Shops abdeckt.</a:t>
            </a:r>
          </a:p>
        </p:txBody>
      </p:sp>
      <p:sp>
        <p:nvSpPr>
          <p:cNvPr id="282" name="TextBox 281"/>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07</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262" name="Shape 262"/>
        <p:cNvGrpSpPr/>
        <p:nvPr/>
      </p:nvGrpSpPr>
      <p:grpSpPr>
        <a:xfrm>
          <a:off x="0" y="0"/>
          <a:ext cx="0" cy="0"/>
          <a:chOff x="0" y="0"/>
          <a:chExt cx="0" cy="0"/>
        </a:xfrm>
      </p:grpSpPr>
      <p:sp>
        <p:nvSpPr>
          <p:cNvPr id="263" name="Google Shape;263;p22"/>
          <p:cNvSpPr/>
          <p:nvPr/>
        </p:nvSpPr>
        <p:spPr>
          <a:xfrm>
            <a:off x="0" y="0"/>
            <a:ext cx="12191695" cy="384048"/>
          </a:xfrm>
          <a:prstGeom prst="rect">
            <a:avLst/>
          </a:prstGeom>
          <a:solidFill>
            <a:srgbClr val="0B0907"/>
          </a:solidFill>
          <a:ln cap="flat" cmpd="sng" w="12700">
            <a:solidFill>
              <a:srgbClr val="0B090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2"/>
          <p:cNvSpPr/>
          <p:nvPr/>
        </p:nvSpPr>
        <p:spPr>
          <a:xfrm>
            <a:off x="621792" y="118872"/>
            <a:ext cx="42976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Arial"/>
              <a:buNone/>
            </a:pPr>
            <a:r>
              <a:rPr b="1" lang="en-US" sz="850">
                <a:solidFill>
                  <a:srgbClr val="FFFFFF"/>
                </a:solidFill>
                <a:latin typeface="Arial"/>
                <a:ea typeface="Arial"/>
                <a:cs typeface="Arial"/>
                <a:sym typeface="Arial"/>
              </a:rPr>
              <a:t>MavaziHub · African Fashion Store</a:t>
            </a:r>
            <a:endParaRPr sz="850">
              <a:solidFill>
                <a:schemeClr val="dk1"/>
              </a:solidFill>
              <a:latin typeface="Arial"/>
              <a:ea typeface="Arial"/>
              <a:cs typeface="Arial"/>
              <a:sym typeface="Arial"/>
            </a:endParaRPr>
          </a:p>
        </p:txBody>
      </p:sp>
      <p:sp>
        <p:nvSpPr>
          <p:cNvPr id="265" name="Google Shape;265;p22"/>
          <p:cNvSpPr/>
          <p:nvPr/>
        </p:nvSpPr>
        <p:spPr>
          <a:xfrm>
            <a:off x="621792" y="621792"/>
            <a:ext cx="329184" cy="329184"/>
          </a:xfrm>
          <a:prstGeom prst="ellipse">
            <a:avLst/>
          </a:prstGeom>
          <a:solidFill>
            <a:srgbClr val="5B2619"/>
          </a:solidFill>
          <a:ln cap="flat" cmpd="sng" w="12700">
            <a:solidFill>
              <a:srgbClr val="5B26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2"/>
          <p:cNvSpPr/>
          <p:nvPr/>
        </p:nvSpPr>
        <p:spPr>
          <a:xfrm>
            <a:off x="667512" y="717804"/>
            <a:ext cx="237744" cy="91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50"/>
              <a:buFont typeface="Arial"/>
              <a:buNone/>
            </a:pPr>
            <a:r>
              <a:rPr b="1" lang="en-US" sz="650">
                <a:solidFill>
                  <a:srgbClr val="FFFFFF"/>
                </a:solidFill>
                <a:latin typeface="Arial"/>
                <a:ea typeface="Arial"/>
                <a:cs typeface="Arial"/>
                <a:sym typeface="Arial"/>
              </a:rPr>
              <a:t>MH</a:t>
            </a:r>
            <a:endParaRPr sz="650">
              <a:solidFill>
                <a:schemeClr val="dk1"/>
              </a:solidFill>
              <a:latin typeface="Arial"/>
              <a:ea typeface="Arial"/>
              <a:cs typeface="Arial"/>
              <a:sym typeface="Arial"/>
            </a:endParaRPr>
          </a:p>
        </p:txBody>
      </p:sp>
      <p:sp>
        <p:nvSpPr>
          <p:cNvPr id="267" name="Google Shape;267;p22"/>
          <p:cNvSpPr/>
          <p:nvPr/>
        </p:nvSpPr>
        <p:spPr>
          <a:xfrm>
            <a:off x="1024128" y="585216"/>
            <a:ext cx="1920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440"/>
              </a:buClr>
              <a:buSzPts val="1600"/>
              <a:buFont typeface="Arial"/>
              <a:buNone/>
            </a:pPr>
            <a:r>
              <a:rPr b="1" lang="en-US" sz="1600">
                <a:solidFill>
                  <a:srgbClr val="2E3440"/>
                </a:solidFill>
                <a:latin typeface="Arial"/>
                <a:ea typeface="Arial"/>
                <a:cs typeface="Arial"/>
                <a:sym typeface="Arial"/>
              </a:rPr>
              <a:t>MavaziHub</a:t>
            </a:r>
            <a:endParaRPr sz="1600">
              <a:solidFill>
                <a:schemeClr val="dk1"/>
              </a:solidFill>
              <a:latin typeface="Arial"/>
              <a:ea typeface="Arial"/>
              <a:cs typeface="Arial"/>
              <a:sym typeface="Arial"/>
            </a:endParaRPr>
          </a:p>
        </p:txBody>
      </p:sp>
      <p:sp>
        <p:nvSpPr>
          <p:cNvPr id="268" name="Google Shape;268;p22"/>
          <p:cNvSpPr/>
          <p:nvPr/>
        </p:nvSpPr>
        <p:spPr>
          <a:xfrm>
            <a:off x="1024128" y="877824"/>
            <a:ext cx="2011680"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752A"/>
              </a:buClr>
              <a:buSzPts val="650"/>
              <a:buFont typeface="Arial"/>
              <a:buNone/>
            </a:pPr>
            <a:r>
              <a:rPr b="1" lang="en-US" sz="650">
                <a:solidFill>
                  <a:srgbClr val="C8752A"/>
                </a:solidFill>
                <a:latin typeface="Arial"/>
                <a:ea typeface="Arial"/>
                <a:cs typeface="Arial"/>
                <a:sym typeface="Arial"/>
              </a:rPr>
              <a:t>African Fashion Store</a:t>
            </a:r>
            <a:endParaRPr sz="650">
              <a:solidFill>
                <a:schemeClr val="dk1"/>
              </a:solidFill>
              <a:latin typeface="Arial"/>
              <a:ea typeface="Arial"/>
              <a:cs typeface="Arial"/>
              <a:sym typeface="Arial"/>
            </a:endParaRPr>
          </a:p>
        </p:txBody>
      </p:sp>
      <p:sp>
        <p:nvSpPr>
          <p:cNvPr id="270" name="Google Shape;270;p22"/>
          <p:cNvSpPr/>
          <p:nvPr/>
        </p:nvSpPr>
        <p:spPr>
          <a:xfrm>
            <a:off x="713232" y="1243584"/>
            <a:ext cx="6675120" cy="493776"/>
          </a:xfrm>
          <a:prstGeom prst="rect">
            <a:avLst/>
          </a:prstGeom>
          <a:noFill/>
          <a:ln>
            <a:noFill/>
          </a:ln>
        </p:spPr>
        <p:txBody>
          <a:bodyPr anchorCtr="0" anchor="ctr" bIns="27432" lIns="73152" spcFirstLastPara="1" rIns="73152" wrap="square" tIns="27432">
            <a:noAutofit/>
          </a:bodyPr>
          <a:lstStyle/>
          <a:p>
            <a:r>
              <a:rPr sz="2700" b="1">
                <a:solidFill>
                  <a:srgbClr val="2E3440"/>
                </a:solidFill>
                <a:latin typeface="Arial"/>
              </a:rPr>
              <a:t>Architektur &amp; Tech Stack</a:t>
            </a:r>
          </a:p>
        </p:txBody>
      </p:sp>
      <p:sp>
        <p:nvSpPr>
          <p:cNvPr id="271" name="Google Shape;271;p22"/>
          <p:cNvSpPr/>
          <p:nvPr/>
        </p:nvSpPr>
        <p:spPr>
          <a:xfrm>
            <a:off x="713232" y="1847088"/>
            <a:ext cx="6675120" cy="329184"/>
          </a:xfrm>
          <a:prstGeom prst="rect">
            <a:avLst/>
          </a:prstGeom>
          <a:noFill/>
          <a:ln>
            <a:noFill/>
          </a:ln>
        </p:spPr>
        <p:txBody>
          <a:bodyPr anchorCtr="0" anchor="ctr" bIns="27432" lIns="73152" spcFirstLastPara="1" rIns="73152" wrap="square" tIns="27432">
            <a:noAutofit/>
          </a:bodyPr>
          <a:lstStyle/>
          <a:p>
            <a:r>
              <a:rPr sz="1150" b="0">
                <a:solidFill>
                  <a:srgbClr val="77716A"/>
                </a:solidFill>
                <a:latin typeface="Arial"/>
              </a:rPr>
              <a:t>Vom React-Frontend bis zur PostgreSQL-Datenbank</a:t>
            </a:r>
          </a:p>
        </p:txBody>
      </p:sp>
      <p:sp>
        <p:nvSpPr>
          <p:cNvPr id="273" name="Google Shape;273;p22"/>
          <p:cNvSpPr/>
          <p:nvPr/>
        </p:nvSpPr>
        <p:spPr>
          <a:xfrm>
            <a:off x="8823960" y="694944"/>
            <a:ext cx="2651760" cy="310896"/>
          </a:xfrm>
          <a:prstGeom prst="roundRect">
            <a:avLst>
              <a:gd fmla="val 11765" name="adj"/>
            </a:avLst>
          </a:prstGeom>
          <a:solidFill>
            <a:srgbClr val="FFFDF8"/>
          </a:solidFill>
          <a:ln cap="flat" cmpd="sng" w="9525">
            <a:solidFill>
              <a:srgbClr val="E7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2"/>
          <p:cNvSpPr/>
          <p:nvPr/>
        </p:nvSpPr>
        <p:spPr>
          <a:xfrm>
            <a:off x="8961120" y="786384"/>
            <a:ext cx="2377440" cy="91440"/>
          </a:xfrm>
          <a:prstGeom prst="rect">
            <a:avLst/>
          </a:prstGeom>
          <a:noFill/>
          <a:ln>
            <a:noFill/>
          </a:ln>
        </p:spPr>
        <p:txBody>
          <a:bodyPr anchorCtr="0" anchor="ctr" bIns="27432" lIns="73152" spcFirstLastPara="1" rIns="73152" wrap="square" tIns="27432">
            <a:noAutofit/>
          </a:bodyPr>
          <a:lstStyle/>
          <a:p>
            <a:pPr algn="r"/>
            <a:r>
              <a:rPr sz="750" b="0">
                <a:solidFill>
                  <a:srgbClr val="77716A"/>
                </a:solidFill>
                <a:latin typeface="Arial"/>
              </a:rPr>
              <a:t>Verantwortlich: Person 3</a:t>
            </a:r>
          </a:p>
        </p:txBody>
      </p:sp>
      <p:sp>
        <p:nvSpPr>
          <p:cNvPr id="276" name="Rounded Rectangle 275"/>
          <p:cNvSpPr/>
          <p:nvPr/>
        </p:nvSpPr>
        <p:spPr>
          <a:xfrm>
            <a:off x="822960" y="2743200"/>
            <a:ext cx="2377440" cy="960120"/>
          </a:xfrm>
          <a:prstGeom prst="roundRect">
            <a:avLst/>
          </a:prstGeom>
          <a:solidFill>
            <a:srgbClr val="E0EEE5"/>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2E3440"/>
                </a:solidFill>
                <a:latin typeface="Arial"/>
              </a:rPr>
              <a:t>Frontend</a:t>
            </a:r>
          </a:p>
          <a:p>
            <a:pPr algn="ctr"/>
            <a:r>
              <a:rPr sz="1300" b="1">
                <a:solidFill>
                  <a:srgbClr val="2E3440"/>
                </a:solidFill>
                <a:latin typeface="Arial"/>
              </a:rPr>
              <a:t>React + TypeScript</a:t>
            </a:r>
          </a:p>
        </p:txBody>
      </p:sp>
      <p:sp>
        <p:nvSpPr>
          <p:cNvPr id="277" name="Rounded Rectangle 276"/>
          <p:cNvSpPr/>
          <p:nvPr/>
        </p:nvSpPr>
        <p:spPr>
          <a:xfrm>
            <a:off x="4572000" y="2578608"/>
            <a:ext cx="2560320" cy="1298448"/>
          </a:xfrm>
          <a:prstGeom prst="roundRect">
            <a:avLst/>
          </a:prstGeom>
          <a:solidFill>
            <a:srgbClr val="F2E2D3"/>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2E3440"/>
                </a:solidFill>
                <a:latin typeface="Arial"/>
              </a:rPr>
              <a:t>Backend</a:t>
            </a:r>
          </a:p>
          <a:p>
            <a:pPr algn="ctr"/>
            <a:r>
              <a:rPr sz="1300" b="1">
                <a:solidFill>
                  <a:srgbClr val="2E3440"/>
                </a:solidFill>
                <a:latin typeface="Arial"/>
              </a:rPr>
              <a:t>Spring Boot REST-API</a:t>
            </a:r>
          </a:p>
        </p:txBody>
      </p:sp>
      <p:sp>
        <p:nvSpPr>
          <p:cNvPr id="278" name="Rounded Rectangle 277"/>
          <p:cNvSpPr/>
          <p:nvPr/>
        </p:nvSpPr>
        <p:spPr>
          <a:xfrm>
            <a:off x="8458200" y="2743200"/>
            <a:ext cx="2148840" cy="960120"/>
          </a:xfrm>
          <a:prstGeom prst="roundRect">
            <a:avLst/>
          </a:prstGeom>
          <a:solidFill>
            <a:srgbClr val="E5EBF4"/>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2E3440"/>
                </a:solidFill>
                <a:latin typeface="Arial"/>
              </a:rPr>
              <a:t>Datenbank</a:t>
            </a:r>
          </a:p>
          <a:p>
            <a:pPr algn="ctr"/>
            <a:r>
              <a:rPr sz="1300" b="1">
                <a:solidFill>
                  <a:srgbClr val="2E3440"/>
                </a:solidFill>
                <a:latin typeface="Arial"/>
              </a:rPr>
              <a:t>PostgreSQL</a:t>
            </a:r>
          </a:p>
        </p:txBody>
      </p:sp>
      <p:cxnSp>
        <p:nvCxnSpPr>
          <p:cNvPr id="279" name="Connector 278"/>
          <p:cNvCxnSpPr/>
          <p:nvPr/>
        </p:nvCxnSpPr>
        <p:spPr>
          <a:xfrm>
            <a:off x="3200400" y="3218688"/>
            <a:ext cx="1371600" cy="0"/>
          </a:xfrm>
          <a:prstGeom prst="line">
            <a:avLst/>
          </a:prstGeom>
          <a:ln w="2540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3310128" y="2880360"/>
            <a:ext cx="1005840" cy="237744"/>
          </a:xfrm>
          <a:prstGeom prst="rect">
            <a:avLst/>
          </a:prstGeom>
          <a:noFill/>
        </p:spPr>
        <p:txBody>
          <a:bodyPr wrap="square" lIns="73152" rIns="73152" tIns="27432" bIns="27432">
            <a:spAutoFit/>
          </a:bodyPr>
          <a:lstStyle/>
          <a:p>
            <a:pPr algn="ctr"/>
            <a:r>
              <a:rPr sz="1000" b="1">
                <a:solidFill>
                  <a:srgbClr val="77716A"/>
                </a:solidFill>
                <a:latin typeface="Arial"/>
              </a:rPr>
              <a:t>REST</a:t>
            </a:r>
          </a:p>
        </p:txBody>
      </p:sp>
      <p:cxnSp>
        <p:nvCxnSpPr>
          <p:cNvPr id="281" name="Connector 280"/>
          <p:cNvCxnSpPr/>
          <p:nvPr/>
        </p:nvCxnSpPr>
        <p:spPr>
          <a:xfrm>
            <a:off x="7132320" y="3218688"/>
            <a:ext cx="1325880" cy="0"/>
          </a:xfrm>
          <a:prstGeom prst="line">
            <a:avLst/>
          </a:prstGeom>
          <a:ln w="2540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282" name="TextBox 281"/>
          <p:cNvSpPr txBox="1"/>
          <p:nvPr/>
        </p:nvSpPr>
        <p:spPr>
          <a:xfrm>
            <a:off x="7315200" y="2880360"/>
            <a:ext cx="960120" cy="237744"/>
          </a:xfrm>
          <a:prstGeom prst="rect">
            <a:avLst/>
          </a:prstGeom>
          <a:noFill/>
        </p:spPr>
        <p:txBody>
          <a:bodyPr wrap="square" lIns="73152" rIns="73152" tIns="27432" bIns="27432">
            <a:spAutoFit/>
          </a:bodyPr>
          <a:lstStyle/>
          <a:p>
            <a:pPr algn="ctr"/>
            <a:r>
              <a:rPr sz="1000" b="1">
                <a:solidFill>
                  <a:srgbClr val="77716A"/>
                </a:solidFill>
                <a:latin typeface="Arial"/>
              </a:rPr>
              <a:t>JPA</a:t>
            </a:r>
          </a:p>
        </p:txBody>
      </p:sp>
      <p:sp>
        <p:nvSpPr>
          <p:cNvPr id="283" name="TextBox 282"/>
          <p:cNvSpPr txBox="1"/>
          <p:nvPr/>
        </p:nvSpPr>
        <p:spPr>
          <a:xfrm>
            <a:off x="4160520" y="4187952"/>
            <a:ext cx="3429000" cy="256032"/>
          </a:xfrm>
          <a:prstGeom prst="rect">
            <a:avLst/>
          </a:prstGeom>
          <a:noFill/>
        </p:spPr>
        <p:txBody>
          <a:bodyPr wrap="square" lIns="73152" rIns="73152" tIns="27432" bIns="27432">
            <a:spAutoFit/>
          </a:bodyPr>
          <a:lstStyle/>
          <a:p>
            <a:pPr algn="ctr"/>
            <a:r>
              <a:rPr sz="1200" b="1">
                <a:solidFill>
                  <a:srgbClr val="C8752A"/>
                </a:solidFill>
                <a:latin typeface="Arial"/>
              </a:rPr>
              <a:t>Backend-Module</a:t>
            </a:r>
          </a:p>
        </p:txBody>
      </p:sp>
      <p:sp>
        <p:nvSpPr>
          <p:cNvPr id="284" name="Rounded Rectangle 283"/>
          <p:cNvSpPr/>
          <p:nvPr/>
        </p:nvSpPr>
        <p:spPr>
          <a:xfrm>
            <a:off x="3246120" y="4553712"/>
            <a:ext cx="868680" cy="36576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50" b="1">
                <a:solidFill>
                  <a:srgbClr val="2E3440"/>
                </a:solidFill>
                <a:latin typeface="Arial"/>
              </a:rPr>
              <a:t>Auth</a:t>
            </a:r>
          </a:p>
        </p:txBody>
      </p:sp>
      <p:sp>
        <p:nvSpPr>
          <p:cNvPr id="285" name="Rounded Rectangle 284"/>
          <p:cNvSpPr/>
          <p:nvPr/>
        </p:nvSpPr>
        <p:spPr>
          <a:xfrm>
            <a:off x="4251960" y="4553712"/>
            <a:ext cx="868680" cy="36576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50" b="1">
                <a:solidFill>
                  <a:srgbClr val="2E3440"/>
                </a:solidFill>
                <a:latin typeface="Arial"/>
              </a:rPr>
              <a:t>Product</a:t>
            </a:r>
          </a:p>
        </p:txBody>
      </p:sp>
      <p:sp>
        <p:nvSpPr>
          <p:cNvPr id="286" name="Rounded Rectangle 285"/>
          <p:cNvSpPr/>
          <p:nvPr/>
        </p:nvSpPr>
        <p:spPr>
          <a:xfrm>
            <a:off x="5257800" y="4553712"/>
            <a:ext cx="868680" cy="36576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50" b="1">
                <a:solidFill>
                  <a:srgbClr val="2E3440"/>
                </a:solidFill>
                <a:latin typeface="Arial"/>
              </a:rPr>
              <a:t>Cart</a:t>
            </a:r>
          </a:p>
        </p:txBody>
      </p:sp>
      <p:sp>
        <p:nvSpPr>
          <p:cNvPr id="287" name="Rounded Rectangle 286"/>
          <p:cNvSpPr/>
          <p:nvPr/>
        </p:nvSpPr>
        <p:spPr>
          <a:xfrm>
            <a:off x="6263640" y="4553712"/>
            <a:ext cx="868680" cy="36576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50" b="1">
                <a:solidFill>
                  <a:srgbClr val="2E3440"/>
                </a:solidFill>
                <a:latin typeface="Arial"/>
              </a:rPr>
              <a:t>Order</a:t>
            </a:r>
          </a:p>
        </p:txBody>
      </p:sp>
      <p:sp>
        <p:nvSpPr>
          <p:cNvPr id="288" name="Rounded Rectangle 287"/>
          <p:cNvSpPr/>
          <p:nvPr/>
        </p:nvSpPr>
        <p:spPr>
          <a:xfrm>
            <a:off x="7269480" y="4553712"/>
            <a:ext cx="868680" cy="36576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950" b="1">
                <a:solidFill>
                  <a:srgbClr val="2E3440"/>
                </a:solidFill>
                <a:latin typeface="Arial"/>
              </a:rPr>
              <a:t>Return</a:t>
            </a:r>
          </a:p>
        </p:txBody>
      </p:sp>
      <p:sp>
        <p:nvSpPr>
          <p:cNvPr id="289" name="Rounded Rectangle 288"/>
          <p:cNvSpPr/>
          <p:nvPr/>
        </p:nvSpPr>
        <p:spPr>
          <a:xfrm>
            <a:off x="822960" y="5230368"/>
            <a:ext cx="2880360" cy="585216"/>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869" b="0">
                <a:solidFill>
                  <a:srgbClr val="2E3440"/>
                </a:solidFill>
                <a:latin typeface="Arial"/>
              </a:rPr>
              <a:t>Shop-Oberfläche</a:t>
            </a:r>
          </a:p>
          <a:p>
            <a:pPr algn="l"/>
            <a:r>
              <a:rPr sz="869" b="0">
                <a:solidFill>
                  <a:srgbClr val="2E3440"/>
                </a:solidFill>
                <a:latin typeface="Arial"/>
              </a:rPr>
              <a:t>Produktliste, Detailseite, Warenkorb, Profil</a:t>
            </a:r>
          </a:p>
        </p:txBody>
      </p:sp>
      <p:sp>
        <p:nvSpPr>
          <p:cNvPr id="290" name="Rounded Rectangle 289"/>
          <p:cNvSpPr/>
          <p:nvPr/>
        </p:nvSpPr>
        <p:spPr>
          <a:xfrm>
            <a:off x="4069080" y="5230368"/>
            <a:ext cx="2880360" cy="585216"/>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869" b="0">
                <a:solidFill>
                  <a:srgbClr val="2E3440"/>
                </a:solidFill>
                <a:latin typeface="Arial"/>
              </a:rPr>
              <a:t>Security</a:t>
            </a:r>
          </a:p>
          <a:p>
            <a:pPr algn="l"/>
            <a:r>
              <a:rPr sz="869" b="0">
                <a:solidFill>
                  <a:srgbClr val="2E3440"/>
                </a:solidFill>
                <a:latin typeface="Arial"/>
              </a:rPr>
              <a:t>JWT-Login, Rollen: User, Mitarbeiter, Admin</a:t>
            </a:r>
          </a:p>
        </p:txBody>
      </p:sp>
      <p:sp>
        <p:nvSpPr>
          <p:cNvPr id="291" name="Rounded Rectangle 290"/>
          <p:cNvSpPr/>
          <p:nvPr/>
        </p:nvSpPr>
        <p:spPr>
          <a:xfrm>
            <a:off x="7315200" y="5230368"/>
            <a:ext cx="2880360" cy="585216"/>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869" b="0">
                <a:solidFill>
                  <a:srgbClr val="2E3440"/>
                </a:solidFill>
                <a:latin typeface="Arial"/>
              </a:rPr>
              <a:t>Migrationen</a:t>
            </a:r>
          </a:p>
          <a:p>
            <a:pPr algn="l"/>
            <a:r>
              <a:rPr sz="869" b="0">
                <a:solidFill>
                  <a:srgbClr val="2E3440"/>
                </a:solidFill>
                <a:latin typeface="Arial"/>
              </a:rPr>
              <a:t>Flyway hält die Datenbankstruktur nachvollziehbar</a:t>
            </a:r>
          </a:p>
        </p:txBody>
      </p:sp>
      <p:sp>
        <p:nvSpPr>
          <p:cNvPr id="292" name="TextBox 291"/>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08</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287" name="Shape 287"/>
        <p:cNvGrpSpPr/>
        <p:nvPr/>
      </p:nvGrpSpPr>
      <p:grpSpPr>
        <a:xfrm>
          <a:off x="0" y="0"/>
          <a:ext cx="0" cy="0"/>
          <a:chOff x="0" y="0"/>
          <a:chExt cx="0" cy="0"/>
        </a:xfrm>
      </p:grpSpPr>
      <p:sp>
        <p:nvSpPr>
          <p:cNvPr id="288" name="Google Shape;288;p23"/>
          <p:cNvSpPr/>
          <p:nvPr/>
        </p:nvSpPr>
        <p:spPr>
          <a:xfrm>
            <a:off x="0" y="0"/>
            <a:ext cx="12191700" cy="384000"/>
          </a:xfrm>
          <a:prstGeom prst="rect">
            <a:avLst/>
          </a:prstGeom>
          <a:solidFill>
            <a:srgbClr val="0B0907"/>
          </a:solidFill>
          <a:ln cap="flat" cmpd="sng" w="12700">
            <a:solidFill>
              <a:srgbClr val="0B090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3"/>
          <p:cNvSpPr/>
          <p:nvPr/>
        </p:nvSpPr>
        <p:spPr>
          <a:xfrm>
            <a:off x="621792" y="118872"/>
            <a:ext cx="4297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Arial"/>
              <a:buNone/>
            </a:pPr>
            <a:r>
              <a:rPr b="1" lang="en-US" sz="850">
                <a:solidFill>
                  <a:srgbClr val="FFFFFF"/>
                </a:solidFill>
                <a:latin typeface="Arial"/>
                <a:ea typeface="Arial"/>
                <a:cs typeface="Arial"/>
                <a:sym typeface="Arial"/>
              </a:rPr>
              <a:t>MavaziHub · African Fashion Store</a:t>
            </a:r>
            <a:endParaRPr sz="850">
              <a:solidFill>
                <a:schemeClr val="dk1"/>
              </a:solidFill>
              <a:latin typeface="Arial"/>
              <a:ea typeface="Arial"/>
              <a:cs typeface="Arial"/>
              <a:sym typeface="Arial"/>
            </a:endParaRPr>
          </a:p>
        </p:txBody>
      </p:sp>
      <p:sp>
        <p:nvSpPr>
          <p:cNvPr id="290" name="Google Shape;290;p23"/>
          <p:cNvSpPr/>
          <p:nvPr/>
        </p:nvSpPr>
        <p:spPr>
          <a:xfrm>
            <a:off x="8686800" y="118872"/>
            <a:ext cx="2834700" cy="146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850"/>
              <a:buFont typeface="Arial"/>
              <a:buNone/>
            </a:pPr>
            <a:r>
              <a:rPr lang="en-US" sz="850">
                <a:solidFill>
                  <a:srgbClr val="FFFFFF"/>
                </a:solidFill>
                <a:latin typeface="Arial"/>
                <a:ea typeface="Arial"/>
                <a:cs typeface="Arial"/>
                <a:sym typeface="Arial"/>
              </a:rPr>
              <a:t>L03 Abschlusspräsentation</a:t>
            </a:r>
            <a:endParaRPr sz="850">
              <a:solidFill>
                <a:schemeClr val="dk1"/>
              </a:solidFill>
              <a:latin typeface="Arial"/>
              <a:ea typeface="Arial"/>
              <a:cs typeface="Arial"/>
              <a:sym typeface="Arial"/>
            </a:endParaRPr>
          </a:p>
        </p:txBody>
      </p:sp>
      <p:sp>
        <p:nvSpPr>
          <p:cNvPr id="291" name="Google Shape;291;p23"/>
          <p:cNvSpPr/>
          <p:nvPr/>
        </p:nvSpPr>
        <p:spPr>
          <a:xfrm>
            <a:off x="621792" y="621792"/>
            <a:ext cx="329100" cy="329100"/>
          </a:xfrm>
          <a:prstGeom prst="ellipse">
            <a:avLst/>
          </a:prstGeom>
          <a:solidFill>
            <a:srgbClr val="5B2619"/>
          </a:solidFill>
          <a:ln cap="flat" cmpd="sng" w="12700">
            <a:solidFill>
              <a:srgbClr val="5B26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
          <p:cNvSpPr/>
          <p:nvPr/>
        </p:nvSpPr>
        <p:spPr>
          <a:xfrm>
            <a:off x="667512" y="717804"/>
            <a:ext cx="237600" cy="9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50"/>
              <a:buFont typeface="Arial"/>
              <a:buNone/>
            </a:pPr>
            <a:r>
              <a:rPr b="1" lang="en-US" sz="650">
                <a:solidFill>
                  <a:srgbClr val="FFFFFF"/>
                </a:solidFill>
                <a:latin typeface="Arial"/>
                <a:ea typeface="Arial"/>
                <a:cs typeface="Arial"/>
                <a:sym typeface="Arial"/>
              </a:rPr>
              <a:t>MH</a:t>
            </a:r>
            <a:endParaRPr sz="650">
              <a:solidFill>
                <a:schemeClr val="dk1"/>
              </a:solidFill>
              <a:latin typeface="Arial"/>
              <a:ea typeface="Arial"/>
              <a:cs typeface="Arial"/>
              <a:sym typeface="Arial"/>
            </a:endParaRPr>
          </a:p>
        </p:txBody>
      </p:sp>
      <p:sp>
        <p:nvSpPr>
          <p:cNvPr id="293" name="Google Shape;293;p23"/>
          <p:cNvSpPr/>
          <p:nvPr/>
        </p:nvSpPr>
        <p:spPr>
          <a:xfrm>
            <a:off x="1024128" y="585216"/>
            <a:ext cx="19203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440"/>
              </a:buClr>
              <a:buSzPts val="1600"/>
              <a:buFont typeface="Arial"/>
              <a:buNone/>
            </a:pPr>
            <a:r>
              <a:rPr b="1" lang="en-US" sz="1600">
                <a:solidFill>
                  <a:srgbClr val="2E3440"/>
                </a:solidFill>
                <a:latin typeface="Arial"/>
                <a:ea typeface="Arial"/>
                <a:cs typeface="Arial"/>
                <a:sym typeface="Arial"/>
              </a:rPr>
              <a:t>MavaziHub</a:t>
            </a:r>
            <a:endParaRPr sz="1600">
              <a:solidFill>
                <a:schemeClr val="dk1"/>
              </a:solidFill>
              <a:latin typeface="Arial"/>
              <a:ea typeface="Arial"/>
              <a:cs typeface="Arial"/>
              <a:sym typeface="Arial"/>
            </a:endParaRPr>
          </a:p>
        </p:txBody>
      </p:sp>
      <p:sp>
        <p:nvSpPr>
          <p:cNvPr id="294" name="Google Shape;294;p23"/>
          <p:cNvSpPr/>
          <p:nvPr/>
        </p:nvSpPr>
        <p:spPr>
          <a:xfrm>
            <a:off x="1024128" y="877824"/>
            <a:ext cx="2011800" cy="12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752A"/>
              </a:buClr>
              <a:buSzPts val="650"/>
              <a:buFont typeface="Arial"/>
              <a:buNone/>
            </a:pPr>
            <a:r>
              <a:rPr b="1" lang="en-US" sz="650">
                <a:solidFill>
                  <a:srgbClr val="C8752A"/>
                </a:solidFill>
                <a:latin typeface="Arial"/>
                <a:ea typeface="Arial"/>
                <a:cs typeface="Arial"/>
                <a:sym typeface="Arial"/>
              </a:rPr>
              <a:t>African Fashion Store</a:t>
            </a:r>
            <a:endParaRPr sz="650">
              <a:solidFill>
                <a:schemeClr val="dk1"/>
              </a:solidFill>
              <a:latin typeface="Arial"/>
              <a:ea typeface="Arial"/>
              <a:cs typeface="Arial"/>
              <a:sym typeface="Arial"/>
            </a:endParaRPr>
          </a:p>
        </p:txBody>
      </p:sp>
      <p:sp>
        <p:nvSpPr>
          <p:cNvPr id="296" name="Google Shape;296;p23"/>
          <p:cNvSpPr/>
          <p:nvPr/>
        </p:nvSpPr>
        <p:spPr>
          <a:xfrm>
            <a:off x="713232" y="1243584"/>
            <a:ext cx="6675000" cy="493800"/>
          </a:xfrm>
          <a:prstGeom prst="rect">
            <a:avLst/>
          </a:prstGeom>
          <a:noFill/>
          <a:ln>
            <a:noFill/>
          </a:ln>
        </p:spPr>
        <p:txBody>
          <a:bodyPr anchorCtr="0" anchor="ctr" bIns="27432" lIns="73152" spcFirstLastPara="1" rIns="73152" wrap="square" tIns="27432">
            <a:noAutofit/>
          </a:bodyPr>
          <a:lstStyle/>
          <a:p>
            <a:r>
              <a:rPr sz="2700" b="1">
                <a:solidFill>
                  <a:srgbClr val="2E3440"/>
                </a:solidFill>
                <a:latin typeface="Arial"/>
              </a:rPr>
              <a:t>Backend-Struktur</a:t>
            </a:r>
          </a:p>
        </p:txBody>
      </p:sp>
      <p:sp>
        <p:nvSpPr>
          <p:cNvPr id="297" name="Google Shape;297;p23"/>
          <p:cNvSpPr/>
          <p:nvPr/>
        </p:nvSpPr>
        <p:spPr>
          <a:xfrm>
            <a:off x="713225" y="1975025"/>
            <a:ext cx="4688700" cy="310800"/>
          </a:xfrm>
          <a:prstGeom prst="rect">
            <a:avLst/>
          </a:prstGeom>
          <a:noFill/>
          <a:ln>
            <a:noFill/>
          </a:ln>
        </p:spPr>
        <p:txBody>
          <a:bodyPr anchorCtr="0" anchor="ctr" bIns="27432" lIns="73152" spcFirstLastPara="1" rIns="73152" wrap="square" tIns="27432">
            <a:noAutofit/>
          </a:bodyPr>
          <a:lstStyle/>
          <a:p>
            <a:r>
              <a:rPr sz="1150" b="0">
                <a:solidFill>
                  <a:srgbClr val="77716A"/>
                </a:solidFill>
                <a:latin typeface="Arial"/>
              </a:rPr>
              <a:t>Domänenorientiert und modular aufgebaut</a:t>
            </a:r>
          </a:p>
        </p:txBody>
      </p:sp>
      <p:sp>
        <p:nvSpPr>
          <p:cNvPr id="298" name="TextBox 297"/>
          <p:cNvSpPr txBox="1"/>
          <p:nvPr/>
        </p:nvSpPr>
        <p:spPr>
          <a:xfrm>
            <a:off x="8961120" y="786384"/>
            <a:ext cx="2377440" cy="128016"/>
          </a:xfrm>
          <a:prstGeom prst="rect">
            <a:avLst/>
          </a:prstGeom>
          <a:noFill/>
        </p:spPr>
        <p:txBody>
          <a:bodyPr wrap="square" lIns="73152" rIns="73152" tIns="27432" bIns="27432">
            <a:spAutoFit/>
          </a:bodyPr>
          <a:lstStyle/>
          <a:p>
            <a:pPr algn="r"/>
            <a:r>
              <a:rPr sz="750" b="0">
                <a:solidFill>
                  <a:srgbClr val="77716A"/>
                </a:solidFill>
                <a:latin typeface="Arial"/>
              </a:rPr>
              <a:t>Verantwortlich: Person 4</a:t>
            </a:r>
          </a:p>
        </p:txBody>
      </p:sp>
      <p:sp>
        <p:nvSpPr>
          <p:cNvPr id="300" name="Rounded Rectangle 299"/>
          <p:cNvSpPr/>
          <p:nvPr/>
        </p:nvSpPr>
        <p:spPr>
          <a:xfrm>
            <a:off x="868680" y="2606040"/>
            <a:ext cx="2971800" cy="457200"/>
          </a:xfrm>
          <a:prstGeom prst="roundRect">
            <a:avLst/>
          </a:prstGeom>
          <a:solidFill>
            <a:srgbClr val="E0EEE5"/>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2E3440"/>
                </a:solidFill>
                <a:latin typeface="Arial"/>
              </a:rPr>
              <a:t>Controller</a:t>
            </a:r>
          </a:p>
        </p:txBody>
      </p:sp>
      <p:sp>
        <p:nvSpPr>
          <p:cNvPr id="301" name="Rounded Rectangle 300"/>
          <p:cNvSpPr/>
          <p:nvPr/>
        </p:nvSpPr>
        <p:spPr>
          <a:xfrm>
            <a:off x="4069080" y="2606040"/>
            <a:ext cx="3200400" cy="45720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019" b="0">
                <a:solidFill>
                  <a:srgbClr val="2E3440"/>
                </a:solidFill>
                <a:latin typeface="Arial"/>
              </a:rPr>
              <a:t>REST-Endpunkte und HTTP-Anfragen</a:t>
            </a:r>
          </a:p>
        </p:txBody>
      </p:sp>
      <p:cxnSp>
        <p:nvCxnSpPr>
          <p:cNvPr id="302" name="Connector 301"/>
          <p:cNvCxnSpPr/>
          <p:nvPr/>
        </p:nvCxnSpPr>
        <p:spPr>
          <a:xfrm>
            <a:off x="2359152" y="3063240"/>
            <a:ext cx="0" cy="219456"/>
          </a:xfrm>
          <a:prstGeom prst="line">
            <a:avLst/>
          </a:prstGeom>
          <a:ln w="1524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303" name="Rounded Rectangle 302"/>
          <p:cNvSpPr/>
          <p:nvPr/>
        </p:nvSpPr>
        <p:spPr>
          <a:xfrm>
            <a:off x="868680" y="3282696"/>
            <a:ext cx="2971800" cy="457200"/>
          </a:xfrm>
          <a:prstGeom prst="roundRect">
            <a:avLst/>
          </a:prstGeom>
          <a:solidFill>
            <a:srgbClr val="F2E2D3"/>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2E3440"/>
                </a:solidFill>
                <a:latin typeface="Arial"/>
              </a:rPr>
              <a:t>Service</a:t>
            </a:r>
          </a:p>
        </p:txBody>
      </p:sp>
      <p:sp>
        <p:nvSpPr>
          <p:cNvPr id="304" name="Rounded Rectangle 303"/>
          <p:cNvSpPr/>
          <p:nvPr/>
        </p:nvSpPr>
        <p:spPr>
          <a:xfrm>
            <a:off x="4069080" y="3282696"/>
            <a:ext cx="3200400" cy="45720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019" b="0">
                <a:solidFill>
                  <a:srgbClr val="2E3440"/>
                </a:solidFill>
                <a:latin typeface="Arial"/>
              </a:rPr>
              <a:t>Geschäftslogik und Validierung</a:t>
            </a:r>
          </a:p>
        </p:txBody>
      </p:sp>
      <p:cxnSp>
        <p:nvCxnSpPr>
          <p:cNvPr id="305" name="Connector 304"/>
          <p:cNvCxnSpPr/>
          <p:nvPr/>
        </p:nvCxnSpPr>
        <p:spPr>
          <a:xfrm>
            <a:off x="2359152" y="3739896"/>
            <a:ext cx="0" cy="219456"/>
          </a:xfrm>
          <a:prstGeom prst="line">
            <a:avLst/>
          </a:prstGeom>
          <a:ln w="1524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306" name="Rounded Rectangle 305"/>
          <p:cNvSpPr/>
          <p:nvPr/>
        </p:nvSpPr>
        <p:spPr>
          <a:xfrm>
            <a:off x="868680" y="3959352"/>
            <a:ext cx="2971800" cy="457200"/>
          </a:xfrm>
          <a:prstGeom prst="roundRect">
            <a:avLst/>
          </a:prstGeom>
          <a:solidFill>
            <a:srgbClr val="E5EBF4"/>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2E3440"/>
                </a:solidFill>
                <a:latin typeface="Arial"/>
              </a:rPr>
              <a:t>Repository</a:t>
            </a:r>
          </a:p>
        </p:txBody>
      </p:sp>
      <p:sp>
        <p:nvSpPr>
          <p:cNvPr id="307" name="Rounded Rectangle 306"/>
          <p:cNvSpPr/>
          <p:nvPr/>
        </p:nvSpPr>
        <p:spPr>
          <a:xfrm>
            <a:off x="4069080" y="3959352"/>
            <a:ext cx="3200400" cy="45720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019" b="0">
                <a:solidFill>
                  <a:srgbClr val="2E3440"/>
                </a:solidFill>
                <a:latin typeface="Arial"/>
              </a:rPr>
              <a:t>Datenzugriff über Spring Data JPA</a:t>
            </a:r>
          </a:p>
        </p:txBody>
      </p:sp>
      <p:cxnSp>
        <p:nvCxnSpPr>
          <p:cNvPr id="308" name="Connector 307"/>
          <p:cNvCxnSpPr/>
          <p:nvPr/>
        </p:nvCxnSpPr>
        <p:spPr>
          <a:xfrm>
            <a:off x="2359152" y="4416552"/>
            <a:ext cx="0" cy="219456"/>
          </a:xfrm>
          <a:prstGeom prst="line">
            <a:avLst/>
          </a:prstGeom>
          <a:ln w="1524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309" name="Rounded Rectangle 308"/>
          <p:cNvSpPr/>
          <p:nvPr/>
        </p:nvSpPr>
        <p:spPr>
          <a:xfrm>
            <a:off x="868680" y="4636008"/>
            <a:ext cx="2971800" cy="457200"/>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2E3440"/>
                </a:solidFill>
                <a:latin typeface="Arial"/>
              </a:rPr>
              <a:t>Entity / DTO</a:t>
            </a:r>
          </a:p>
        </p:txBody>
      </p:sp>
      <p:sp>
        <p:nvSpPr>
          <p:cNvPr id="310" name="Rounded Rectangle 309"/>
          <p:cNvSpPr/>
          <p:nvPr/>
        </p:nvSpPr>
        <p:spPr>
          <a:xfrm>
            <a:off x="4069080" y="4636008"/>
            <a:ext cx="3200400" cy="45720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019" b="0">
                <a:solidFill>
                  <a:srgbClr val="2E3440"/>
                </a:solidFill>
                <a:latin typeface="Arial"/>
              </a:rPr>
              <a:t>Persistenzmodell und API-Daten</a:t>
            </a:r>
          </a:p>
        </p:txBody>
      </p:sp>
      <p:sp>
        <p:nvSpPr>
          <p:cNvPr id="311" name="TextBox 310"/>
          <p:cNvSpPr txBox="1"/>
          <p:nvPr/>
        </p:nvSpPr>
        <p:spPr>
          <a:xfrm>
            <a:off x="7909560" y="2487168"/>
            <a:ext cx="4389120" cy="274320"/>
          </a:xfrm>
          <a:prstGeom prst="rect">
            <a:avLst/>
          </a:prstGeom>
          <a:noFill/>
        </p:spPr>
        <p:txBody>
          <a:bodyPr wrap="square" lIns="73152" rIns="73152" tIns="27432" bIns="27432">
            <a:spAutoFit/>
          </a:bodyPr>
          <a:lstStyle/>
          <a:p>
            <a:r>
              <a:rPr sz="1400" b="1">
                <a:solidFill>
                  <a:srgbClr val="C8752A"/>
                </a:solidFill>
                <a:latin typeface="Arial"/>
              </a:rPr>
              <a:t>Fachmodule</a:t>
            </a:r>
          </a:p>
        </p:txBody>
      </p:sp>
      <p:sp>
        <p:nvSpPr>
          <p:cNvPr id="312" name="Rounded Rectangle 311"/>
          <p:cNvSpPr/>
          <p:nvPr/>
        </p:nvSpPr>
        <p:spPr>
          <a:xfrm>
            <a:off x="7909560" y="2834640"/>
            <a:ext cx="2834640" cy="32004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000" b="1">
                <a:solidFill>
                  <a:srgbClr val="2E3440"/>
                </a:solidFill>
                <a:latin typeface="Arial"/>
              </a:rPr>
              <a:t>auth / user / role</a:t>
            </a:r>
          </a:p>
        </p:txBody>
      </p:sp>
      <p:sp>
        <p:nvSpPr>
          <p:cNvPr id="313" name="Rounded Rectangle 312"/>
          <p:cNvSpPr/>
          <p:nvPr/>
        </p:nvSpPr>
        <p:spPr>
          <a:xfrm>
            <a:off x="7909560" y="3273552"/>
            <a:ext cx="2834640" cy="32004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000" b="1">
                <a:solidFill>
                  <a:srgbClr val="2E3440"/>
                </a:solidFill>
                <a:latin typeface="Arial"/>
              </a:rPr>
              <a:t>product</a:t>
            </a:r>
          </a:p>
        </p:txBody>
      </p:sp>
      <p:sp>
        <p:nvSpPr>
          <p:cNvPr id="314" name="Rounded Rectangle 313"/>
          <p:cNvSpPr/>
          <p:nvPr/>
        </p:nvSpPr>
        <p:spPr>
          <a:xfrm>
            <a:off x="7909560" y="3712464"/>
            <a:ext cx="2834640" cy="32004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000" b="1">
                <a:solidFill>
                  <a:srgbClr val="2E3440"/>
                </a:solidFill>
                <a:latin typeface="Arial"/>
              </a:rPr>
              <a:t>cart</a:t>
            </a:r>
          </a:p>
        </p:txBody>
      </p:sp>
      <p:sp>
        <p:nvSpPr>
          <p:cNvPr id="315" name="Rounded Rectangle 314"/>
          <p:cNvSpPr/>
          <p:nvPr/>
        </p:nvSpPr>
        <p:spPr>
          <a:xfrm>
            <a:off x="7909560" y="4151376"/>
            <a:ext cx="2834640" cy="32004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000" b="1">
                <a:solidFill>
                  <a:srgbClr val="2E3440"/>
                </a:solidFill>
                <a:latin typeface="Arial"/>
              </a:rPr>
              <a:t>order</a:t>
            </a:r>
          </a:p>
        </p:txBody>
      </p:sp>
      <p:sp>
        <p:nvSpPr>
          <p:cNvPr id="316" name="Rounded Rectangle 315"/>
          <p:cNvSpPr/>
          <p:nvPr/>
        </p:nvSpPr>
        <p:spPr>
          <a:xfrm>
            <a:off x="7909560" y="4590288"/>
            <a:ext cx="2834640" cy="32004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000" b="1">
                <a:solidFill>
                  <a:srgbClr val="2E3440"/>
                </a:solidFill>
                <a:latin typeface="Arial"/>
              </a:rPr>
              <a:t>returnrequest</a:t>
            </a:r>
          </a:p>
        </p:txBody>
      </p:sp>
      <p:sp>
        <p:nvSpPr>
          <p:cNvPr id="317" name="Rounded Rectangle 316"/>
          <p:cNvSpPr/>
          <p:nvPr/>
        </p:nvSpPr>
        <p:spPr>
          <a:xfrm>
            <a:off x="868680" y="5486400"/>
            <a:ext cx="9921240" cy="438912"/>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100" b="0">
                <a:solidFill>
                  <a:srgbClr val="2E3440"/>
                </a:solidFill>
                <a:latin typeface="Arial"/>
              </a:rPr>
              <a:t>Die Schichtung trennt API, Geschäftslogik und Datenzugriff. Dadurch bleibt das Backend nachvollziehbar und erweiterbar.</a:t>
            </a:r>
          </a:p>
        </p:txBody>
      </p:sp>
      <p:sp>
        <p:nvSpPr>
          <p:cNvPr id="318" name="TextBox 317"/>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09</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307" name="Shape 307"/>
        <p:cNvGrpSpPr/>
        <p:nvPr/>
      </p:nvGrpSpPr>
      <p:grpSpPr>
        <a:xfrm>
          <a:off x="0" y="0"/>
          <a:ext cx="0" cy="0"/>
          <a:chOff x="0" y="0"/>
          <a:chExt cx="0" cy="0"/>
        </a:xfrm>
      </p:grpSpPr>
      <p:sp>
        <p:nvSpPr>
          <p:cNvPr id="308" name="Google Shape;308;p24"/>
          <p:cNvSpPr/>
          <p:nvPr/>
        </p:nvSpPr>
        <p:spPr>
          <a:xfrm>
            <a:off x="0" y="0"/>
            <a:ext cx="12191695" cy="384048"/>
          </a:xfrm>
          <a:prstGeom prst="rect">
            <a:avLst/>
          </a:prstGeom>
          <a:solidFill>
            <a:srgbClr val="0B0907"/>
          </a:solidFill>
          <a:ln cap="flat" cmpd="sng" w="12700">
            <a:solidFill>
              <a:srgbClr val="0B090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4"/>
          <p:cNvSpPr/>
          <p:nvPr/>
        </p:nvSpPr>
        <p:spPr>
          <a:xfrm>
            <a:off x="621792" y="118872"/>
            <a:ext cx="42976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Arial"/>
              <a:buNone/>
            </a:pPr>
            <a:r>
              <a:rPr b="1" lang="en-US" sz="850">
                <a:solidFill>
                  <a:srgbClr val="FFFFFF"/>
                </a:solidFill>
                <a:latin typeface="Arial"/>
                <a:ea typeface="Arial"/>
                <a:cs typeface="Arial"/>
                <a:sym typeface="Arial"/>
              </a:rPr>
              <a:t>MavaziHub · African Fashion Store</a:t>
            </a:r>
            <a:endParaRPr sz="850">
              <a:solidFill>
                <a:schemeClr val="dk1"/>
              </a:solidFill>
              <a:latin typeface="Arial"/>
              <a:ea typeface="Arial"/>
              <a:cs typeface="Arial"/>
              <a:sym typeface="Arial"/>
            </a:endParaRPr>
          </a:p>
        </p:txBody>
      </p:sp>
      <p:sp>
        <p:nvSpPr>
          <p:cNvPr id="310" name="Google Shape;310;p24"/>
          <p:cNvSpPr/>
          <p:nvPr/>
        </p:nvSpPr>
        <p:spPr>
          <a:xfrm>
            <a:off x="8686800" y="118872"/>
            <a:ext cx="283464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850"/>
              <a:buFont typeface="Arial"/>
              <a:buNone/>
            </a:pPr>
            <a:r>
              <a:rPr lang="en-US" sz="850">
                <a:solidFill>
                  <a:srgbClr val="FFFFFF"/>
                </a:solidFill>
                <a:latin typeface="Arial"/>
                <a:ea typeface="Arial"/>
                <a:cs typeface="Arial"/>
                <a:sym typeface="Arial"/>
              </a:rPr>
              <a:t>L03 Abschlusspräsentation</a:t>
            </a:r>
            <a:endParaRPr sz="850">
              <a:solidFill>
                <a:schemeClr val="dk1"/>
              </a:solidFill>
              <a:latin typeface="Arial"/>
              <a:ea typeface="Arial"/>
              <a:cs typeface="Arial"/>
              <a:sym typeface="Arial"/>
            </a:endParaRPr>
          </a:p>
        </p:txBody>
      </p:sp>
      <p:sp>
        <p:nvSpPr>
          <p:cNvPr id="311" name="Google Shape;311;p24"/>
          <p:cNvSpPr/>
          <p:nvPr/>
        </p:nvSpPr>
        <p:spPr>
          <a:xfrm>
            <a:off x="621792" y="621792"/>
            <a:ext cx="329184" cy="329184"/>
          </a:xfrm>
          <a:prstGeom prst="ellipse">
            <a:avLst/>
          </a:prstGeom>
          <a:solidFill>
            <a:srgbClr val="5B2619"/>
          </a:solidFill>
          <a:ln cap="flat" cmpd="sng" w="12700">
            <a:solidFill>
              <a:srgbClr val="5B26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4"/>
          <p:cNvSpPr/>
          <p:nvPr/>
        </p:nvSpPr>
        <p:spPr>
          <a:xfrm>
            <a:off x="667512" y="717804"/>
            <a:ext cx="237744" cy="91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50"/>
              <a:buFont typeface="Arial"/>
              <a:buNone/>
            </a:pPr>
            <a:r>
              <a:rPr b="1" lang="en-US" sz="650">
                <a:solidFill>
                  <a:srgbClr val="FFFFFF"/>
                </a:solidFill>
                <a:latin typeface="Arial"/>
                <a:ea typeface="Arial"/>
                <a:cs typeface="Arial"/>
                <a:sym typeface="Arial"/>
              </a:rPr>
              <a:t>MH</a:t>
            </a:r>
            <a:endParaRPr sz="650">
              <a:solidFill>
                <a:schemeClr val="dk1"/>
              </a:solidFill>
              <a:latin typeface="Arial"/>
              <a:ea typeface="Arial"/>
              <a:cs typeface="Arial"/>
              <a:sym typeface="Arial"/>
            </a:endParaRPr>
          </a:p>
        </p:txBody>
      </p:sp>
      <p:sp>
        <p:nvSpPr>
          <p:cNvPr id="313" name="Google Shape;313;p24"/>
          <p:cNvSpPr/>
          <p:nvPr/>
        </p:nvSpPr>
        <p:spPr>
          <a:xfrm>
            <a:off x="1024128" y="585216"/>
            <a:ext cx="1920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440"/>
              </a:buClr>
              <a:buSzPts val="1600"/>
              <a:buFont typeface="Arial"/>
              <a:buNone/>
            </a:pPr>
            <a:r>
              <a:rPr b="1" lang="en-US" sz="1600">
                <a:solidFill>
                  <a:srgbClr val="2E3440"/>
                </a:solidFill>
                <a:latin typeface="Arial"/>
                <a:ea typeface="Arial"/>
                <a:cs typeface="Arial"/>
                <a:sym typeface="Arial"/>
              </a:rPr>
              <a:t>MavaziHub</a:t>
            </a:r>
            <a:endParaRPr sz="1600">
              <a:solidFill>
                <a:schemeClr val="dk1"/>
              </a:solidFill>
              <a:latin typeface="Arial"/>
              <a:ea typeface="Arial"/>
              <a:cs typeface="Arial"/>
              <a:sym typeface="Arial"/>
            </a:endParaRPr>
          </a:p>
        </p:txBody>
      </p:sp>
      <p:sp>
        <p:nvSpPr>
          <p:cNvPr id="314" name="Google Shape;314;p24"/>
          <p:cNvSpPr/>
          <p:nvPr/>
        </p:nvSpPr>
        <p:spPr>
          <a:xfrm>
            <a:off x="1024128" y="877824"/>
            <a:ext cx="2011680"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752A"/>
              </a:buClr>
              <a:buSzPts val="650"/>
              <a:buFont typeface="Arial"/>
              <a:buNone/>
            </a:pPr>
            <a:r>
              <a:rPr b="1" lang="en-US" sz="650">
                <a:solidFill>
                  <a:srgbClr val="C8752A"/>
                </a:solidFill>
                <a:latin typeface="Arial"/>
                <a:ea typeface="Arial"/>
                <a:cs typeface="Arial"/>
                <a:sym typeface="Arial"/>
              </a:rPr>
              <a:t>African Fashion Store</a:t>
            </a:r>
            <a:endParaRPr sz="650">
              <a:solidFill>
                <a:schemeClr val="dk1"/>
              </a:solidFill>
              <a:latin typeface="Arial"/>
              <a:ea typeface="Arial"/>
              <a:cs typeface="Arial"/>
              <a:sym typeface="Arial"/>
            </a:endParaRPr>
          </a:p>
        </p:txBody>
      </p:sp>
      <p:sp>
        <p:nvSpPr>
          <p:cNvPr id="316" name="Google Shape;316;p24"/>
          <p:cNvSpPr/>
          <p:nvPr/>
        </p:nvSpPr>
        <p:spPr>
          <a:xfrm>
            <a:off x="713232" y="1243584"/>
            <a:ext cx="6675120" cy="493776"/>
          </a:xfrm>
          <a:prstGeom prst="rect">
            <a:avLst/>
          </a:prstGeom>
          <a:noFill/>
          <a:ln>
            <a:noFill/>
          </a:ln>
        </p:spPr>
        <p:txBody>
          <a:bodyPr anchorCtr="0" anchor="ctr" bIns="27432" lIns="73152" spcFirstLastPara="1" rIns="73152" wrap="square" tIns="27432">
            <a:noAutofit/>
          </a:bodyPr>
          <a:lstStyle/>
          <a:p>
            <a:r>
              <a:rPr sz="2700" b="1">
                <a:solidFill>
                  <a:srgbClr val="2E3440"/>
                </a:solidFill>
                <a:latin typeface="Arial"/>
              </a:rPr>
              <a:t>Datenmodell</a:t>
            </a:r>
          </a:p>
        </p:txBody>
      </p:sp>
      <p:sp>
        <p:nvSpPr>
          <p:cNvPr id="317" name="TextBox 316"/>
          <p:cNvSpPr txBox="1"/>
          <p:nvPr/>
        </p:nvSpPr>
        <p:spPr>
          <a:xfrm>
            <a:off x="713232" y="1847088"/>
            <a:ext cx="6675120" cy="329184"/>
          </a:xfrm>
          <a:prstGeom prst="rect">
            <a:avLst/>
          </a:prstGeom>
          <a:noFill/>
        </p:spPr>
        <p:txBody>
          <a:bodyPr wrap="square" lIns="73152" rIns="73152" tIns="27432" bIns="27432">
            <a:spAutoFit/>
          </a:bodyPr>
          <a:lstStyle/>
          <a:p>
            <a:r>
              <a:rPr sz="1150" b="0">
                <a:solidFill>
                  <a:srgbClr val="77716A"/>
                </a:solidFill>
                <a:latin typeface="Arial"/>
              </a:rPr>
              <a:t>Zentrale Entitäten des Shops</a:t>
            </a:r>
          </a:p>
        </p:txBody>
      </p:sp>
      <p:sp>
        <p:nvSpPr>
          <p:cNvPr id="318" name="TextBox 317"/>
          <p:cNvSpPr txBox="1"/>
          <p:nvPr/>
        </p:nvSpPr>
        <p:spPr>
          <a:xfrm>
            <a:off x="8961120" y="786384"/>
            <a:ext cx="2377440" cy="128016"/>
          </a:xfrm>
          <a:prstGeom prst="rect">
            <a:avLst/>
          </a:prstGeom>
          <a:noFill/>
        </p:spPr>
        <p:txBody>
          <a:bodyPr wrap="square" lIns="73152" rIns="73152" tIns="27432" bIns="27432">
            <a:spAutoFit/>
          </a:bodyPr>
          <a:lstStyle/>
          <a:p>
            <a:pPr algn="r"/>
            <a:r>
              <a:rPr sz="750" b="0">
                <a:solidFill>
                  <a:srgbClr val="77716A"/>
                </a:solidFill>
                <a:latin typeface="Arial"/>
              </a:rPr>
              <a:t>Verantwortlich: Person 4</a:t>
            </a:r>
          </a:p>
        </p:txBody>
      </p:sp>
      <p:sp>
        <p:nvSpPr>
          <p:cNvPr id="320" name="Rounded Rectangle 319"/>
          <p:cNvSpPr/>
          <p:nvPr/>
        </p:nvSpPr>
        <p:spPr>
          <a:xfrm>
            <a:off x="868680" y="2633472"/>
            <a:ext cx="2926080" cy="914400"/>
          </a:xfrm>
          <a:prstGeom prst="roundRect">
            <a:avLst/>
          </a:prstGeom>
          <a:solidFill>
            <a:srgbClr val="E0EEE5"/>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1033271" y="2752344"/>
            <a:ext cx="2606040" cy="228600"/>
          </a:xfrm>
          <a:prstGeom prst="rect">
            <a:avLst/>
          </a:prstGeom>
          <a:noFill/>
        </p:spPr>
        <p:txBody>
          <a:bodyPr wrap="square" lIns="73152" rIns="73152" tIns="27432" bIns="27432">
            <a:spAutoFit/>
          </a:bodyPr>
          <a:lstStyle/>
          <a:p>
            <a:r>
              <a:rPr sz="1200" b="1">
                <a:solidFill>
                  <a:srgbClr val="C8752A"/>
                </a:solidFill>
                <a:latin typeface="Arial"/>
              </a:rPr>
              <a:t>Identität &amp; Zugriff</a:t>
            </a:r>
          </a:p>
        </p:txBody>
      </p:sp>
      <p:sp>
        <p:nvSpPr>
          <p:cNvPr id="322" name="TextBox 321"/>
          <p:cNvSpPr txBox="1"/>
          <p:nvPr/>
        </p:nvSpPr>
        <p:spPr>
          <a:xfrm>
            <a:off x="1033271" y="3090672"/>
            <a:ext cx="2606040" cy="228600"/>
          </a:xfrm>
          <a:prstGeom prst="rect">
            <a:avLst/>
          </a:prstGeom>
          <a:noFill/>
        </p:spPr>
        <p:txBody>
          <a:bodyPr wrap="square" lIns="73152" rIns="73152" tIns="27432" bIns="27432">
            <a:spAutoFit/>
          </a:bodyPr>
          <a:lstStyle/>
          <a:p>
            <a:r>
              <a:rPr sz="1000" b="0">
                <a:solidFill>
                  <a:srgbClr val="2E3440"/>
                </a:solidFill>
                <a:latin typeface="Arial"/>
              </a:rPr>
              <a:t>User · Role · RefreshToken</a:t>
            </a:r>
          </a:p>
        </p:txBody>
      </p:sp>
      <p:sp>
        <p:nvSpPr>
          <p:cNvPr id="323" name="Rounded Rectangle 322"/>
          <p:cNvSpPr/>
          <p:nvPr/>
        </p:nvSpPr>
        <p:spPr>
          <a:xfrm>
            <a:off x="4343400" y="2633472"/>
            <a:ext cx="2926080" cy="914400"/>
          </a:xfrm>
          <a:prstGeom prst="roundRect">
            <a:avLst/>
          </a:prstGeom>
          <a:solidFill>
            <a:srgbClr val="F2E2D3"/>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4507992" y="2752344"/>
            <a:ext cx="2606040" cy="228600"/>
          </a:xfrm>
          <a:prstGeom prst="rect">
            <a:avLst/>
          </a:prstGeom>
          <a:noFill/>
        </p:spPr>
        <p:txBody>
          <a:bodyPr wrap="square" lIns="73152" rIns="73152" tIns="27432" bIns="27432">
            <a:spAutoFit/>
          </a:bodyPr>
          <a:lstStyle/>
          <a:p>
            <a:r>
              <a:rPr sz="1200" b="1">
                <a:solidFill>
                  <a:srgbClr val="C8752A"/>
                </a:solidFill>
                <a:latin typeface="Arial"/>
              </a:rPr>
              <a:t>Produktkatalog</a:t>
            </a:r>
          </a:p>
        </p:txBody>
      </p:sp>
      <p:sp>
        <p:nvSpPr>
          <p:cNvPr id="325" name="TextBox 324"/>
          <p:cNvSpPr txBox="1"/>
          <p:nvPr/>
        </p:nvSpPr>
        <p:spPr>
          <a:xfrm>
            <a:off x="4507992" y="3090672"/>
            <a:ext cx="2606040" cy="228600"/>
          </a:xfrm>
          <a:prstGeom prst="rect">
            <a:avLst/>
          </a:prstGeom>
          <a:noFill/>
        </p:spPr>
        <p:txBody>
          <a:bodyPr wrap="square" lIns="73152" rIns="73152" tIns="27432" bIns="27432">
            <a:spAutoFit/>
          </a:bodyPr>
          <a:lstStyle/>
          <a:p>
            <a:r>
              <a:rPr sz="1000" b="0">
                <a:solidFill>
                  <a:srgbClr val="2E3440"/>
                </a:solidFill>
                <a:latin typeface="Arial"/>
              </a:rPr>
              <a:t>Category · Product · ProductVariant</a:t>
            </a:r>
          </a:p>
        </p:txBody>
      </p:sp>
      <p:sp>
        <p:nvSpPr>
          <p:cNvPr id="326" name="Rounded Rectangle 325"/>
          <p:cNvSpPr/>
          <p:nvPr/>
        </p:nvSpPr>
        <p:spPr>
          <a:xfrm>
            <a:off x="868680" y="4343400"/>
            <a:ext cx="2926080" cy="914400"/>
          </a:xfrm>
          <a:prstGeom prst="roundRect">
            <a:avLst/>
          </a:prstGeom>
          <a:solidFill>
            <a:srgbClr val="E5EBF4"/>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1033271" y="4462272"/>
            <a:ext cx="2606040" cy="228600"/>
          </a:xfrm>
          <a:prstGeom prst="rect">
            <a:avLst/>
          </a:prstGeom>
          <a:noFill/>
        </p:spPr>
        <p:txBody>
          <a:bodyPr wrap="square" lIns="73152" rIns="73152" tIns="27432" bIns="27432">
            <a:spAutoFit/>
          </a:bodyPr>
          <a:lstStyle/>
          <a:p>
            <a:r>
              <a:rPr sz="1200" b="1">
                <a:solidFill>
                  <a:srgbClr val="C8752A"/>
                </a:solidFill>
                <a:latin typeface="Arial"/>
              </a:rPr>
              <a:t>Warenkorb &amp; Bestellung</a:t>
            </a:r>
          </a:p>
        </p:txBody>
      </p:sp>
      <p:sp>
        <p:nvSpPr>
          <p:cNvPr id="328" name="TextBox 327"/>
          <p:cNvSpPr txBox="1"/>
          <p:nvPr/>
        </p:nvSpPr>
        <p:spPr>
          <a:xfrm>
            <a:off x="1033271" y="4800600"/>
            <a:ext cx="2606040" cy="228600"/>
          </a:xfrm>
          <a:prstGeom prst="rect">
            <a:avLst/>
          </a:prstGeom>
          <a:noFill/>
        </p:spPr>
        <p:txBody>
          <a:bodyPr wrap="square" lIns="73152" rIns="73152" tIns="27432" bIns="27432">
            <a:spAutoFit/>
          </a:bodyPr>
          <a:lstStyle/>
          <a:p>
            <a:r>
              <a:rPr sz="1000" b="0">
                <a:solidFill>
                  <a:srgbClr val="2E3440"/>
                </a:solidFill>
                <a:latin typeface="Arial"/>
              </a:rPr>
              <a:t>CartItem · Order · OrderItem</a:t>
            </a:r>
          </a:p>
        </p:txBody>
      </p:sp>
      <p:sp>
        <p:nvSpPr>
          <p:cNvPr id="329" name="Rounded Rectangle 328"/>
          <p:cNvSpPr/>
          <p:nvPr/>
        </p:nvSpPr>
        <p:spPr>
          <a:xfrm>
            <a:off x="4343400" y="4343400"/>
            <a:ext cx="2926080" cy="914400"/>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4507992" y="4462272"/>
            <a:ext cx="2606040" cy="228600"/>
          </a:xfrm>
          <a:prstGeom prst="rect">
            <a:avLst/>
          </a:prstGeom>
          <a:noFill/>
        </p:spPr>
        <p:txBody>
          <a:bodyPr wrap="square" lIns="73152" rIns="73152" tIns="27432" bIns="27432">
            <a:spAutoFit/>
          </a:bodyPr>
          <a:lstStyle/>
          <a:p>
            <a:r>
              <a:rPr sz="1200" b="1">
                <a:solidFill>
                  <a:srgbClr val="C8752A"/>
                </a:solidFill>
                <a:latin typeface="Arial"/>
              </a:rPr>
              <a:t>Retouren</a:t>
            </a:r>
          </a:p>
        </p:txBody>
      </p:sp>
      <p:sp>
        <p:nvSpPr>
          <p:cNvPr id="331" name="TextBox 330"/>
          <p:cNvSpPr txBox="1"/>
          <p:nvPr/>
        </p:nvSpPr>
        <p:spPr>
          <a:xfrm>
            <a:off x="4507992" y="4800600"/>
            <a:ext cx="2606040" cy="228600"/>
          </a:xfrm>
          <a:prstGeom prst="rect">
            <a:avLst/>
          </a:prstGeom>
          <a:noFill/>
        </p:spPr>
        <p:txBody>
          <a:bodyPr wrap="square" lIns="73152" rIns="73152" tIns="27432" bIns="27432">
            <a:spAutoFit/>
          </a:bodyPr>
          <a:lstStyle/>
          <a:p>
            <a:r>
              <a:rPr sz="1000" b="0">
                <a:solidFill>
                  <a:srgbClr val="2E3440"/>
                </a:solidFill>
                <a:latin typeface="Arial"/>
              </a:rPr>
              <a:t>ReturnRequest · ReturnItem</a:t>
            </a:r>
          </a:p>
        </p:txBody>
      </p:sp>
      <p:cxnSp>
        <p:nvCxnSpPr>
          <p:cNvPr id="332" name="Connector 331"/>
          <p:cNvCxnSpPr/>
          <p:nvPr/>
        </p:nvCxnSpPr>
        <p:spPr>
          <a:xfrm>
            <a:off x="3794760" y="3090672"/>
            <a:ext cx="548640" cy="0"/>
          </a:xfrm>
          <a:prstGeom prst="line">
            <a:avLst/>
          </a:prstGeom>
          <a:ln w="15240">
            <a:solidFill>
              <a:srgbClr val="DCD4CA"/>
            </a:solidFill>
            <a:headEnd type="triangle"/>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2331720" y="3547872"/>
            <a:ext cx="0" cy="795528"/>
          </a:xfrm>
          <a:prstGeom prst="line">
            <a:avLst/>
          </a:prstGeom>
          <a:ln w="15240">
            <a:solidFill>
              <a:srgbClr val="DCD4CA"/>
            </a:solidFill>
            <a:headEnd type="triangle"/>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3794760" y="4800600"/>
            <a:ext cx="548640" cy="0"/>
          </a:xfrm>
          <a:prstGeom prst="line">
            <a:avLst/>
          </a:prstGeom>
          <a:ln w="15240">
            <a:solidFill>
              <a:srgbClr val="DCD4CA"/>
            </a:solidFill>
            <a:headEnd type="triangle"/>
          </a:ln>
        </p:spPr>
        <p:style>
          <a:lnRef idx="2">
            <a:schemeClr val="accent1"/>
          </a:lnRef>
          <a:fillRef idx="0">
            <a:schemeClr val="accent1"/>
          </a:fillRef>
          <a:effectRef idx="1">
            <a:schemeClr val="accent1"/>
          </a:effectRef>
          <a:fontRef idx="minor">
            <a:schemeClr val="tx1"/>
          </a:fontRef>
        </p:style>
      </p:cxnSp>
      <p:sp>
        <p:nvSpPr>
          <p:cNvPr id="335" name="TextBox 334"/>
          <p:cNvSpPr txBox="1"/>
          <p:nvPr/>
        </p:nvSpPr>
        <p:spPr>
          <a:xfrm>
            <a:off x="7726679" y="2596896"/>
            <a:ext cx="4389120" cy="274320"/>
          </a:xfrm>
          <a:prstGeom prst="rect">
            <a:avLst/>
          </a:prstGeom>
          <a:noFill/>
        </p:spPr>
        <p:txBody>
          <a:bodyPr wrap="square" lIns="73152" rIns="73152" tIns="27432" bIns="27432">
            <a:spAutoFit/>
          </a:bodyPr>
          <a:lstStyle/>
          <a:p>
            <a:r>
              <a:rPr sz="1400" b="1">
                <a:solidFill>
                  <a:srgbClr val="C8752A"/>
                </a:solidFill>
                <a:latin typeface="Arial"/>
              </a:rPr>
              <a:t>Warum dieses Modell?</a:t>
            </a:r>
          </a:p>
        </p:txBody>
      </p:sp>
      <p:sp>
        <p:nvSpPr>
          <p:cNvPr id="336" name="Rounded Rectangle 335"/>
          <p:cNvSpPr/>
          <p:nvPr/>
        </p:nvSpPr>
        <p:spPr>
          <a:xfrm>
            <a:off x="7772400" y="3017520"/>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TextBox 336"/>
          <p:cNvSpPr txBox="1"/>
          <p:nvPr/>
        </p:nvSpPr>
        <p:spPr>
          <a:xfrm>
            <a:off x="8065008" y="2953512"/>
            <a:ext cx="2862072" cy="256032"/>
          </a:xfrm>
          <a:prstGeom prst="rect">
            <a:avLst/>
          </a:prstGeom>
          <a:noFill/>
        </p:spPr>
        <p:txBody>
          <a:bodyPr wrap="square" lIns="73152" rIns="73152" tIns="27432" bIns="27432">
            <a:spAutoFit/>
          </a:bodyPr>
          <a:lstStyle/>
          <a:p>
            <a:r>
              <a:rPr sz="1040" b="0">
                <a:solidFill>
                  <a:srgbClr val="2E3440"/>
                </a:solidFill>
                <a:latin typeface="Arial"/>
              </a:rPr>
              <a:t>Produkte, Bestellungen und Rücksendungen sind fachlich getrennt.</a:t>
            </a:r>
          </a:p>
        </p:txBody>
      </p:sp>
      <p:sp>
        <p:nvSpPr>
          <p:cNvPr id="338" name="Rounded Rectangle 337"/>
          <p:cNvSpPr/>
          <p:nvPr/>
        </p:nvSpPr>
        <p:spPr>
          <a:xfrm>
            <a:off x="7772400" y="3520439"/>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8065008" y="3456432"/>
            <a:ext cx="2862072" cy="256032"/>
          </a:xfrm>
          <a:prstGeom prst="rect">
            <a:avLst/>
          </a:prstGeom>
          <a:noFill/>
        </p:spPr>
        <p:txBody>
          <a:bodyPr wrap="square" lIns="73152" rIns="73152" tIns="27432" bIns="27432">
            <a:spAutoFit/>
          </a:bodyPr>
          <a:lstStyle/>
          <a:p>
            <a:r>
              <a:rPr sz="1040" b="0">
                <a:solidFill>
                  <a:srgbClr val="2E3440"/>
                </a:solidFill>
                <a:latin typeface="Arial"/>
              </a:rPr>
              <a:t>Bestellungen bleiben auch nach Änderungen am Warenkorb nachvollziehbar.</a:t>
            </a:r>
          </a:p>
        </p:txBody>
      </p:sp>
      <p:sp>
        <p:nvSpPr>
          <p:cNvPr id="340" name="Rounded Rectangle 339"/>
          <p:cNvSpPr/>
          <p:nvPr/>
        </p:nvSpPr>
        <p:spPr>
          <a:xfrm>
            <a:off x="7772400" y="4023359"/>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TextBox 340"/>
          <p:cNvSpPr txBox="1"/>
          <p:nvPr/>
        </p:nvSpPr>
        <p:spPr>
          <a:xfrm>
            <a:off x="8065008" y="3959352"/>
            <a:ext cx="2862072" cy="256032"/>
          </a:xfrm>
          <a:prstGeom prst="rect">
            <a:avLst/>
          </a:prstGeom>
          <a:noFill/>
        </p:spPr>
        <p:txBody>
          <a:bodyPr wrap="square" lIns="73152" rIns="73152" tIns="27432" bIns="27432">
            <a:spAutoFit/>
          </a:bodyPr>
          <a:lstStyle/>
          <a:p>
            <a:r>
              <a:rPr sz="1040" b="0">
                <a:solidFill>
                  <a:srgbClr val="2E3440"/>
                </a:solidFill>
                <a:latin typeface="Arial"/>
              </a:rPr>
              <a:t>Rollen steuern, welche Bereiche ein Nutzer sehen und nutzen darf.</a:t>
            </a:r>
          </a:p>
        </p:txBody>
      </p:sp>
      <p:sp>
        <p:nvSpPr>
          <p:cNvPr id="342" name="Rounded Rectangle 341"/>
          <p:cNvSpPr/>
          <p:nvPr/>
        </p:nvSpPr>
        <p:spPr>
          <a:xfrm>
            <a:off x="868680" y="5650992"/>
            <a:ext cx="9921240" cy="384048"/>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100" b="0">
                <a:solidFill>
                  <a:srgbClr val="2E3440"/>
                </a:solidFill>
                <a:latin typeface="Arial"/>
              </a:rPr>
              <a:t>Das Datenmodell bildet nicht nur Produkte ab, sondern den gesamten Bestell- und Rücksendeprozess.</a:t>
            </a:r>
          </a:p>
        </p:txBody>
      </p:sp>
      <p:sp>
        <p:nvSpPr>
          <p:cNvPr id="343" name="TextBox 342"/>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325" name="Shape 325"/>
        <p:cNvGrpSpPr/>
        <p:nvPr/>
      </p:nvGrpSpPr>
      <p:grpSpPr>
        <a:xfrm>
          <a:off x="0" y="0"/>
          <a:ext cx="0" cy="0"/>
          <a:chOff x="0" y="0"/>
          <a:chExt cx="0" cy="0"/>
        </a:xfrm>
      </p:grpSpPr>
      <p:sp>
        <p:nvSpPr>
          <p:cNvPr id="326" name="Rectangle 325"/>
          <p:cNvSpPr/>
          <p:nvPr/>
        </p:nvSpPr>
        <p:spPr>
          <a:xfrm>
            <a:off x="0" y="0"/>
            <a:ext cx="12191695" cy="384048"/>
          </a:xfrm>
          <a:prstGeom prst="rect">
            <a:avLst/>
          </a:prstGeom>
          <a:solidFill>
            <a:srgbClr val="152620"/>
          </a:solidFill>
          <a:ln w="12700">
            <a:solidFill>
              <a:srgbClr val="1526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621792" y="109728"/>
            <a:ext cx="4297680" cy="146304"/>
          </a:xfrm>
          <a:prstGeom prst="rect">
            <a:avLst/>
          </a:prstGeom>
          <a:noFill/>
        </p:spPr>
        <p:txBody>
          <a:bodyPr wrap="square" lIns="73152" rIns="73152" tIns="27432" bIns="27432">
            <a:spAutoFit/>
          </a:bodyPr>
          <a:lstStyle/>
          <a:p>
            <a:r>
              <a:rPr sz="850" b="1">
                <a:solidFill>
                  <a:srgbClr val="FFFFFF"/>
                </a:solidFill>
                <a:latin typeface="Arial"/>
              </a:rPr>
              <a:t>MavaziHub · African Fashion Store</a:t>
            </a:r>
          </a:p>
        </p:txBody>
      </p:sp>
      <p:sp>
        <p:nvSpPr>
          <p:cNvPr id="328" name="TextBox 327"/>
          <p:cNvSpPr txBox="1"/>
          <p:nvPr/>
        </p:nvSpPr>
        <p:spPr>
          <a:xfrm>
            <a:off x="8686800" y="109728"/>
            <a:ext cx="2834640" cy="146304"/>
          </a:xfrm>
          <a:prstGeom prst="rect">
            <a:avLst/>
          </a:prstGeom>
          <a:noFill/>
        </p:spPr>
        <p:txBody>
          <a:bodyPr wrap="square" lIns="73152" rIns="73152" tIns="27432" bIns="27432">
            <a:spAutoFit/>
          </a:bodyPr>
          <a:lstStyle/>
          <a:p>
            <a:pPr algn="r"/>
            <a:r>
              <a:rPr sz="850" b="0">
                <a:solidFill>
                  <a:srgbClr val="FFFFFF"/>
                </a:solidFill>
                <a:latin typeface="Arial"/>
              </a:rPr>
              <a:t>L03 Abschlusspräsentation</a:t>
            </a:r>
          </a:p>
        </p:txBody>
      </p:sp>
      <p:sp>
        <p:nvSpPr>
          <p:cNvPr id="329" name="Rounded Rectangle 328"/>
          <p:cNvSpPr/>
          <p:nvPr/>
        </p:nvSpPr>
        <p:spPr>
          <a:xfrm>
            <a:off x="566928" y="621792"/>
            <a:ext cx="347472" cy="34747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50" b="1">
                <a:solidFill>
                  <a:srgbClr val="FFFFFF"/>
                </a:solidFill>
                <a:latin typeface="Arial"/>
              </a:rPr>
              <a:t>MH</a:t>
            </a:r>
          </a:p>
        </p:txBody>
      </p:sp>
      <p:sp>
        <p:nvSpPr>
          <p:cNvPr id="330" name="TextBox 329"/>
          <p:cNvSpPr txBox="1"/>
          <p:nvPr/>
        </p:nvSpPr>
        <p:spPr>
          <a:xfrm>
            <a:off x="1024128" y="566928"/>
            <a:ext cx="2011680" cy="256032"/>
          </a:xfrm>
          <a:prstGeom prst="rect">
            <a:avLst/>
          </a:prstGeom>
          <a:noFill/>
        </p:spPr>
        <p:txBody>
          <a:bodyPr wrap="square" lIns="73152" rIns="73152" tIns="27432" bIns="27432">
            <a:spAutoFit/>
          </a:bodyPr>
          <a:lstStyle/>
          <a:p>
            <a:r>
              <a:rPr sz="1600" b="1">
                <a:solidFill>
                  <a:srgbClr val="2E3440"/>
                </a:solidFill>
                <a:latin typeface="Arial"/>
              </a:rPr>
              <a:t>MavaziHub</a:t>
            </a:r>
          </a:p>
        </p:txBody>
      </p:sp>
      <p:sp>
        <p:nvSpPr>
          <p:cNvPr id="331" name="TextBox 330"/>
          <p:cNvSpPr txBox="1"/>
          <p:nvPr/>
        </p:nvSpPr>
        <p:spPr>
          <a:xfrm>
            <a:off x="1024128" y="859536"/>
            <a:ext cx="2011680" cy="164592"/>
          </a:xfrm>
          <a:prstGeom prst="rect">
            <a:avLst/>
          </a:prstGeom>
          <a:noFill/>
        </p:spPr>
        <p:txBody>
          <a:bodyPr wrap="square" lIns="73152" rIns="73152" tIns="27432" bIns="27432">
            <a:spAutoFit/>
          </a:bodyPr>
          <a:lstStyle/>
          <a:p>
            <a:r>
              <a:rPr sz="650" b="1">
                <a:solidFill>
                  <a:srgbClr val="C8752A"/>
                </a:solidFill>
                <a:latin typeface="Arial"/>
              </a:rPr>
              <a:t>African Fashion Store</a:t>
            </a:r>
          </a:p>
        </p:txBody>
      </p:sp>
      <p:sp>
        <p:nvSpPr>
          <p:cNvPr id="332" name="TextBox 331"/>
          <p:cNvSpPr txBox="1"/>
          <p:nvPr/>
        </p:nvSpPr>
        <p:spPr>
          <a:xfrm>
            <a:off x="713232" y="1243584"/>
            <a:ext cx="6675120" cy="493776"/>
          </a:xfrm>
          <a:prstGeom prst="rect">
            <a:avLst/>
          </a:prstGeom>
          <a:noFill/>
        </p:spPr>
        <p:txBody>
          <a:bodyPr wrap="square" lIns="73152" rIns="73152" tIns="27432" bIns="27432">
            <a:spAutoFit/>
          </a:bodyPr>
          <a:lstStyle/>
          <a:p>
            <a:r>
              <a:rPr sz="2700" b="1">
                <a:solidFill>
                  <a:srgbClr val="2E3440"/>
                </a:solidFill>
                <a:latin typeface="Arial"/>
              </a:rPr>
              <a:t>Frontend &amp; Benutzeroberfläche</a:t>
            </a:r>
          </a:p>
        </p:txBody>
      </p:sp>
      <p:sp>
        <p:nvSpPr>
          <p:cNvPr id="333" name="TextBox 332"/>
          <p:cNvSpPr txBox="1"/>
          <p:nvPr/>
        </p:nvSpPr>
        <p:spPr>
          <a:xfrm>
            <a:off x="713232" y="1847088"/>
            <a:ext cx="6675120" cy="329184"/>
          </a:xfrm>
          <a:prstGeom prst="rect">
            <a:avLst/>
          </a:prstGeom>
          <a:noFill/>
        </p:spPr>
        <p:txBody>
          <a:bodyPr wrap="square" lIns="73152" rIns="73152" tIns="27432" bIns="27432">
            <a:spAutoFit/>
          </a:bodyPr>
          <a:lstStyle/>
          <a:p>
            <a:r>
              <a:rPr sz="1150" b="0">
                <a:solidFill>
                  <a:srgbClr val="77716A"/>
                </a:solidFill>
                <a:latin typeface="Arial"/>
              </a:rPr>
              <a:t>Shop-Oberfläche für Kunden und Verwaltungsbereiche für interne Rollen</a:t>
            </a:r>
          </a:p>
        </p:txBody>
      </p:sp>
      <p:sp>
        <p:nvSpPr>
          <p:cNvPr id="334" name="TextBox 333"/>
          <p:cNvSpPr txBox="1"/>
          <p:nvPr/>
        </p:nvSpPr>
        <p:spPr>
          <a:xfrm>
            <a:off x="8961120" y="786384"/>
            <a:ext cx="2377440" cy="128016"/>
          </a:xfrm>
          <a:prstGeom prst="rect">
            <a:avLst/>
          </a:prstGeom>
          <a:noFill/>
        </p:spPr>
        <p:txBody>
          <a:bodyPr wrap="square" lIns="73152" rIns="73152" tIns="27432" bIns="27432">
            <a:spAutoFit/>
          </a:bodyPr>
          <a:lstStyle/>
          <a:p>
            <a:pPr algn="r"/>
            <a:r>
              <a:rPr sz="750" b="0">
                <a:solidFill>
                  <a:srgbClr val="77716A"/>
                </a:solidFill>
                <a:latin typeface="Arial"/>
              </a:rPr>
              <a:t>Verantwortlich: Person 4</a:t>
            </a:r>
          </a:p>
        </p:txBody>
      </p:sp>
      <p:sp>
        <p:nvSpPr>
          <p:cNvPr id="336" name="TextBox 335"/>
          <p:cNvSpPr txBox="1"/>
          <p:nvPr/>
        </p:nvSpPr>
        <p:spPr>
          <a:xfrm>
            <a:off x="868680" y="2423160"/>
            <a:ext cx="4389120" cy="274320"/>
          </a:xfrm>
          <a:prstGeom prst="rect">
            <a:avLst/>
          </a:prstGeom>
          <a:noFill/>
        </p:spPr>
        <p:txBody>
          <a:bodyPr wrap="square" lIns="73152" rIns="73152" tIns="27432" bIns="27432">
            <a:spAutoFit/>
          </a:bodyPr>
          <a:lstStyle/>
          <a:p>
            <a:r>
              <a:rPr sz="1400" b="1">
                <a:solidFill>
                  <a:srgbClr val="C8752A"/>
                </a:solidFill>
                <a:latin typeface="Arial"/>
              </a:rPr>
              <a:t>Kundenseiten</a:t>
            </a:r>
          </a:p>
        </p:txBody>
      </p:sp>
      <p:sp>
        <p:nvSpPr>
          <p:cNvPr id="337" name="Rounded Rectangle 336"/>
          <p:cNvSpPr/>
          <p:nvPr/>
        </p:nvSpPr>
        <p:spPr>
          <a:xfrm>
            <a:off x="914400" y="2834639"/>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1207008" y="2770632"/>
            <a:ext cx="3822191" cy="256032"/>
          </a:xfrm>
          <a:prstGeom prst="rect">
            <a:avLst/>
          </a:prstGeom>
          <a:noFill/>
        </p:spPr>
        <p:txBody>
          <a:bodyPr wrap="square" lIns="73152" rIns="73152" tIns="27432" bIns="27432">
            <a:spAutoFit/>
          </a:bodyPr>
          <a:lstStyle/>
          <a:p>
            <a:r>
              <a:rPr sz="1100" b="0">
                <a:solidFill>
                  <a:srgbClr val="2E3440"/>
                </a:solidFill>
                <a:latin typeface="Arial"/>
              </a:rPr>
              <a:t>Produktliste und Produktdetail</a:t>
            </a:r>
          </a:p>
        </p:txBody>
      </p:sp>
      <p:sp>
        <p:nvSpPr>
          <p:cNvPr id="339" name="Rounded Rectangle 338"/>
          <p:cNvSpPr/>
          <p:nvPr/>
        </p:nvSpPr>
        <p:spPr>
          <a:xfrm>
            <a:off x="914400" y="3218687"/>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1207008" y="3154679"/>
            <a:ext cx="3822191" cy="256032"/>
          </a:xfrm>
          <a:prstGeom prst="rect">
            <a:avLst/>
          </a:prstGeom>
          <a:noFill/>
        </p:spPr>
        <p:txBody>
          <a:bodyPr wrap="square" lIns="73152" rIns="73152" tIns="27432" bIns="27432">
            <a:spAutoFit/>
          </a:bodyPr>
          <a:lstStyle/>
          <a:p>
            <a:r>
              <a:rPr sz="1100" b="0">
                <a:solidFill>
                  <a:srgbClr val="2E3440"/>
                </a:solidFill>
                <a:latin typeface="Arial"/>
              </a:rPr>
              <a:t>Warenkorb und Checkout</a:t>
            </a:r>
          </a:p>
        </p:txBody>
      </p:sp>
      <p:sp>
        <p:nvSpPr>
          <p:cNvPr id="341" name="Rounded Rectangle 340"/>
          <p:cNvSpPr/>
          <p:nvPr/>
        </p:nvSpPr>
        <p:spPr>
          <a:xfrm>
            <a:off x="914400" y="3602735"/>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TextBox 341"/>
          <p:cNvSpPr txBox="1"/>
          <p:nvPr/>
        </p:nvSpPr>
        <p:spPr>
          <a:xfrm>
            <a:off x="1207008" y="3538727"/>
            <a:ext cx="3822191" cy="256032"/>
          </a:xfrm>
          <a:prstGeom prst="rect">
            <a:avLst/>
          </a:prstGeom>
          <a:noFill/>
        </p:spPr>
        <p:txBody>
          <a:bodyPr wrap="square" lIns="73152" rIns="73152" tIns="27432" bIns="27432">
            <a:spAutoFit/>
          </a:bodyPr>
          <a:lstStyle/>
          <a:p>
            <a:r>
              <a:rPr sz="1100" b="0">
                <a:solidFill>
                  <a:srgbClr val="2E3440"/>
                </a:solidFill>
                <a:latin typeface="Arial"/>
              </a:rPr>
              <a:t>Profil, Bestellungen und Rücksendungen</a:t>
            </a:r>
          </a:p>
        </p:txBody>
      </p:sp>
      <p:sp>
        <p:nvSpPr>
          <p:cNvPr id="343" name="TextBox 342"/>
          <p:cNvSpPr txBox="1"/>
          <p:nvPr/>
        </p:nvSpPr>
        <p:spPr>
          <a:xfrm>
            <a:off x="868680" y="4160520"/>
            <a:ext cx="4389120" cy="274320"/>
          </a:xfrm>
          <a:prstGeom prst="rect">
            <a:avLst/>
          </a:prstGeom>
          <a:noFill/>
        </p:spPr>
        <p:txBody>
          <a:bodyPr wrap="square" lIns="73152" rIns="73152" tIns="27432" bIns="27432">
            <a:spAutoFit/>
          </a:bodyPr>
          <a:lstStyle/>
          <a:p>
            <a:r>
              <a:rPr sz="1400" b="1">
                <a:solidFill>
                  <a:srgbClr val="C8752A"/>
                </a:solidFill>
                <a:latin typeface="Arial"/>
              </a:rPr>
              <a:t>Interne Bereiche</a:t>
            </a:r>
          </a:p>
        </p:txBody>
      </p:sp>
      <p:sp>
        <p:nvSpPr>
          <p:cNvPr id="344" name="Rounded Rectangle 343"/>
          <p:cNvSpPr/>
          <p:nvPr/>
        </p:nvSpPr>
        <p:spPr>
          <a:xfrm>
            <a:off x="914400" y="4572000"/>
            <a:ext cx="146304" cy="146304"/>
          </a:xfrm>
          <a:prstGeom prst="roundRect">
            <a:avLst/>
          </a:prstGeom>
          <a:solidFill>
            <a:srgbClr val="77716A"/>
          </a:solidFill>
          <a:ln w="12700">
            <a:solidFill>
              <a:srgbClr val="777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TextBox 344"/>
          <p:cNvSpPr txBox="1"/>
          <p:nvPr/>
        </p:nvSpPr>
        <p:spPr>
          <a:xfrm>
            <a:off x="1207008" y="4507992"/>
            <a:ext cx="4005072" cy="256032"/>
          </a:xfrm>
          <a:prstGeom prst="rect">
            <a:avLst/>
          </a:prstGeom>
          <a:noFill/>
        </p:spPr>
        <p:txBody>
          <a:bodyPr wrap="square" lIns="73152" rIns="73152" tIns="27432" bIns="27432">
            <a:spAutoFit/>
          </a:bodyPr>
          <a:lstStyle/>
          <a:p>
            <a:r>
              <a:rPr sz="1100" b="0">
                <a:solidFill>
                  <a:srgbClr val="2E3440"/>
                </a:solidFill>
                <a:latin typeface="Arial"/>
              </a:rPr>
              <a:t>Rollenabhängige Navigation</a:t>
            </a:r>
          </a:p>
        </p:txBody>
      </p:sp>
      <p:sp>
        <p:nvSpPr>
          <p:cNvPr id="346" name="Rounded Rectangle 345"/>
          <p:cNvSpPr/>
          <p:nvPr/>
        </p:nvSpPr>
        <p:spPr>
          <a:xfrm>
            <a:off x="914400" y="4956048"/>
            <a:ext cx="146304" cy="146304"/>
          </a:xfrm>
          <a:prstGeom prst="roundRect">
            <a:avLst/>
          </a:prstGeom>
          <a:solidFill>
            <a:srgbClr val="77716A"/>
          </a:solidFill>
          <a:ln w="12700">
            <a:solidFill>
              <a:srgbClr val="777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1207008" y="4892040"/>
            <a:ext cx="4005072" cy="256032"/>
          </a:xfrm>
          <a:prstGeom prst="rect">
            <a:avLst/>
          </a:prstGeom>
          <a:noFill/>
        </p:spPr>
        <p:txBody>
          <a:bodyPr wrap="square" lIns="73152" rIns="73152" tIns="27432" bIns="27432">
            <a:spAutoFit/>
          </a:bodyPr>
          <a:lstStyle/>
          <a:p>
            <a:r>
              <a:rPr sz="1100" b="0">
                <a:solidFill>
                  <a:srgbClr val="2E3440"/>
                </a:solidFill>
                <a:latin typeface="Arial"/>
              </a:rPr>
              <a:t>Produktverwaltung</a:t>
            </a:r>
          </a:p>
        </p:txBody>
      </p:sp>
      <p:sp>
        <p:nvSpPr>
          <p:cNvPr id="348" name="Rounded Rectangle 347"/>
          <p:cNvSpPr/>
          <p:nvPr/>
        </p:nvSpPr>
        <p:spPr>
          <a:xfrm>
            <a:off x="914400" y="5340096"/>
            <a:ext cx="146304" cy="146304"/>
          </a:xfrm>
          <a:prstGeom prst="roundRect">
            <a:avLst/>
          </a:prstGeom>
          <a:solidFill>
            <a:srgbClr val="77716A"/>
          </a:solidFill>
          <a:ln w="12700">
            <a:solidFill>
              <a:srgbClr val="777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TextBox 348"/>
          <p:cNvSpPr txBox="1"/>
          <p:nvPr/>
        </p:nvSpPr>
        <p:spPr>
          <a:xfrm>
            <a:off x="1207008" y="5276088"/>
            <a:ext cx="4005072" cy="256032"/>
          </a:xfrm>
          <a:prstGeom prst="rect">
            <a:avLst/>
          </a:prstGeom>
          <a:noFill/>
        </p:spPr>
        <p:txBody>
          <a:bodyPr wrap="square" lIns="73152" rIns="73152" tIns="27432" bIns="27432">
            <a:spAutoFit/>
          </a:bodyPr>
          <a:lstStyle/>
          <a:p>
            <a:r>
              <a:rPr sz="1100" b="0">
                <a:solidFill>
                  <a:srgbClr val="2E3440"/>
                </a:solidFill>
                <a:latin typeface="Arial"/>
              </a:rPr>
              <a:t>Rücksendungen prüfen und Status ändern</a:t>
            </a:r>
          </a:p>
        </p:txBody>
      </p:sp>
      <p:sp>
        <p:nvSpPr>
          <p:cNvPr id="350" name="TextBox 349"/>
          <p:cNvSpPr txBox="1"/>
          <p:nvPr/>
        </p:nvSpPr>
        <p:spPr>
          <a:xfrm>
            <a:off x="6446520" y="2423160"/>
            <a:ext cx="4206240" cy="274320"/>
          </a:xfrm>
          <a:prstGeom prst="rect">
            <a:avLst/>
          </a:prstGeom>
          <a:noFill/>
        </p:spPr>
        <p:txBody>
          <a:bodyPr wrap="square" lIns="73152" rIns="73152" tIns="27432" bIns="27432">
            <a:spAutoFit/>
          </a:bodyPr>
          <a:lstStyle/>
          <a:p>
            <a:r>
              <a:rPr sz="1400" b="1">
                <a:solidFill>
                  <a:srgbClr val="C8752A"/>
                </a:solidFill>
                <a:latin typeface="Arial"/>
              </a:rPr>
              <a:t>Screenshot-Platzhalter</a:t>
            </a:r>
          </a:p>
        </p:txBody>
      </p:sp>
      <p:sp>
        <p:nvSpPr>
          <p:cNvPr id="351" name="Rounded Rectangle 350"/>
          <p:cNvSpPr/>
          <p:nvPr/>
        </p:nvSpPr>
        <p:spPr>
          <a:xfrm>
            <a:off x="6446520" y="2788920"/>
            <a:ext cx="1874519" cy="109728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80" b="1">
                <a:solidFill>
                  <a:srgbClr val="77716A"/>
                </a:solidFill>
                <a:latin typeface="Arial"/>
              </a:rPr>
              <a:t>Produktliste</a:t>
            </a:r>
          </a:p>
          <a:p>
            <a:pPr algn="ctr"/>
            <a:r>
              <a:rPr sz="1080" b="1">
                <a:solidFill>
                  <a:srgbClr val="77716A"/>
                </a:solidFill>
                <a:latin typeface="Arial"/>
              </a:rPr>
              <a:t>Screenshot</a:t>
            </a:r>
          </a:p>
        </p:txBody>
      </p:sp>
      <p:sp>
        <p:nvSpPr>
          <p:cNvPr id="352" name="Rectangle 351"/>
          <p:cNvSpPr/>
          <p:nvPr/>
        </p:nvSpPr>
        <p:spPr>
          <a:xfrm>
            <a:off x="6556248" y="2916936"/>
            <a:ext cx="1655064" cy="612648"/>
          </a:xfrm>
          <a:prstGeom prst="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ounded Rectangle 352"/>
          <p:cNvSpPr/>
          <p:nvPr/>
        </p:nvSpPr>
        <p:spPr>
          <a:xfrm>
            <a:off x="8549640" y="2788920"/>
            <a:ext cx="1874519" cy="109728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80" b="1">
                <a:solidFill>
                  <a:srgbClr val="77716A"/>
                </a:solidFill>
                <a:latin typeface="Arial"/>
              </a:rPr>
              <a:t>Warenkorb / Checkout</a:t>
            </a:r>
          </a:p>
          <a:p>
            <a:pPr algn="ctr"/>
            <a:r>
              <a:rPr sz="1080" b="1">
                <a:solidFill>
                  <a:srgbClr val="77716A"/>
                </a:solidFill>
                <a:latin typeface="Arial"/>
              </a:rPr>
              <a:t>Screenshot</a:t>
            </a:r>
          </a:p>
        </p:txBody>
      </p:sp>
      <p:sp>
        <p:nvSpPr>
          <p:cNvPr id="354" name="Rectangle 353"/>
          <p:cNvSpPr/>
          <p:nvPr/>
        </p:nvSpPr>
        <p:spPr>
          <a:xfrm>
            <a:off x="8659367" y="2916936"/>
            <a:ext cx="1655064" cy="612648"/>
          </a:xfrm>
          <a:prstGeom prst="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ounded Rectangle 354"/>
          <p:cNvSpPr/>
          <p:nvPr/>
        </p:nvSpPr>
        <p:spPr>
          <a:xfrm>
            <a:off x="7498079" y="4370832"/>
            <a:ext cx="1874519" cy="109728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80" b="1">
                <a:solidFill>
                  <a:srgbClr val="77716A"/>
                </a:solidFill>
                <a:latin typeface="Arial"/>
              </a:rPr>
              <a:t>Mitarbeiterbereich</a:t>
            </a:r>
          </a:p>
          <a:p>
            <a:pPr algn="ctr"/>
            <a:r>
              <a:rPr sz="1080" b="1">
                <a:solidFill>
                  <a:srgbClr val="77716A"/>
                </a:solidFill>
                <a:latin typeface="Arial"/>
              </a:rPr>
              <a:t>Screenshot</a:t>
            </a:r>
          </a:p>
        </p:txBody>
      </p:sp>
      <p:sp>
        <p:nvSpPr>
          <p:cNvPr id="356" name="Rectangle 355"/>
          <p:cNvSpPr/>
          <p:nvPr/>
        </p:nvSpPr>
        <p:spPr>
          <a:xfrm>
            <a:off x="7607807" y="4498848"/>
            <a:ext cx="1655064" cy="612648"/>
          </a:xfrm>
          <a:prstGeom prst="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ounded Rectangle 356"/>
          <p:cNvSpPr/>
          <p:nvPr/>
        </p:nvSpPr>
        <p:spPr>
          <a:xfrm>
            <a:off x="914400" y="5806440"/>
            <a:ext cx="9966960" cy="347472"/>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100" b="0">
                <a:solidFill>
                  <a:srgbClr val="2E3440"/>
                </a:solidFill>
                <a:latin typeface="Arial"/>
              </a:rPr>
              <a:t>Ziel der Oberfläche: einfache Bedienung und klare Trennung nach Rolle.</a:t>
            </a:r>
          </a:p>
        </p:txBody>
      </p:sp>
      <p:sp>
        <p:nvSpPr>
          <p:cNvPr id="358" name="TextBox 357"/>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11</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341" name="Shape 341"/>
        <p:cNvGrpSpPr/>
        <p:nvPr/>
      </p:nvGrpSpPr>
      <p:grpSpPr>
        <a:xfrm>
          <a:off x="0" y="0"/>
          <a:ext cx="0" cy="0"/>
          <a:chOff x="0" y="0"/>
          <a:chExt cx="0" cy="0"/>
        </a:xfrm>
      </p:grpSpPr>
      <p:sp>
        <p:nvSpPr>
          <p:cNvPr id="342" name="Google Shape;342;p26"/>
          <p:cNvSpPr/>
          <p:nvPr/>
        </p:nvSpPr>
        <p:spPr>
          <a:xfrm>
            <a:off x="0" y="0"/>
            <a:ext cx="12191695" cy="384048"/>
          </a:xfrm>
          <a:prstGeom prst="rect">
            <a:avLst/>
          </a:prstGeom>
          <a:solidFill>
            <a:srgbClr val="0B0907"/>
          </a:solidFill>
          <a:ln cap="flat" cmpd="sng" w="12700">
            <a:solidFill>
              <a:srgbClr val="0B090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6"/>
          <p:cNvSpPr/>
          <p:nvPr/>
        </p:nvSpPr>
        <p:spPr>
          <a:xfrm>
            <a:off x="621792" y="118872"/>
            <a:ext cx="42976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Arial"/>
              <a:buNone/>
            </a:pPr>
            <a:r>
              <a:rPr b="1" lang="en-US" sz="850">
                <a:solidFill>
                  <a:srgbClr val="FFFFFF"/>
                </a:solidFill>
                <a:latin typeface="Arial"/>
                <a:ea typeface="Arial"/>
                <a:cs typeface="Arial"/>
                <a:sym typeface="Arial"/>
              </a:rPr>
              <a:t>MavaziHub · African Fashion Store</a:t>
            </a:r>
            <a:endParaRPr sz="850">
              <a:solidFill>
                <a:schemeClr val="dk1"/>
              </a:solidFill>
              <a:latin typeface="Arial"/>
              <a:ea typeface="Arial"/>
              <a:cs typeface="Arial"/>
              <a:sym typeface="Arial"/>
            </a:endParaRPr>
          </a:p>
        </p:txBody>
      </p:sp>
      <p:sp>
        <p:nvSpPr>
          <p:cNvPr id="344" name="Google Shape;344;p26"/>
          <p:cNvSpPr/>
          <p:nvPr/>
        </p:nvSpPr>
        <p:spPr>
          <a:xfrm>
            <a:off x="8686800" y="118872"/>
            <a:ext cx="283464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850"/>
              <a:buFont typeface="Arial"/>
              <a:buNone/>
            </a:pPr>
            <a:r>
              <a:rPr lang="en-US" sz="850">
                <a:solidFill>
                  <a:srgbClr val="FFFFFF"/>
                </a:solidFill>
                <a:latin typeface="Arial"/>
                <a:ea typeface="Arial"/>
                <a:cs typeface="Arial"/>
                <a:sym typeface="Arial"/>
              </a:rPr>
              <a:t>L03 Abschlusspräsentation</a:t>
            </a:r>
            <a:endParaRPr sz="850">
              <a:solidFill>
                <a:schemeClr val="dk1"/>
              </a:solidFill>
              <a:latin typeface="Arial"/>
              <a:ea typeface="Arial"/>
              <a:cs typeface="Arial"/>
              <a:sym typeface="Arial"/>
            </a:endParaRPr>
          </a:p>
        </p:txBody>
      </p:sp>
      <p:sp>
        <p:nvSpPr>
          <p:cNvPr id="345" name="Google Shape;345;p26"/>
          <p:cNvSpPr/>
          <p:nvPr/>
        </p:nvSpPr>
        <p:spPr>
          <a:xfrm>
            <a:off x="621792" y="621792"/>
            <a:ext cx="329184" cy="329184"/>
          </a:xfrm>
          <a:prstGeom prst="ellipse">
            <a:avLst/>
          </a:prstGeom>
          <a:solidFill>
            <a:srgbClr val="5B2619"/>
          </a:solidFill>
          <a:ln cap="flat" cmpd="sng" w="12700">
            <a:solidFill>
              <a:srgbClr val="5B26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6"/>
          <p:cNvSpPr/>
          <p:nvPr/>
        </p:nvSpPr>
        <p:spPr>
          <a:xfrm>
            <a:off x="667512" y="717804"/>
            <a:ext cx="237744" cy="91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50"/>
              <a:buFont typeface="Arial"/>
              <a:buNone/>
            </a:pPr>
            <a:r>
              <a:rPr b="1" lang="en-US" sz="650">
                <a:solidFill>
                  <a:srgbClr val="FFFFFF"/>
                </a:solidFill>
                <a:latin typeface="Arial"/>
                <a:ea typeface="Arial"/>
                <a:cs typeface="Arial"/>
                <a:sym typeface="Arial"/>
              </a:rPr>
              <a:t>MH</a:t>
            </a:r>
            <a:endParaRPr sz="650">
              <a:solidFill>
                <a:schemeClr val="dk1"/>
              </a:solidFill>
              <a:latin typeface="Arial"/>
              <a:ea typeface="Arial"/>
              <a:cs typeface="Arial"/>
              <a:sym typeface="Arial"/>
            </a:endParaRPr>
          </a:p>
        </p:txBody>
      </p:sp>
      <p:sp>
        <p:nvSpPr>
          <p:cNvPr id="347" name="Google Shape;347;p26"/>
          <p:cNvSpPr/>
          <p:nvPr/>
        </p:nvSpPr>
        <p:spPr>
          <a:xfrm>
            <a:off x="1024128" y="585216"/>
            <a:ext cx="1920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440"/>
              </a:buClr>
              <a:buSzPts val="1600"/>
              <a:buFont typeface="Arial"/>
              <a:buNone/>
            </a:pPr>
            <a:r>
              <a:rPr b="1" lang="en-US" sz="1600">
                <a:solidFill>
                  <a:srgbClr val="2E3440"/>
                </a:solidFill>
                <a:latin typeface="Arial"/>
                <a:ea typeface="Arial"/>
                <a:cs typeface="Arial"/>
                <a:sym typeface="Arial"/>
              </a:rPr>
              <a:t>MavaziHub</a:t>
            </a:r>
            <a:endParaRPr sz="1600">
              <a:solidFill>
                <a:schemeClr val="dk1"/>
              </a:solidFill>
              <a:latin typeface="Arial"/>
              <a:ea typeface="Arial"/>
              <a:cs typeface="Arial"/>
              <a:sym typeface="Arial"/>
            </a:endParaRPr>
          </a:p>
        </p:txBody>
      </p:sp>
      <p:sp>
        <p:nvSpPr>
          <p:cNvPr id="348" name="Google Shape;348;p26"/>
          <p:cNvSpPr/>
          <p:nvPr/>
        </p:nvSpPr>
        <p:spPr>
          <a:xfrm>
            <a:off x="1024128" y="877824"/>
            <a:ext cx="2011680"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752A"/>
              </a:buClr>
              <a:buSzPts val="650"/>
              <a:buFont typeface="Arial"/>
              <a:buNone/>
            </a:pPr>
            <a:r>
              <a:rPr b="1" lang="en-US" sz="650">
                <a:solidFill>
                  <a:srgbClr val="C8752A"/>
                </a:solidFill>
                <a:latin typeface="Arial"/>
                <a:ea typeface="Arial"/>
                <a:cs typeface="Arial"/>
                <a:sym typeface="Arial"/>
              </a:rPr>
              <a:t>African Fashion Store</a:t>
            </a:r>
            <a:endParaRPr sz="650">
              <a:solidFill>
                <a:schemeClr val="dk1"/>
              </a:solidFill>
              <a:latin typeface="Arial"/>
              <a:ea typeface="Arial"/>
              <a:cs typeface="Arial"/>
              <a:sym typeface="Arial"/>
            </a:endParaRPr>
          </a:p>
        </p:txBody>
      </p:sp>
      <p:sp>
        <p:nvSpPr>
          <p:cNvPr id="350" name="Google Shape;350;p26"/>
          <p:cNvSpPr/>
          <p:nvPr/>
        </p:nvSpPr>
        <p:spPr>
          <a:xfrm>
            <a:off x="713232" y="1243584"/>
            <a:ext cx="6675120" cy="493776"/>
          </a:xfrm>
          <a:prstGeom prst="rect">
            <a:avLst/>
          </a:prstGeom>
          <a:noFill/>
          <a:ln>
            <a:noFill/>
          </a:ln>
        </p:spPr>
        <p:txBody>
          <a:bodyPr anchorCtr="0" anchor="ctr" bIns="27432" lIns="73152" spcFirstLastPara="1" rIns="73152" wrap="square" tIns="27432">
            <a:noAutofit/>
          </a:bodyPr>
          <a:lstStyle/>
          <a:p>
            <a:r>
              <a:rPr sz="2700" b="1">
                <a:solidFill>
                  <a:srgbClr val="2E3440"/>
                </a:solidFill>
                <a:latin typeface="Arial"/>
              </a:rPr>
              <a:t>Umsetzung / aktueller Stand</a:t>
            </a:r>
          </a:p>
        </p:txBody>
      </p:sp>
      <p:sp>
        <p:nvSpPr>
          <p:cNvPr id="351" name="Google Shape;351;p26"/>
          <p:cNvSpPr/>
          <p:nvPr/>
        </p:nvSpPr>
        <p:spPr>
          <a:xfrm>
            <a:off x="713232" y="1847088"/>
            <a:ext cx="6675120" cy="329184"/>
          </a:xfrm>
          <a:prstGeom prst="rect">
            <a:avLst/>
          </a:prstGeom>
          <a:noFill/>
          <a:ln>
            <a:noFill/>
          </a:ln>
        </p:spPr>
        <p:txBody>
          <a:bodyPr anchorCtr="0" anchor="ctr" bIns="27432" lIns="73152" spcFirstLastPara="1" rIns="73152" wrap="square" tIns="27432">
            <a:noAutofit/>
          </a:bodyPr>
          <a:lstStyle/>
          <a:p>
            <a:r>
              <a:rPr sz="1150" b="0">
                <a:solidFill>
                  <a:srgbClr val="77716A"/>
                </a:solidFill>
                <a:latin typeface="Arial"/>
              </a:rPr>
              <a:t>Was im MVP bereits funktionsfähig ist</a:t>
            </a:r>
          </a:p>
        </p:txBody>
      </p:sp>
      <p:pic>
        <p:nvPicPr>
          <p:cNvPr id="354" name="Google Shape;354;p26"/>
          <p:cNvPicPr preferRelativeResize="0"/>
          <p:nvPr/>
        </p:nvPicPr>
        <p:blipFill>
          <a:blip r:embed="rId3">
            <a:alphaModFix/>
          </a:blip>
          <a:stretch>
            <a:fillRect/>
          </a:stretch>
        </p:blipFill>
        <p:spPr>
          <a:xfrm>
            <a:off x="8261575" y="546075"/>
            <a:ext cx="3572926" cy="6193077"/>
          </a:xfrm>
          <a:prstGeom prst="rect">
            <a:avLst/>
          </a:prstGeom>
          <a:noFill/>
          <a:ln>
            <a:noFill/>
          </a:ln>
        </p:spPr>
      </p:pic>
      <p:sp>
        <p:nvSpPr>
          <p:cNvPr id="355" name="TextBox 354"/>
          <p:cNvSpPr txBox="1"/>
          <p:nvPr/>
        </p:nvSpPr>
        <p:spPr>
          <a:xfrm>
            <a:off x="8961120" y="786384"/>
            <a:ext cx="2377440" cy="128016"/>
          </a:xfrm>
          <a:prstGeom prst="rect">
            <a:avLst/>
          </a:prstGeom>
          <a:noFill/>
        </p:spPr>
        <p:txBody>
          <a:bodyPr wrap="square" lIns="73152" rIns="73152" tIns="27432" bIns="27432">
            <a:spAutoFit/>
          </a:bodyPr>
          <a:lstStyle/>
          <a:p>
            <a:pPr algn="r"/>
            <a:r>
              <a:rPr sz="750" b="0">
                <a:solidFill>
                  <a:srgbClr val="77716A"/>
                </a:solidFill>
                <a:latin typeface="Arial"/>
              </a:rPr>
              <a:t>Verantwortlich: Person 4</a:t>
            </a:r>
          </a:p>
        </p:txBody>
      </p:sp>
      <p:sp>
        <p:nvSpPr>
          <p:cNvPr id="357" name="TextBox 356"/>
          <p:cNvSpPr txBox="1"/>
          <p:nvPr/>
        </p:nvSpPr>
        <p:spPr>
          <a:xfrm>
            <a:off x="868680" y="2487168"/>
            <a:ext cx="4389120" cy="274320"/>
          </a:xfrm>
          <a:prstGeom prst="rect">
            <a:avLst/>
          </a:prstGeom>
          <a:noFill/>
        </p:spPr>
        <p:txBody>
          <a:bodyPr wrap="square" lIns="73152" rIns="73152" tIns="27432" bIns="27432">
            <a:spAutoFit/>
          </a:bodyPr>
          <a:lstStyle/>
          <a:p>
            <a:r>
              <a:rPr sz="1400" b="1">
                <a:solidFill>
                  <a:srgbClr val="C8752A"/>
                </a:solidFill>
                <a:latin typeface="Arial"/>
              </a:rPr>
              <a:t>Aktueller Stand</a:t>
            </a:r>
          </a:p>
        </p:txBody>
      </p:sp>
      <p:sp>
        <p:nvSpPr>
          <p:cNvPr id="358" name="Rounded Rectangle 357"/>
          <p:cNvSpPr/>
          <p:nvPr/>
        </p:nvSpPr>
        <p:spPr>
          <a:xfrm>
            <a:off x="868680" y="2852928"/>
            <a:ext cx="4754880" cy="2240280"/>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ounded Rectangle 358"/>
          <p:cNvSpPr/>
          <p:nvPr/>
        </p:nvSpPr>
        <p:spPr>
          <a:xfrm>
            <a:off x="1078992" y="3108960"/>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TextBox 359"/>
          <p:cNvSpPr txBox="1"/>
          <p:nvPr/>
        </p:nvSpPr>
        <p:spPr>
          <a:xfrm>
            <a:off x="1371600" y="3044952"/>
            <a:ext cx="3913631" cy="256032"/>
          </a:xfrm>
          <a:prstGeom prst="rect">
            <a:avLst/>
          </a:prstGeom>
          <a:noFill/>
        </p:spPr>
        <p:txBody>
          <a:bodyPr wrap="square" lIns="73152" rIns="73152" tIns="27432" bIns="27432">
            <a:spAutoFit/>
          </a:bodyPr>
          <a:lstStyle/>
          <a:p>
            <a:r>
              <a:rPr sz="1050" b="0">
                <a:solidFill>
                  <a:srgbClr val="2E3440"/>
                </a:solidFill>
                <a:latin typeface="Arial"/>
              </a:rPr>
              <a:t>Frontend und Backend laufen lokal zusammen</a:t>
            </a:r>
          </a:p>
        </p:txBody>
      </p:sp>
      <p:sp>
        <p:nvSpPr>
          <p:cNvPr id="361" name="Rounded Rectangle 360"/>
          <p:cNvSpPr/>
          <p:nvPr/>
        </p:nvSpPr>
        <p:spPr>
          <a:xfrm>
            <a:off x="1078992" y="3447288"/>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371600" y="3383280"/>
            <a:ext cx="3913631" cy="256032"/>
          </a:xfrm>
          <a:prstGeom prst="rect">
            <a:avLst/>
          </a:prstGeom>
          <a:noFill/>
        </p:spPr>
        <p:txBody>
          <a:bodyPr wrap="square" lIns="73152" rIns="73152" tIns="27432" bIns="27432">
            <a:spAutoFit/>
          </a:bodyPr>
          <a:lstStyle/>
          <a:p>
            <a:r>
              <a:rPr sz="1050" b="0">
                <a:solidFill>
                  <a:srgbClr val="2E3440"/>
                </a:solidFill>
                <a:latin typeface="Arial"/>
              </a:rPr>
              <a:t>PostgreSQL ist über Docker Compose angebunden</a:t>
            </a:r>
          </a:p>
        </p:txBody>
      </p:sp>
      <p:sp>
        <p:nvSpPr>
          <p:cNvPr id="363" name="Rounded Rectangle 362"/>
          <p:cNvSpPr/>
          <p:nvPr/>
        </p:nvSpPr>
        <p:spPr>
          <a:xfrm>
            <a:off x="1078992" y="3785615"/>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TextBox 363"/>
          <p:cNvSpPr txBox="1"/>
          <p:nvPr/>
        </p:nvSpPr>
        <p:spPr>
          <a:xfrm>
            <a:off x="1371600" y="3721608"/>
            <a:ext cx="3913631" cy="256032"/>
          </a:xfrm>
          <a:prstGeom prst="rect">
            <a:avLst/>
          </a:prstGeom>
          <a:noFill/>
        </p:spPr>
        <p:txBody>
          <a:bodyPr wrap="square" lIns="73152" rIns="73152" tIns="27432" bIns="27432">
            <a:spAutoFit/>
          </a:bodyPr>
          <a:lstStyle/>
          <a:p>
            <a:r>
              <a:rPr sz="1050" b="0">
                <a:solidFill>
                  <a:srgbClr val="2E3440"/>
                </a:solidFill>
                <a:latin typeface="Arial"/>
              </a:rPr>
              <a:t>Datenbankstruktur über Flyway-Migrationen</a:t>
            </a:r>
          </a:p>
        </p:txBody>
      </p:sp>
      <p:sp>
        <p:nvSpPr>
          <p:cNvPr id="365" name="Rounded Rectangle 364"/>
          <p:cNvSpPr/>
          <p:nvPr/>
        </p:nvSpPr>
        <p:spPr>
          <a:xfrm>
            <a:off x="1078992" y="4123944"/>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TextBox 365"/>
          <p:cNvSpPr txBox="1"/>
          <p:nvPr/>
        </p:nvSpPr>
        <p:spPr>
          <a:xfrm>
            <a:off x="1371600" y="4059936"/>
            <a:ext cx="3913631" cy="256032"/>
          </a:xfrm>
          <a:prstGeom prst="rect">
            <a:avLst/>
          </a:prstGeom>
          <a:noFill/>
        </p:spPr>
        <p:txBody>
          <a:bodyPr wrap="square" lIns="73152" rIns="73152" tIns="27432" bIns="27432">
            <a:spAutoFit/>
          </a:bodyPr>
          <a:lstStyle/>
          <a:p>
            <a:r>
              <a:rPr sz="1050" b="0">
                <a:solidFill>
                  <a:srgbClr val="2E3440"/>
                </a:solidFill>
                <a:latin typeface="Arial"/>
              </a:rPr>
              <a:t>Login, Rollenmodell und geschützte Bereiche</a:t>
            </a:r>
          </a:p>
        </p:txBody>
      </p:sp>
      <p:sp>
        <p:nvSpPr>
          <p:cNvPr id="367" name="Rounded Rectangle 366"/>
          <p:cNvSpPr/>
          <p:nvPr/>
        </p:nvSpPr>
        <p:spPr>
          <a:xfrm>
            <a:off x="1078992" y="4462272"/>
            <a:ext cx="146304" cy="146304"/>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1371600" y="4398264"/>
            <a:ext cx="3913631" cy="256032"/>
          </a:xfrm>
          <a:prstGeom prst="rect">
            <a:avLst/>
          </a:prstGeom>
          <a:noFill/>
        </p:spPr>
        <p:txBody>
          <a:bodyPr wrap="square" lIns="73152" rIns="73152" tIns="27432" bIns="27432">
            <a:spAutoFit/>
          </a:bodyPr>
          <a:lstStyle/>
          <a:p>
            <a:r>
              <a:rPr sz="1050" b="0">
                <a:solidFill>
                  <a:srgbClr val="2E3440"/>
                </a:solidFill>
                <a:latin typeface="Arial"/>
              </a:rPr>
              <a:t>Produkt-, Warenkorb-, Bestell- und Rücksendeprozess</a:t>
            </a:r>
          </a:p>
        </p:txBody>
      </p:sp>
      <p:sp>
        <p:nvSpPr>
          <p:cNvPr id="369" name="TextBox 368"/>
          <p:cNvSpPr txBox="1"/>
          <p:nvPr/>
        </p:nvSpPr>
        <p:spPr>
          <a:xfrm>
            <a:off x="6400800" y="2487168"/>
            <a:ext cx="4389120" cy="274320"/>
          </a:xfrm>
          <a:prstGeom prst="rect">
            <a:avLst/>
          </a:prstGeom>
          <a:noFill/>
        </p:spPr>
        <p:txBody>
          <a:bodyPr wrap="square" lIns="73152" rIns="73152" tIns="27432" bIns="27432">
            <a:spAutoFit/>
          </a:bodyPr>
          <a:lstStyle/>
          <a:p>
            <a:r>
              <a:rPr sz="1400" b="1">
                <a:solidFill>
                  <a:srgbClr val="C8752A"/>
                </a:solidFill>
                <a:latin typeface="Arial"/>
              </a:rPr>
              <a:t>Einordnung</a:t>
            </a:r>
          </a:p>
        </p:txBody>
      </p:sp>
      <p:sp>
        <p:nvSpPr>
          <p:cNvPr id="370" name="Rounded Rectangle 369"/>
          <p:cNvSpPr/>
          <p:nvPr/>
        </p:nvSpPr>
        <p:spPr>
          <a:xfrm>
            <a:off x="6400800" y="2852928"/>
            <a:ext cx="4251960" cy="960120"/>
          </a:xfrm>
          <a:prstGeom prst="roundRect">
            <a:avLst/>
          </a:prstGeom>
          <a:solidFill>
            <a:srgbClr val="E0EEE5"/>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a:solidFill>
                  <a:srgbClr val="2E3440"/>
                </a:solidFill>
                <a:latin typeface="Arial"/>
              </a:rPr>
              <a:t>Lauffähige Laborversion</a:t>
            </a:r>
          </a:p>
          <a:p>
            <a:pPr algn="ctr"/>
            <a:r>
              <a:rPr sz="1400" b="1">
                <a:solidFill>
                  <a:srgbClr val="2E3440"/>
                </a:solidFill>
                <a:latin typeface="Arial"/>
              </a:rPr>
              <a:t>für Präsentation und Weiterentwicklung</a:t>
            </a:r>
          </a:p>
        </p:txBody>
      </p:sp>
      <p:sp>
        <p:nvSpPr>
          <p:cNvPr id="371" name="Rounded Rectangle 370"/>
          <p:cNvSpPr/>
          <p:nvPr/>
        </p:nvSpPr>
        <p:spPr>
          <a:xfrm>
            <a:off x="6400800" y="4160520"/>
            <a:ext cx="4251960" cy="914400"/>
          </a:xfrm>
          <a:prstGeom prst="roundRect">
            <a:avLst/>
          </a:prstGeom>
          <a:solidFill>
            <a:srgbClr val="F2E2D3"/>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a:solidFill>
                  <a:srgbClr val="2E3440"/>
                </a:solidFill>
                <a:latin typeface="Arial"/>
              </a:rPr>
              <a:t>Noch kein Produktivsystem</a:t>
            </a:r>
          </a:p>
          <a:p>
            <a:pPr algn="ctr"/>
            <a:r>
              <a:rPr sz="1400" b="1">
                <a:solidFill>
                  <a:srgbClr val="2E3440"/>
                </a:solidFill>
                <a:latin typeface="Arial"/>
              </a:rPr>
              <a:t>aber fachlich und technisch erweiterbar</a:t>
            </a:r>
          </a:p>
        </p:txBody>
      </p:sp>
      <p:sp>
        <p:nvSpPr>
          <p:cNvPr id="372" name="Rounded Rectangle 371"/>
          <p:cNvSpPr/>
          <p:nvPr/>
        </p:nvSpPr>
        <p:spPr>
          <a:xfrm>
            <a:off x="868680" y="5532120"/>
            <a:ext cx="9784080" cy="457200"/>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150" b="0">
                <a:solidFill>
                  <a:srgbClr val="2E3440"/>
                </a:solidFill>
                <a:latin typeface="Arial"/>
              </a:rPr>
              <a:t>Der MVP zeigt den Kernprozess Ende-zu-Ende und liefert eine belastbare Grundlage für die nächste Ausbaustufe.</a:t>
            </a:r>
          </a:p>
        </p:txBody>
      </p:sp>
      <p:sp>
        <p:nvSpPr>
          <p:cNvPr id="373" name="TextBox 372"/>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359" name="Shape 359"/>
        <p:cNvGrpSpPr/>
        <p:nvPr/>
      </p:nvGrpSpPr>
      <p:grpSpPr>
        <a:xfrm>
          <a:off x="0" y="0"/>
          <a:ext cx="0" cy="0"/>
          <a:chOff x="0" y="0"/>
          <a:chExt cx="0" cy="0"/>
        </a:xfrm>
      </p:grpSpPr>
      <p:sp>
        <p:nvSpPr>
          <p:cNvPr id="360" name="Google Shape;360;p27"/>
          <p:cNvSpPr/>
          <p:nvPr/>
        </p:nvSpPr>
        <p:spPr>
          <a:xfrm>
            <a:off x="0" y="0"/>
            <a:ext cx="12191695" cy="384048"/>
          </a:xfrm>
          <a:prstGeom prst="rect">
            <a:avLst/>
          </a:prstGeom>
          <a:solidFill>
            <a:srgbClr val="0B0907"/>
          </a:solidFill>
          <a:ln cap="flat" cmpd="sng" w="12700">
            <a:solidFill>
              <a:srgbClr val="0B090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7"/>
          <p:cNvSpPr/>
          <p:nvPr/>
        </p:nvSpPr>
        <p:spPr>
          <a:xfrm>
            <a:off x="621792" y="118872"/>
            <a:ext cx="42976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Arial"/>
              <a:buNone/>
            </a:pPr>
            <a:r>
              <a:rPr b="1" lang="en-US" sz="850">
                <a:solidFill>
                  <a:srgbClr val="FFFFFF"/>
                </a:solidFill>
                <a:latin typeface="Arial"/>
                <a:ea typeface="Arial"/>
                <a:cs typeface="Arial"/>
                <a:sym typeface="Arial"/>
              </a:rPr>
              <a:t>MavaziHub · African Fashion Store</a:t>
            </a:r>
            <a:endParaRPr sz="850">
              <a:solidFill>
                <a:schemeClr val="dk1"/>
              </a:solidFill>
              <a:latin typeface="Arial"/>
              <a:ea typeface="Arial"/>
              <a:cs typeface="Arial"/>
              <a:sym typeface="Arial"/>
            </a:endParaRPr>
          </a:p>
        </p:txBody>
      </p:sp>
      <p:sp>
        <p:nvSpPr>
          <p:cNvPr id="362" name="Google Shape;362;p27"/>
          <p:cNvSpPr/>
          <p:nvPr/>
        </p:nvSpPr>
        <p:spPr>
          <a:xfrm>
            <a:off x="8686800" y="118872"/>
            <a:ext cx="283464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850"/>
              <a:buFont typeface="Arial"/>
              <a:buNone/>
            </a:pPr>
            <a:r>
              <a:rPr lang="en-US" sz="850">
                <a:solidFill>
                  <a:srgbClr val="FFFFFF"/>
                </a:solidFill>
                <a:latin typeface="Arial"/>
                <a:ea typeface="Arial"/>
                <a:cs typeface="Arial"/>
                <a:sym typeface="Arial"/>
              </a:rPr>
              <a:t>L03 Abschlusspräsentation</a:t>
            </a:r>
            <a:endParaRPr sz="850">
              <a:solidFill>
                <a:schemeClr val="dk1"/>
              </a:solidFill>
              <a:latin typeface="Arial"/>
              <a:ea typeface="Arial"/>
              <a:cs typeface="Arial"/>
              <a:sym typeface="Arial"/>
            </a:endParaRPr>
          </a:p>
        </p:txBody>
      </p:sp>
      <p:sp>
        <p:nvSpPr>
          <p:cNvPr id="363" name="Google Shape;363;p27"/>
          <p:cNvSpPr/>
          <p:nvPr/>
        </p:nvSpPr>
        <p:spPr>
          <a:xfrm>
            <a:off x="621792" y="621792"/>
            <a:ext cx="329184" cy="329184"/>
          </a:xfrm>
          <a:prstGeom prst="ellipse">
            <a:avLst/>
          </a:prstGeom>
          <a:solidFill>
            <a:srgbClr val="5B2619"/>
          </a:solidFill>
          <a:ln cap="flat" cmpd="sng" w="12700">
            <a:solidFill>
              <a:srgbClr val="5B26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7"/>
          <p:cNvSpPr/>
          <p:nvPr/>
        </p:nvSpPr>
        <p:spPr>
          <a:xfrm>
            <a:off x="667512" y="717804"/>
            <a:ext cx="237744" cy="91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50"/>
              <a:buFont typeface="Arial"/>
              <a:buNone/>
            </a:pPr>
            <a:r>
              <a:rPr b="1" lang="en-US" sz="650">
                <a:solidFill>
                  <a:srgbClr val="FFFFFF"/>
                </a:solidFill>
                <a:latin typeface="Arial"/>
                <a:ea typeface="Arial"/>
                <a:cs typeface="Arial"/>
                <a:sym typeface="Arial"/>
              </a:rPr>
              <a:t>MH</a:t>
            </a:r>
            <a:endParaRPr sz="650">
              <a:solidFill>
                <a:schemeClr val="dk1"/>
              </a:solidFill>
              <a:latin typeface="Arial"/>
              <a:ea typeface="Arial"/>
              <a:cs typeface="Arial"/>
              <a:sym typeface="Arial"/>
            </a:endParaRPr>
          </a:p>
        </p:txBody>
      </p:sp>
      <p:sp>
        <p:nvSpPr>
          <p:cNvPr id="365" name="Google Shape;365;p27"/>
          <p:cNvSpPr/>
          <p:nvPr/>
        </p:nvSpPr>
        <p:spPr>
          <a:xfrm>
            <a:off x="1024128" y="585216"/>
            <a:ext cx="1920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440"/>
              </a:buClr>
              <a:buSzPts val="1600"/>
              <a:buFont typeface="Arial"/>
              <a:buNone/>
            </a:pPr>
            <a:r>
              <a:rPr b="1" lang="en-US" sz="1600">
                <a:solidFill>
                  <a:srgbClr val="2E3440"/>
                </a:solidFill>
                <a:latin typeface="Arial"/>
                <a:ea typeface="Arial"/>
                <a:cs typeface="Arial"/>
                <a:sym typeface="Arial"/>
              </a:rPr>
              <a:t>MavaziHub</a:t>
            </a:r>
            <a:endParaRPr sz="1600">
              <a:solidFill>
                <a:schemeClr val="dk1"/>
              </a:solidFill>
              <a:latin typeface="Arial"/>
              <a:ea typeface="Arial"/>
              <a:cs typeface="Arial"/>
              <a:sym typeface="Arial"/>
            </a:endParaRPr>
          </a:p>
        </p:txBody>
      </p:sp>
      <p:sp>
        <p:nvSpPr>
          <p:cNvPr id="366" name="Google Shape;366;p27"/>
          <p:cNvSpPr/>
          <p:nvPr/>
        </p:nvSpPr>
        <p:spPr>
          <a:xfrm>
            <a:off x="1024128" y="877824"/>
            <a:ext cx="2011680"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752A"/>
              </a:buClr>
              <a:buSzPts val="650"/>
              <a:buFont typeface="Arial"/>
              <a:buNone/>
            </a:pPr>
            <a:r>
              <a:rPr b="1" lang="en-US" sz="650">
                <a:solidFill>
                  <a:srgbClr val="C8752A"/>
                </a:solidFill>
                <a:latin typeface="Arial"/>
                <a:ea typeface="Arial"/>
                <a:cs typeface="Arial"/>
                <a:sym typeface="Arial"/>
              </a:rPr>
              <a:t>African Fashion Store</a:t>
            </a:r>
            <a:endParaRPr sz="650">
              <a:solidFill>
                <a:schemeClr val="dk1"/>
              </a:solidFill>
              <a:latin typeface="Arial"/>
              <a:ea typeface="Arial"/>
              <a:cs typeface="Arial"/>
              <a:sym typeface="Arial"/>
            </a:endParaRPr>
          </a:p>
        </p:txBody>
      </p:sp>
      <p:sp>
        <p:nvSpPr>
          <p:cNvPr id="368" name="Google Shape;368;p27"/>
          <p:cNvSpPr/>
          <p:nvPr/>
        </p:nvSpPr>
        <p:spPr>
          <a:xfrm>
            <a:off x="713232" y="1243584"/>
            <a:ext cx="6675120" cy="493776"/>
          </a:xfrm>
          <a:prstGeom prst="rect">
            <a:avLst/>
          </a:prstGeom>
          <a:noFill/>
          <a:ln>
            <a:noFill/>
          </a:ln>
        </p:spPr>
        <p:txBody>
          <a:bodyPr anchorCtr="0" anchor="ctr" bIns="27432" lIns="73152" spcFirstLastPara="1" rIns="73152" wrap="square" tIns="27432">
            <a:noAutofit/>
          </a:bodyPr>
          <a:lstStyle/>
          <a:p>
            <a:r>
              <a:rPr sz="2700" b="1">
                <a:solidFill>
                  <a:srgbClr val="2E3440"/>
                </a:solidFill>
                <a:latin typeface="Arial"/>
              </a:rPr>
              <a:t>Live-Demo Ablauf</a:t>
            </a:r>
          </a:p>
        </p:txBody>
      </p:sp>
      <p:sp>
        <p:nvSpPr>
          <p:cNvPr id="369" name="Google Shape;369;p27"/>
          <p:cNvSpPr/>
          <p:nvPr/>
        </p:nvSpPr>
        <p:spPr>
          <a:xfrm>
            <a:off x="713232" y="1847088"/>
            <a:ext cx="6675120" cy="329184"/>
          </a:xfrm>
          <a:prstGeom prst="rect">
            <a:avLst/>
          </a:prstGeom>
          <a:noFill/>
          <a:ln>
            <a:noFill/>
          </a:ln>
        </p:spPr>
        <p:txBody>
          <a:bodyPr anchorCtr="0" anchor="ctr" bIns="27432" lIns="73152" spcFirstLastPara="1" rIns="73152" wrap="square" tIns="27432">
            <a:noAutofit/>
          </a:bodyPr>
          <a:lstStyle/>
          <a:p>
            <a:r>
              <a:rPr sz="1150" b="0">
                <a:solidFill>
                  <a:srgbClr val="77716A"/>
                </a:solidFill>
                <a:latin typeface="Arial"/>
              </a:rPr>
              <a:t>Die Demo folgt einem realistischen Kaufprozess</a:t>
            </a:r>
          </a:p>
        </p:txBody>
      </p:sp>
      <p:sp>
        <p:nvSpPr>
          <p:cNvPr id="371" name="Google Shape;371;p27"/>
          <p:cNvSpPr/>
          <p:nvPr/>
        </p:nvSpPr>
        <p:spPr>
          <a:xfrm>
            <a:off x="8823960" y="694944"/>
            <a:ext cx="2651760" cy="310896"/>
          </a:xfrm>
          <a:prstGeom prst="roundRect">
            <a:avLst>
              <a:gd fmla="val 11765" name="adj"/>
            </a:avLst>
          </a:prstGeom>
          <a:solidFill>
            <a:srgbClr val="FFFDF8"/>
          </a:solidFill>
          <a:ln cap="flat" cmpd="sng" w="9525">
            <a:solidFill>
              <a:srgbClr val="E7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7"/>
          <p:cNvSpPr/>
          <p:nvPr/>
        </p:nvSpPr>
        <p:spPr>
          <a:xfrm>
            <a:off x="8961120" y="786384"/>
            <a:ext cx="2377440" cy="91440"/>
          </a:xfrm>
          <a:prstGeom prst="rect">
            <a:avLst/>
          </a:prstGeom>
          <a:noFill/>
          <a:ln>
            <a:noFill/>
          </a:ln>
        </p:spPr>
        <p:txBody>
          <a:bodyPr anchorCtr="0" anchor="ctr" bIns="27432" lIns="73152" spcFirstLastPara="1" rIns="73152" wrap="square" tIns="27432">
            <a:noAutofit/>
          </a:bodyPr>
          <a:lstStyle/>
          <a:p>
            <a:pPr algn="r"/>
            <a:r>
              <a:rPr sz="750" b="0">
                <a:solidFill>
                  <a:srgbClr val="77716A"/>
                </a:solidFill>
                <a:latin typeface="Arial"/>
              </a:rPr>
              <a:t>Verantwortlich: Demo-Team</a:t>
            </a:r>
          </a:p>
        </p:txBody>
      </p:sp>
      <p:sp>
        <p:nvSpPr>
          <p:cNvPr id="374" name="TextBox 373"/>
          <p:cNvSpPr txBox="1"/>
          <p:nvPr/>
        </p:nvSpPr>
        <p:spPr>
          <a:xfrm>
            <a:off x="868680" y="2395728"/>
            <a:ext cx="4389120" cy="274320"/>
          </a:xfrm>
          <a:prstGeom prst="rect">
            <a:avLst/>
          </a:prstGeom>
          <a:noFill/>
        </p:spPr>
        <p:txBody>
          <a:bodyPr wrap="square" lIns="73152" rIns="73152" tIns="27432" bIns="27432">
            <a:spAutoFit/>
          </a:bodyPr>
          <a:lstStyle/>
          <a:p>
            <a:r>
              <a:rPr sz="1400" b="1">
                <a:solidFill>
                  <a:srgbClr val="C8752A"/>
                </a:solidFill>
                <a:latin typeface="Arial"/>
              </a:rPr>
              <a:t>Ablauf</a:t>
            </a:r>
          </a:p>
        </p:txBody>
      </p:sp>
      <p:sp>
        <p:nvSpPr>
          <p:cNvPr id="375" name="Rounded Rectangle 374"/>
          <p:cNvSpPr/>
          <p:nvPr/>
        </p:nvSpPr>
        <p:spPr>
          <a:xfrm>
            <a:off x="868680" y="2761488"/>
            <a:ext cx="292608" cy="25603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850" b="1">
                <a:solidFill>
                  <a:srgbClr val="FFFFFF"/>
                </a:solidFill>
                <a:latin typeface="Arial"/>
              </a:rPr>
              <a:t>1</a:t>
            </a:r>
          </a:p>
        </p:txBody>
      </p:sp>
      <p:sp>
        <p:nvSpPr>
          <p:cNvPr id="376" name="TextBox 375"/>
          <p:cNvSpPr txBox="1"/>
          <p:nvPr/>
        </p:nvSpPr>
        <p:spPr>
          <a:xfrm>
            <a:off x="1280160" y="2752344"/>
            <a:ext cx="4526280" cy="274320"/>
          </a:xfrm>
          <a:prstGeom prst="rect">
            <a:avLst/>
          </a:prstGeom>
          <a:noFill/>
        </p:spPr>
        <p:txBody>
          <a:bodyPr wrap="square" lIns="73152" rIns="73152" tIns="27432" bIns="27432">
            <a:spAutoFit/>
          </a:bodyPr>
          <a:lstStyle/>
          <a:p>
            <a:r>
              <a:rPr sz="1040" b="0">
                <a:solidFill>
                  <a:srgbClr val="2E3440"/>
                </a:solidFill>
                <a:latin typeface="Arial"/>
              </a:rPr>
              <a:t>Startseite und Produktübersicht öffnen</a:t>
            </a:r>
          </a:p>
        </p:txBody>
      </p:sp>
      <p:cxnSp>
        <p:nvCxnSpPr>
          <p:cNvPr id="377" name="Connector 376"/>
          <p:cNvCxnSpPr/>
          <p:nvPr/>
        </p:nvCxnSpPr>
        <p:spPr>
          <a:xfrm>
            <a:off x="1014984" y="3017520"/>
            <a:ext cx="0" cy="73152"/>
          </a:xfrm>
          <a:prstGeom prst="line">
            <a:avLst/>
          </a:prstGeom>
          <a:ln w="12700">
            <a:solidFill>
              <a:srgbClr val="DCD4CA"/>
            </a:solidFill>
          </a:ln>
        </p:spPr>
        <p:style>
          <a:lnRef idx="2">
            <a:schemeClr val="accent1"/>
          </a:lnRef>
          <a:fillRef idx="0">
            <a:schemeClr val="accent1"/>
          </a:fillRef>
          <a:effectRef idx="1">
            <a:schemeClr val="accent1"/>
          </a:effectRef>
          <a:fontRef idx="minor">
            <a:schemeClr val="tx1"/>
          </a:fontRef>
        </p:style>
      </p:cxnSp>
      <p:sp>
        <p:nvSpPr>
          <p:cNvPr id="378" name="Rounded Rectangle 377"/>
          <p:cNvSpPr/>
          <p:nvPr/>
        </p:nvSpPr>
        <p:spPr>
          <a:xfrm>
            <a:off x="868680" y="3090672"/>
            <a:ext cx="292608" cy="25603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850" b="1">
                <a:solidFill>
                  <a:srgbClr val="FFFFFF"/>
                </a:solidFill>
                <a:latin typeface="Arial"/>
              </a:rPr>
              <a:t>2</a:t>
            </a:r>
          </a:p>
        </p:txBody>
      </p:sp>
      <p:sp>
        <p:nvSpPr>
          <p:cNvPr id="379" name="TextBox 378"/>
          <p:cNvSpPr txBox="1"/>
          <p:nvPr/>
        </p:nvSpPr>
        <p:spPr>
          <a:xfrm>
            <a:off x="1280160" y="3081528"/>
            <a:ext cx="4526280" cy="274320"/>
          </a:xfrm>
          <a:prstGeom prst="rect">
            <a:avLst/>
          </a:prstGeom>
          <a:noFill/>
        </p:spPr>
        <p:txBody>
          <a:bodyPr wrap="square" lIns="73152" rIns="73152" tIns="27432" bIns="27432">
            <a:spAutoFit/>
          </a:bodyPr>
          <a:lstStyle/>
          <a:p>
            <a:r>
              <a:rPr sz="1040" b="0">
                <a:solidFill>
                  <a:srgbClr val="2E3440"/>
                </a:solidFill>
                <a:latin typeface="Arial"/>
              </a:rPr>
              <a:t>Produktdetail ansehen</a:t>
            </a:r>
          </a:p>
        </p:txBody>
      </p:sp>
      <p:cxnSp>
        <p:nvCxnSpPr>
          <p:cNvPr id="380" name="Connector 379"/>
          <p:cNvCxnSpPr/>
          <p:nvPr/>
        </p:nvCxnSpPr>
        <p:spPr>
          <a:xfrm>
            <a:off x="1014984" y="3346704"/>
            <a:ext cx="0" cy="73152"/>
          </a:xfrm>
          <a:prstGeom prst="line">
            <a:avLst/>
          </a:prstGeom>
          <a:ln w="12700">
            <a:solidFill>
              <a:srgbClr val="DCD4CA"/>
            </a:solidFill>
          </a:ln>
        </p:spPr>
        <p:style>
          <a:lnRef idx="2">
            <a:schemeClr val="accent1"/>
          </a:lnRef>
          <a:fillRef idx="0">
            <a:schemeClr val="accent1"/>
          </a:fillRef>
          <a:effectRef idx="1">
            <a:schemeClr val="accent1"/>
          </a:effectRef>
          <a:fontRef idx="minor">
            <a:schemeClr val="tx1"/>
          </a:fontRef>
        </p:style>
      </p:cxnSp>
      <p:sp>
        <p:nvSpPr>
          <p:cNvPr id="381" name="Rounded Rectangle 380"/>
          <p:cNvSpPr/>
          <p:nvPr/>
        </p:nvSpPr>
        <p:spPr>
          <a:xfrm>
            <a:off x="868680" y="3419856"/>
            <a:ext cx="292608" cy="25603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850" b="1">
                <a:solidFill>
                  <a:srgbClr val="FFFFFF"/>
                </a:solidFill>
                <a:latin typeface="Arial"/>
              </a:rPr>
              <a:t>3</a:t>
            </a:r>
          </a:p>
        </p:txBody>
      </p:sp>
      <p:sp>
        <p:nvSpPr>
          <p:cNvPr id="382" name="TextBox 381"/>
          <p:cNvSpPr txBox="1"/>
          <p:nvPr/>
        </p:nvSpPr>
        <p:spPr>
          <a:xfrm>
            <a:off x="1280160" y="3410712"/>
            <a:ext cx="4526280" cy="274320"/>
          </a:xfrm>
          <a:prstGeom prst="rect">
            <a:avLst/>
          </a:prstGeom>
          <a:noFill/>
        </p:spPr>
        <p:txBody>
          <a:bodyPr wrap="square" lIns="73152" rIns="73152" tIns="27432" bIns="27432">
            <a:spAutoFit/>
          </a:bodyPr>
          <a:lstStyle/>
          <a:p>
            <a:r>
              <a:rPr sz="1040" b="0">
                <a:solidFill>
                  <a:srgbClr val="2E3440"/>
                </a:solidFill>
                <a:latin typeface="Arial"/>
              </a:rPr>
              <a:t>Einloggen oder registrieren</a:t>
            </a:r>
          </a:p>
        </p:txBody>
      </p:sp>
      <p:cxnSp>
        <p:nvCxnSpPr>
          <p:cNvPr id="383" name="Connector 382"/>
          <p:cNvCxnSpPr/>
          <p:nvPr/>
        </p:nvCxnSpPr>
        <p:spPr>
          <a:xfrm>
            <a:off x="1014984" y="3675888"/>
            <a:ext cx="0" cy="73152"/>
          </a:xfrm>
          <a:prstGeom prst="line">
            <a:avLst/>
          </a:prstGeom>
          <a:ln w="12700">
            <a:solidFill>
              <a:srgbClr val="DCD4CA"/>
            </a:solidFill>
          </a:ln>
        </p:spPr>
        <p:style>
          <a:lnRef idx="2">
            <a:schemeClr val="accent1"/>
          </a:lnRef>
          <a:fillRef idx="0">
            <a:schemeClr val="accent1"/>
          </a:fillRef>
          <a:effectRef idx="1">
            <a:schemeClr val="accent1"/>
          </a:effectRef>
          <a:fontRef idx="minor">
            <a:schemeClr val="tx1"/>
          </a:fontRef>
        </p:style>
      </p:cxnSp>
      <p:sp>
        <p:nvSpPr>
          <p:cNvPr id="384" name="Rounded Rectangle 383"/>
          <p:cNvSpPr/>
          <p:nvPr/>
        </p:nvSpPr>
        <p:spPr>
          <a:xfrm>
            <a:off x="868680" y="3749039"/>
            <a:ext cx="292608" cy="25603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850" b="1">
                <a:solidFill>
                  <a:srgbClr val="FFFFFF"/>
                </a:solidFill>
                <a:latin typeface="Arial"/>
              </a:rPr>
              <a:t>4</a:t>
            </a:r>
          </a:p>
        </p:txBody>
      </p:sp>
      <p:sp>
        <p:nvSpPr>
          <p:cNvPr id="385" name="TextBox 384"/>
          <p:cNvSpPr txBox="1"/>
          <p:nvPr/>
        </p:nvSpPr>
        <p:spPr>
          <a:xfrm>
            <a:off x="1280160" y="3739896"/>
            <a:ext cx="4526280" cy="274320"/>
          </a:xfrm>
          <a:prstGeom prst="rect">
            <a:avLst/>
          </a:prstGeom>
          <a:noFill/>
        </p:spPr>
        <p:txBody>
          <a:bodyPr wrap="square" lIns="73152" rIns="73152" tIns="27432" bIns="27432">
            <a:spAutoFit/>
          </a:bodyPr>
          <a:lstStyle/>
          <a:p>
            <a:r>
              <a:rPr sz="1040" b="0">
                <a:solidFill>
                  <a:srgbClr val="2E3440"/>
                </a:solidFill>
                <a:latin typeface="Arial"/>
              </a:rPr>
              <a:t>Produkt in den Warenkorb legen</a:t>
            </a:r>
          </a:p>
        </p:txBody>
      </p:sp>
      <p:cxnSp>
        <p:nvCxnSpPr>
          <p:cNvPr id="386" name="Connector 385"/>
          <p:cNvCxnSpPr/>
          <p:nvPr/>
        </p:nvCxnSpPr>
        <p:spPr>
          <a:xfrm>
            <a:off x="1014984" y="4005072"/>
            <a:ext cx="0" cy="73152"/>
          </a:xfrm>
          <a:prstGeom prst="line">
            <a:avLst/>
          </a:prstGeom>
          <a:ln w="12700">
            <a:solidFill>
              <a:srgbClr val="DCD4CA"/>
            </a:solidFill>
          </a:ln>
        </p:spPr>
        <p:style>
          <a:lnRef idx="2">
            <a:schemeClr val="accent1"/>
          </a:lnRef>
          <a:fillRef idx="0">
            <a:schemeClr val="accent1"/>
          </a:fillRef>
          <a:effectRef idx="1">
            <a:schemeClr val="accent1"/>
          </a:effectRef>
          <a:fontRef idx="minor">
            <a:schemeClr val="tx1"/>
          </a:fontRef>
        </p:style>
      </p:cxnSp>
      <p:sp>
        <p:nvSpPr>
          <p:cNvPr id="387" name="Rounded Rectangle 386"/>
          <p:cNvSpPr/>
          <p:nvPr/>
        </p:nvSpPr>
        <p:spPr>
          <a:xfrm>
            <a:off x="868680" y="4078224"/>
            <a:ext cx="292608" cy="25603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850" b="1">
                <a:solidFill>
                  <a:srgbClr val="FFFFFF"/>
                </a:solidFill>
                <a:latin typeface="Arial"/>
              </a:rPr>
              <a:t>5</a:t>
            </a:r>
          </a:p>
        </p:txBody>
      </p:sp>
      <p:sp>
        <p:nvSpPr>
          <p:cNvPr id="388" name="TextBox 387"/>
          <p:cNvSpPr txBox="1"/>
          <p:nvPr/>
        </p:nvSpPr>
        <p:spPr>
          <a:xfrm>
            <a:off x="1280160" y="4069080"/>
            <a:ext cx="4526280" cy="274320"/>
          </a:xfrm>
          <a:prstGeom prst="rect">
            <a:avLst/>
          </a:prstGeom>
          <a:noFill/>
        </p:spPr>
        <p:txBody>
          <a:bodyPr wrap="square" lIns="73152" rIns="73152" tIns="27432" bIns="27432">
            <a:spAutoFit/>
          </a:bodyPr>
          <a:lstStyle/>
          <a:p>
            <a:r>
              <a:rPr sz="1040" b="0">
                <a:solidFill>
                  <a:srgbClr val="2E3440"/>
                </a:solidFill>
                <a:latin typeface="Arial"/>
              </a:rPr>
              <a:t>Bestellung abschließen</a:t>
            </a:r>
          </a:p>
        </p:txBody>
      </p:sp>
      <p:cxnSp>
        <p:nvCxnSpPr>
          <p:cNvPr id="389" name="Connector 388"/>
          <p:cNvCxnSpPr/>
          <p:nvPr/>
        </p:nvCxnSpPr>
        <p:spPr>
          <a:xfrm>
            <a:off x="1014984" y="4334256"/>
            <a:ext cx="0" cy="73152"/>
          </a:xfrm>
          <a:prstGeom prst="line">
            <a:avLst/>
          </a:prstGeom>
          <a:ln w="12700">
            <a:solidFill>
              <a:srgbClr val="DCD4CA"/>
            </a:solidFill>
          </a:ln>
        </p:spPr>
        <p:style>
          <a:lnRef idx="2">
            <a:schemeClr val="accent1"/>
          </a:lnRef>
          <a:fillRef idx="0">
            <a:schemeClr val="accent1"/>
          </a:fillRef>
          <a:effectRef idx="1">
            <a:schemeClr val="accent1"/>
          </a:effectRef>
          <a:fontRef idx="minor">
            <a:schemeClr val="tx1"/>
          </a:fontRef>
        </p:style>
      </p:cxnSp>
      <p:sp>
        <p:nvSpPr>
          <p:cNvPr id="390" name="Rounded Rectangle 389"/>
          <p:cNvSpPr/>
          <p:nvPr/>
        </p:nvSpPr>
        <p:spPr>
          <a:xfrm>
            <a:off x="868680" y="4407408"/>
            <a:ext cx="292608" cy="25603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850" b="1">
                <a:solidFill>
                  <a:srgbClr val="FFFFFF"/>
                </a:solidFill>
                <a:latin typeface="Arial"/>
              </a:rPr>
              <a:t>6</a:t>
            </a:r>
          </a:p>
        </p:txBody>
      </p:sp>
      <p:sp>
        <p:nvSpPr>
          <p:cNvPr id="391" name="TextBox 390"/>
          <p:cNvSpPr txBox="1"/>
          <p:nvPr/>
        </p:nvSpPr>
        <p:spPr>
          <a:xfrm>
            <a:off x="1280160" y="4398264"/>
            <a:ext cx="4526280" cy="274320"/>
          </a:xfrm>
          <a:prstGeom prst="rect">
            <a:avLst/>
          </a:prstGeom>
          <a:noFill/>
        </p:spPr>
        <p:txBody>
          <a:bodyPr wrap="square" lIns="73152" rIns="73152" tIns="27432" bIns="27432">
            <a:spAutoFit/>
          </a:bodyPr>
          <a:lstStyle/>
          <a:p>
            <a:r>
              <a:rPr sz="1040" b="0">
                <a:solidFill>
                  <a:srgbClr val="2E3440"/>
                </a:solidFill>
                <a:latin typeface="Arial"/>
              </a:rPr>
              <a:t>Bestellhistorie öffnen</a:t>
            </a:r>
          </a:p>
        </p:txBody>
      </p:sp>
      <p:cxnSp>
        <p:nvCxnSpPr>
          <p:cNvPr id="392" name="Connector 391"/>
          <p:cNvCxnSpPr/>
          <p:nvPr/>
        </p:nvCxnSpPr>
        <p:spPr>
          <a:xfrm>
            <a:off x="1014984" y="4663440"/>
            <a:ext cx="0" cy="73152"/>
          </a:xfrm>
          <a:prstGeom prst="line">
            <a:avLst/>
          </a:prstGeom>
          <a:ln w="12700">
            <a:solidFill>
              <a:srgbClr val="DCD4CA"/>
            </a:solidFill>
          </a:ln>
        </p:spPr>
        <p:style>
          <a:lnRef idx="2">
            <a:schemeClr val="accent1"/>
          </a:lnRef>
          <a:fillRef idx="0">
            <a:schemeClr val="accent1"/>
          </a:fillRef>
          <a:effectRef idx="1">
            <a:schemeClr val="accent1"/>
          </a:effectRef>
          <a:fontRef idx="minor">
            <a:schemeClr val="tx1"/>
          </a:fontRef>
        </p:style>
      </p:cxnSp>
      <p:sp>
        <p:nvSpPr>
          <p:cNvPr id="393" name="Rounded Rectangle 392"/>
          <p:cNvSpPr/>
          <p:nvPr/>
        </p:nvSpPr>
        <p:spPr>
          <a:xfrm>
            <a:off x="868680" y="4736592"/>
            <a:ext cx="292608" cy="25603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850" b="1">
                <a:solidFill>
                  <a:srgbClr val="FFFFFF"/>
                </a:solidFill>
                <a:latin typeface="Arial"/>
              </a:rPr>
              <a:t>7</a:t>
            </a:r>
          </a:p>
        </p:txBody>
      </p:sp>
      <p:sp>
        <p:nvSpPr>
          <p:cNvPr id="394" name="TextBox 393"/>
          <p:cNvSpPr txBox="1"/>
          <p:nvPr/>
        </p:nvSpPr>
        <p:spPr>
          <a:xfrm>
            <a:off x="1280160" y="4727448"/>
            <a:ext cx="4526280" cy="274320"/>
          </a:xfrm>
          <a:prstGeom prst="rect">
            <a:avLst/>
          </a:prstGeom>
          <a:noFill/>
        </p:spPr>
        <p:txBody>
          <a:bodyPr wrap="square" lIns="73152" rIns="73152" tIns="27432" bIns="27432">
            <a:spAutoFit/>
          </a:bodyPr>
          <a:lstStyle/>
          <a:p>
            <a:r>
              <a:rPr sz="1040" b="0">
                <a:solidFill>
                  <a:srgbClr val="2E3440"/>
                </a:solidFill>
                <a:latin typeface="Arial"/>
              </a:rPr>
              <a:t>Rücksendung anfragen</a:t>
            </a:r>
          </a:p>
        </p:txBody>
      </p:sp>
      <p:cxnSp>
        <p:nvCxnSpPr>
          <p:cNvPr id="395" name="Connector 394"/>
          <p:cNvCxnSpPr/>
          <p:nvPr/>
        </p:nvCxnSpPr>
        <p:spPr>
          <a:xfrm>
            <a:off x="1014984" y="4992624"/>
            <a:ext cx="0" cy="73152"/>
          </a:xfrm>
          <a:prstGeom prst="line">
            <a:avLst/>
          </a:prstGeom>
          <a:ln w="12700">
            <a:solidFill>
              <a:srgbClr val="DCD4CA"/>
            </a:solidFill>
          </a:ln>
        </p:spPr>
        <p:style>
          <a:lnRef idx="2">
            <a:schemeClr val="accent1"/>
          </a:lnRef>
          <a:fillRef idx="0">
            <a:schemeClr val="accent1"/>
          </a:fillRef>
          <a:effectRef idx="1">
            <a:schemeClr val="accent1"/>
          </a:effectRef>
          <a:fontRef idx="minor">
            <a:schemeClr val="tx1"/>
          </a:fontRef>
        </p:style>
      </p:cxnSp>
      <p:sp>
        <p:nvSpPr>
          <p:cNvPr id="396" name="Rounded Rectangle 395"/>
          <p:cNvSpPr/>
          <p:nvPr/>
        </p:nvSpPr>
        <p:spPr>
          <a:xfrm>
            <a:off x="868680" y="5065776"/>
            <a:ext cx="292608" cy="25603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850" b="1">
                <a:solidFill>
                  <a:srgbClr val="FFFFFF"/>
                </a:solidFill>
                <a:latin typeface="Arial"/>
              </a:rPr>
              <a:t>8</a:t>
            </a:r>
          </a:p>
        </p:txBody>
      </p:sp>
      <p:sp>
        <p:nvSpPr>
          <p:cNvPr id="397" name="TextBox 396"/>
          <p:cNvSpPr txBox="1"/>
          <p:nvPr/>
        </p:nvSpPr>
        <p:spPr>
          <a:xfrm>
            <a:off x="1280160" y="5056632"/>
            <a:ext cx="4526280" cy="274320"/>
          </a:xfrm>
          <a:prstGeom prst="rect">
            <a:avLst/>
          </a:prstGeom>
          <a:noFill/>
        </p:spPr>
        <p:txBody>
          <a:bodyPr wrap="square" lIns="73152" rIns="73152" tIns="27432" bIns="27432">
            <a:spAutoFit/>
          </a:bodyPr>
          <a:lstStyle/>
          <a:p>
            <a:r>
              <a:rPr sz="1040" b="0">
                <a:solidFill>
                  <a:srgbClr val="2E3440"/>
                </a:solidFill>
                <a:latin typeface="Arial"/>
              </a:rPr>
              <a:t>Mitarbeiterbereich: Rücksendung prüfen</a:t>
            </a:r>
          </a:p>
        </p:txBody>
      </p:sp>
      <p:sp>
        <p:nvSpPr>
          <p:cNvPr id="398" name="TextBox 397"/>
          <p:cNvSpPr txBox="1"/>
          <p:nvPr/>
        </p:nvSpPr>
        <p:spPr>
          <a:xfrm>
            <a:off x="6400800" y="2395728"/>
            <a:ext cx="4389120" cy="274320"/>
          </a:xfrm>
          <a:prstGeom prst="rect">
            <a:avLst/>
          </a:prstGeom>
          <a:noFill/>
        </p:spPr>
        <p:txBody>
          <a:bodyPr wrap="square" lIns="73152" rIns="73152" tIns="27432" bIns="27432">
            <a:spAutoFit/>
          </a:bodyPr>
          <a:lstStyle/>
          <a:p>
            <a:r>
              <a:rPr sz="1400" b="1">
                <a:solidFill>
                  <a:srgbClr val="C8752A"/>
                </a:solidFill>
                <a:latin typeface="Arial"/>
              </a:rPr>
              <a:t>Screenshots einsetzen</a:t>
            </a:r>
          </a:p>
        </p:txBody>
      </p:sp>
      <p:sp>
        <p:nvSpPr>
          <p:cNvPr id="399" name="Rounded Rectangle 398"/>
          <p:cNvSpPr/>
          <p:nvPr/>
        </p:nvSpPr>
        <p:spPr>
          <a:xfrm>
            <a:off x="6400800" y="2761488"/>
            <a:ext cx="1874519" cy="1170432"/>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77716A"/>
                </a:solidFill>
                <a:latin typeface="Arial"/>
              </a:rPr>
              <a:t>Produktübersicht</a:t>
            </a:r>
          </a:p>
          <a:p>
            <a:pPr algn="ctr"/>
            <a:r>
              <a:rPr sz="1100" b="1">
                <a:solidFill>
                  <a:srgbClr val="77716A"/>
                </a:solidFill>
                <a:latin typeface="Arial"/>
              </a:rPr>
              <a:t>Screenshot</a:t>
            </a:r>
          </a:p>
        </p:txBody>
      </p:sp>
      <p:sp>
        <p:nvSpPr>
          <p:cNvPr id="400" name="Rectangle 399"/>
          <p:cNvSpPr/>
          <p:nvPr/>
        </p:nvSpPr>
        <p:spPr>
          <a:xfrm>
            <a:off x="6510528" y="2889504"/>
            <a:ext cx="1655064" cy="658368"/>
          </a:xfrm>
          <a:prstGeom prst="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Rounded Rectangle 400"/>
          <p:cNvSpPr/>
          <p:nvPr/>
        </p:nvSpPr>
        <p:spPr>
          <a:xfrm>
            <a:off x="8549640" y="2761488"/>
            <a:ext cx="1874519" cy="1170432"/>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77716A"/>
                </a:solidFill>
                <a:latin typeface="Arial"/>
              </a:rPr>
              <a:t>Checkout</a:t>
            </a:r>
          </a:p>
          <a:p>
            <a:pPr algn="ctr"/>
            <a:r>
              <a:rPr sz="1100" b="1">
                <a:solidFill>
                  <a:srgbClr val="77716A"/>
                </a:solidFill>
                <a:latin typeface="Arial"/>
              </a:rPr>
              <a:t>Screenshot</a:t>
            </a:r>
          </a:p>
        </p:txBody>
      </p:sp>
      <p:sp>
        <p:nvSpPr>
          <p:cNvPr id="402" name="Rectangle 401"/>
          <p:cNvSpPr/>
          <p:nvPr/>
        </p:nvSpPr>
        <p:spPr>
          <a:xfrm>
            <a:off x="8659367" y="2889504"/>
            <a:ext cx="1655064" cy="658368"/>
          </a:xfrm>
          <a:prstGeom prst="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Rounded Rectangle 402"/>
          <p:cNvSpPr/>
          <p:nvPr/>
        </p:nvSpPr>
        <p:spPr>
          <a:xfrm>
            <a:off x="7479792" y="4407408"/>
            <a:ext cx="1874519" cy="1170432"/>
          </a:xfrm>
          <a:prstGeom prst="roundRect">
            <a:avLst/>
          </a:prstGeom>
          <a:solidFill>
            <a:srgbClr val="FFFFFF"/>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77716A"/>
                </a:solidFill>
                <a:latin typeface="Arial"/>
              </a:rPr>
              <a:t>Mitarbeiterbereich</a:t>
            </a:r>
          </a:p>
          <a:p>
            <a:pPr algn="ctr"/>
            <a:r>
              <a:rPr sz="1100" b="1">
                <a:solidFill>
                  <a:srgbClr val="77716A"/>
                </a:solidFill>
                <a:latin typeface="Arial"/>
              </a:rPr>
              <a:t>Screenshot</a:t>
            </a:r>
          </a:p>
        </p:txBody>
      </p:sp>
      <p:sp>
        <p:nvSpPr>
          <p:cNvPr id="404" name="Rectangle 403"/>
          <p:cNvSpPr/>
          <p:nvPr/>
        </p:nvSpPr>
        <p:spPr>
          <a:xfrm>
            <a:off x="7589519" y="4535424"/>
            <a:ext cx="1655064" cy="658368"/>
          </a:xfrm>
          <a:prstGeom prst="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Rounded Rectangle 404"/>
          <p:cNvSpPr/>
          <p:nvPr/>
        </p:nvSpPr>
        <p:spPr>
          <a:xfrm>
            <a:off x="6400800" y="5532120"/>
            <a:ext cx="4023360" cy="411480"/>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080" b="0">
                <a:solidFill>
                  <a:srgbClr val="2E3440"/>
                </a:solidFill>
                <a:latin typeface="Arial"/>
              </a:rPr>
              <a:t>Backup: Screenshots vorbereiten, falls die Live-Demo technisch hakt.</a:t>
            </a:r>
          </a:p>
        </p:txBody>
      </p:sp>
      <p:sp>
        <p:nvSpPr>
          <p:cNvPr id="406" name="TextBox 405"/>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2"/>
        </a:solidFill>
      </p:bgPr>
    </p:bg>
    <p:spTree>
      <p:nvGrpSpPr>
        <p:cNvPr id="382" name="Shape 382"/>
        <p:cNvGrpSpPr/>
        <p:nvPr/>
      </p:nvGrpSpPr>
      <p:grpSpPr>
        <a:xfrm>
          <a:off x="0" y="0"/>
          <a:ext cx="0" cy="0"/>
          <a:chOff x="0" y="0"/>
          <a:chExt cx="0" cy="0"/>
        </a:xfrm>
      </p:grpSpPr>
      <p:sp>
        <p:nvSpPr>
          <p:cNvPr id="383" name="Google Shape;383;p28"/>
          <p:cNvSpPr/>
          <p:nvPr/>
        </p:nvSpPr>
        <p:spPr>
          <a:xfrm>
            <a:off x="0" y="0"/>
            <a:ext cx="12191695" cy="384048"/>
          </a:xfrm>
          <a:prstGeom prst="rect">
            <a:avLst/>
          </a:prstGeom>
          <a:solidFill>
            <a:srgbClr val="0B0907"/>
          </a:solidFill>
          <a:ln cap="flat" cmpd="sng" w="12700">
            <a:solidFill>
              <a:srgbClr val="0B090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8"/>
          <p:cNvSpPr/>
          <p:nvPr/>
        </p:nvSpPr>
        <p:spPr>
          <a:xfrm>
            <a:off x="621792" y="118872"/>
            <a:ext cx="42976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Arial"/>
              <a:buNone/>
            </a:pPr>
            <a:r>
              <a:rPr b="1" lang="en-US" sz="850">
                <a:solidFill>
                  <a:srgbClr val="FFFFFF"/>
                </a:solidFill>
                <a:latin typeface="Arial"/>
                <a:ea typeface="Arial"/>
                <a:cs typeface="Arial"/>
                <a:sym typeface="Arial"/>
              </a:rPr>
              <a:t>MavaziHub · African Fashion Store</a:t>
            </a:r>
            <a:endParaRPr sz="850">
              <a:solidFill>
                <a:schemeClr val="dk1"/>
              </a:solidFill>
              <a:latin typeface="Arial"/>
              <a:ea typeface="Arial"/>
              <a:cs typeface="Arial"/>
              <a:sym typeface="Arial"/>
            </a:endParaRPr>
          </a:p>
        </p:txBody>
      </p:sp>
      <p:sp>
        <p:nvSpPr>
          <p:cNvPr id="385" name="Google Shape;385;p28"/>
          <p:cNvSpPr/>
          <p:nvPr/>
        </p:nvSpPr>
        <p:spPr>
          <a:xfrm>
            <a:off x="8686800" y="118872"/>
            <a:ext cx="283464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850"/>
              <a:buFont typeface="Arial"/>
              <a:buNone/>
            </a:pPr>
            <a:r>
              <a:rPr lang="en-US" sz="850">
                <a:solidFill>
                  <a:srgbClr val="FFFFFF"/>
                </a:solidFill>
                <a:latin typeface="Arial"/>
                <a:ea typeface="Arial"/>
                <a:cs typeface="Arial"/>
                <a:sym typeface="Arial"/>
              </a:rPr>
              <a:t>L03 Abschlusspräsentation</a:t>
            </a:r>
            <a:endParaRPr sz="850">
              <a:solidFill>
                <a:schemeClr val="dk1"/>
              </a:solidFill>
              <a:latin typeface="Arial"/>
              <a:ea typeface="Arial"/>
              <a:cs typeface="Arial"/>
              <a:sym typeface="Arial"/>
            </a:endParaRPr>
          </a:p>
        </p:txBody>
      </p:sp>
      <p:sp>
        <p:nvSpPr>
          <p:cNvPr id="386" name="Google Shape;386;p28"/>
          <p:cNvSpPr/>
          <p:nvPr/>
        </p:nvSpPr>
        <p:spPr>
          <a:xfrm>
            <a:off x="621792" y="621792"/>
            <a:ext cx="329184" cy="329184"/>
          </a:xfrm>
          <a:prstGeom prst="ellipse">
            <a:avLst/>
          </a:prstGeom>
          <a:solidFill>
            <a:srgbClr val="5B2619"/>
          </a:solidFill>
          <a:ln cap="flat" cmpd="sng" w="12700">
            <a:solidFill>
              <a:srgbClr val="5B26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8"/>
          <p:cNvSpPr/>
          <p:nvPr/>
        </p:nvSpPr>
        <p:spPr>
          <a:xfrm>
            <a:off x="667512" y="717804"/>
            <a:ext cx="237744" cy="91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50"/>
              <a:buFont typeface="Arial"/>
              <a:buNone/>
            </a:pPr>
            <a:r>
              <a:rPr b="1" lang="en-US" sz="650">
                <a:solidFill>
                  <a:srgbClr val="FFFFFF"/>
                </a:solidFill>
                <a:latin typeface="Arial"/>
                <a:ea typeface="Arial"/>
                <a:cs typeface="Arial"/>
                <a:sym typeface="Arial"/>
              </a:rPr>
              <a:t>MH</a:t>
            </a:r>
            <a:endParaRPr sz="650">
              <a:solidFill>
                <a:schemeClr val="dk1"/>
              </a:solidFill>
              <a:latin typeface="Arial"/>
              <a:ea typeface="Arial"/>
              <a:cs typeface="Arial"/>
              <a:sym typeface="Arial"/>
            </a:endParaRPr>
          </a:p>
        </p:txBody>
      </p:sp>
      <p:sp>
        <p:nvSpPr>
          <p:cNvPr id="388" name="Google Shape;388;p28"/>
          <p:cNvSpPr/>
          <p:nvPr/>
        </p:nvSpPr>
        <p:spPr>
          <a:xfrm>
            <a:off x="1024128" y="585216"/>
            <a:ext cx="1920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440"/>
              </a:buClr>
              <a:buSzPts val="1600"/>
              <a:buFont typeface="Arial"/>
              <a:buNone/>
            </a:pPr>
            <a:r>
              <a:rPr b="1" lang="en-US" sz="1600">
                <a:solidFill>
                  <a:srgbClr val="2E3440"/>
                </a:solidFill>
                <a:latin typeface="Arial"/>
                <a:ea typeface="Arial"/>
                <a:cs typeface="Arial"/>
                <a:sym typeface="Arial"/>
              </a:rPr>
              <a:t>MavaziHub</a:t>
            </a:r>
            <a:endParaRPr sz="1600">
              <a:solidFill>
                <a:schemeClr val="dk1"/>
              </a:solidFill>
              <a:latin typeface="Arial"/>
              <a:ea typeface="Arial"/>
              <a:cs typeface="Arial"/>
              <a:sym typeface="Arial"/>
            </a:endParaRPr>
          </a:p>
        </p:txBody>
      </p:sp>
      <p:sp>
        <p:nvSpPr>
          <p:cNvPr id="389" name="Google Shape;389;p28"/>
          <p:cNvSpPr/>
          <p:nvPr/>
        </p:nvSpPr>
        <p:spPr>
          <a:xfrm>
            <a:off x="1024128" y="877824"/>
            <a:ext cx="2011680"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752A"/>
              </a:buClr>
              <a:buSzPts val="650"/>
              <a:buFont typeface="Arial"/>
              <a:buNone/>
            </a:pPr>
            <a:r>
              <a:rPr b="1" lang="en-US" sz="650">
                <a:solidFill>
                  <a:srgbClr val="C8752A"/>
                </a:solidFill>
                <a:latin typeface="Arial"/>
                <a:ea typeface="Arial"/>
                <a:cs typeface="Arial"/>
                <a:sym typeface="Arial"/>
              </a:rPr>
              <a:t>African Fashion Store</a:t>
            </a:r>
            <a:endParaRPr sz="650">
              <a:solidFill>
                <a:schemeClr val="dk1"/>
              </a:solidFill>
              <a:latin typeface="Arial"/>
              <a:ea typeface="Arial"/>
              <a:cs typeface="Arial"/>
              <a:sym typeface="Arial"/>
            </a:endParaRPr>
          </a:p>
        </p:txBody>
      </p:sp>
      <p:sp>
        <p:nvSpPr>
          <p:cNvPr id="391" name="Google Shape;391;p28"/>
          <p:cNvSpPr/>
          <p:nvPr/>
        </p:nvSpPr>
        <p:spPr>
          <a:xfrm>
            <a:off x="713232" y="1243584"/>
            <a:ext cx="6675120" cy="493776"/>
          </a:xfrm>
          <a:prstGeom prst="rect">
            <a:avLst/>
          </a:prstGeom>
          <a:noFill/>
          <a:ln>
            <a:noFill/>
          </a:ln>
        </p:spPr>
        <p:txBody>
          <a:bodyPr anchorCtr="0" anchor="ctr" bIns="27432" lIns="73152" spcFirstLastPara="1" rIns="73152" wrap="square" tIns="27432">
            <a:noAutofit/>
          </a:bodyPr>
          <a:lstStyle/>
          <a:p>
            <a:r>
              <a:rPr sz="2700" b="1">
                <a:solidFill>
                  <a:srgbClr val="2E3440"/>
                </a:solidFill>
                <a:latin typeface="Arial"/>
              </a:rPr>
              <a:t>Ausblick &amp; Fazit</a:t>
            </a:r>
          </a:p>
        </p:txBody>
      </p:sp>
      <p:sp>
        <p:nvSpPr>
          <p:cNvPr id="392" name="Google Shape;392;p28"/>
          <p:cNvSpPr/>
          <p:nvPr/>
        </p:nvSpPr>
        <p:spPr>
          <a:xfrm>
            <a:off x="713232" y="1847088"/>
            <a:ext cx="6675120" cy="329184"/>
          </a:xfrm>
          <a:prstGeom prst="rect">
            <a:avLst/>
          </a:prstGeom>
          <a:noFill/>
          <a:ln>
            <a:noFill/>
          </a:ln>
        </p:spPr>
        <p:txBody>
          <a:bodyPr anchorCtr="0" anchor="ctr" bIns="27432" lIns="73152" spcFirstLastPara="1" rIns="73152" wrap="square" tIns="27432">
            <a:noAutofit/>
          </a:bodyPr>
          <a:lstStyle/>
          <a:p>
            <a:r>
              <a:rPr sz="1150" b="0">
                <a:solidFill>
                  <a:srgbClr val="77716A"/>
                </a:solidFill>
                <a:latin typeface="Arial"/>
              </a:rPr>
              <a:t>Was bereits steht und wie MavaziHub weiterentwickelt werden kann</a:t>
            </a:r>
          </a:p>
        </p:txBody>
      </p:sp>
      <p:sp>
        <p:nvSpPr>
          <p:cNvPr id="394" name="Google Shape;394;p28"/>
          <p:cNvSpPr/>
          <p:nvPr/>
        </p:nvSpPr>
        <p:spPr>
          <a:xfrm>
            <a:off x="8823960" y="694944"/>
            <a:ext cx="2651760" cy="310896"/>
          </a:xfrm>
          <a:prstGeom prst="roundRect">
            <a:avLst>
              <a:gd fmla="val 11765" name="adj"/>
            </a:avLst>
          </a:prstGeom>
          <a:solidFill>
            <a:srgbClr val="FFFDF8"/>
          </a:solidFill>
          <a:ln cap="flat" cmpd="sng" w="9525">
            <a:solidFill>
              <a:srgbClr val="E7DD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8"/>
          <p:cNvSpPr/>
          <p:nvPr/>
        </p:nvSpPr>
        <p:spPr>
          <a:xfrm>
            <a:off x="8961120" y="786384"/>
            <a:ext cx="2377440" cy="91440"/>
          </a:xfrm>
          <a:prstGeom prst="rect">
            <a:avLst/>
          </a:prstGeom>
          <a:noFill/>
          <a:ln>
            <a:noFill/>
          </a:ln>
        </p:spPr>
        <p:txBody>
          <a:bodyPr anchorCtr="0" anchor="ctr" bIns="27432" lIns="73152" spcFirstLastPara="1" rIns="73152" wrap="square" tIns="27432">
            <a:noAutofit/>
          </a:bodyPr>
          <a:lstStyle/>
          <a:p>
            <a:pPr algn="r"/>
            <a:r>
              <a:rPr sz="750" b="0">
                <a:solidFill>
                  <a:srgbClr val="77716A"/>
                </a:solidFill>
                <a:latin typeface="Arial"/>
              </a:rPr>
              <a:t>Verantwortlich: Person 3</a:t>
            </a:r>
          </a:p>
        </p:txBody>
      </p:sp>
      <p:sp>
        <p:nvSpPr>
          <p:cNvPr id="397" name="TextBox 396"/>
          <p:cNvSpPr txBox="1"/>
          <p:nvPr/>
        </p:nvSpPr>
        <p:spPr>
          <a:xfrm>
            <a:off x="868680" y="2377440"/>
            <a:ext cx="4389120" cy="274320"/>
          </a:xfrm>
          <a:prstGeom prst="rect">
            <a:avLst/>
          </a:prstGeom>
          <a:noFill/>
        </p:spPr>
        <p:txBody>
          <a:bodyPr wrap="square" lIns="73152" rIns="73152" tIns="27432" bIns="27432">
            <a:spAutoFit/>
          </a:bodyPr>
          <a:lstStyle/>
          <a:p>
            <a:r>
              <a:rPr sz="1400" b="1">
                <a:solidFill>
                  <a:srgbClr val="C8752A"/>
                </a:solidFill>
                <a:latin typeface="Arial"/>
              </a:rPr>
              <a:t>Roadmap</a:t>
            </a:r>
          </a:p>
        </p:txBody>
      </p:sp>
      <p:sp>
        <p:nvSpPr>
          <p:cNvPr id="398" name="Rounded Rectangle 397"/>
          <p:cNvSpPr/>
          <p:nvPr/>
        </p:nvSpPr>
        <p:spPr>
          <a:xfrm>
            <a:off x="868680" y="2880360"/>
            <a:ext cx="2514600" cy="804672"/>
          </a:xfrm>
          <a:prstGeom prst="roundRect">
            <a:avLst/>
          </a:prstGeom>
          <a:solidFill>
            <a:srgbClr val="E0EEE5"/>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19" b="0">
                <a:solidFill>
                  <a:srgbClr val="2E3440"/>
                </a:solidFill>
                <a:latin typeface="Arial"/>
              </a:rPr>
              <a:t>MVP heute</a:t>
            </a:r>
          </a:p>
          <a:p>
            <a:pPr algn="ctr"/>
            <a:r>
              <a:rPr sz="1019" b="0">
                <a:solidFill>
                  <a:srgbClr val="2E3440"/>
                </a:solidFill>
                <a:latin typeface="Arial"/>
              </a:rPr>
              <a:t>Produkte, Login, Warenkorb, Bestellung, Rücksendung</a:t>
            </a:r>
          </a:p>
        </p:txBody>
      </p:sp>
      <p:cxnSp>
        <p:nvCxnSpPr>
          <p:cNvPr id="399" name="Connector 398"/>
          <p:cNvCxnSpPr/>
          <p:nvPr/>
        </p:nvCxnSpPr>
        <p:spPr>
          <a:xfrm>
            <a:off x="3383280" y="3282696"/>
            <a:ext cx="777240" cy="0"/>
          </a:xfrm>
          <a:prstGeom prst="line">
            <a:avLst/>
          </a:prstGeom>
          <a:ln w="2286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400" name="Rounded Rectangle 399"/>
          <p:cNvSpPr/>
          <p:nvPr/>
        </p:nvSpPr>
        <p:spPr>
          <a:xfrm>
            <a:off x="4160520" y="2880360"/>
            <a:ext cx="2514600" cy="804672"/>
          </a:xfrm>
          <a:prstGeom prst="roundRect">
            <a:avLst/>
          </a:prstGeom>
          <a:solidFill>
            <a:srgbClr val="F2E2D3"/>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19" b="0">
                <a:solidFill>
                  <a:srgbClr val="2E3440"/>
                </a:solidFill>
                <a:latin typeface="Arial"/>
              </a:rPr>
              <a:t>Shop-Ausbau</a:t>
            </a:r>
          </a:p>
          <a:p>
            <a:pPr algn="ctr"/>
            <a:r>
              <a:rPr sz="1019" b="0">
                <a:solidFill>
                  <a:srgbClr val="2E3440"/>
                </a:solidFill>
                <a:latin typeface="Arial"/>
              </a:rPr>
              <a:t>Zahlung, Versandlabel, bessere Suche, Produktbilder</a:t>
            </a:r>
          </a:p>
        </p:txBody>
      </p:sp>
      <p:cxnSp>
        <p:nvCxnSpPr>
          <p:cNvPr id="401" name="Connector 400"/>
          <p:cNvCxnSpPr/>
          <p:nvPr/>
        </p:nvCxnSpPr>
        <p:spPr>
          <a:xfrm>
            <a:off x="6675120" y="3282696"/>
            <a:ext cx="777240" cy="0"/>
          </a:xfrm>
          <a:prstGeom prst="line">
            <a:avLst/>
          </a:prstGeom>
          <a:ln w="22860">
            <a:solidFill>
              <a:srgbClr val="C8752A"/>
            </a:solidFill>
            <a:headEnd type="triangle"/>
          </a:ln>
        </p:spPr>
        <p:style>
          <a:lnRef idx="2">
            <a:schemeClr val="accent1"/>
          </a:lnRef>
          <a:fillRef idx="0">
            <a:schemeClr val="accent1"/>
          </a:fillRef>
          <a:effectRef idx="1">
            <a:schemeClr val="accent1"/>
          </a:effectRef>
          <a:fontRef idx="minor">
            <a:schemeClr val="tx1"/>
          </a:fontRef>
        </p:style>
      </p:cxnSp>
      <p:sp>
        <p:nvSpPr>
          <p:cNvPr id="402" name="Rounded Rectangle 401"/>
          <p:cNvSpPr/>
          <p:nvPr/>
        </p:nvSpPr>
        <p:spPr>
          <a:xfrm>
            <a:off x="7452360" y="2880360"/>
            <a:ext cx="2514600" cy="804672"/>
          </a:xfrm>
          <a:prstGeom prst="roundRect">
            <a:avLst/>
          </a:prstGeom>
          <a:solidFill>
            <a:srgbClr val="E5EBF4"/>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19" b="0">
                <a:solidFill>
                  <a:srgbClr val="2E3440"/>
                </a:solidFill>
                <a:latin typeface="Arial"/>
              </a:rPr>
              <a:t>Produktiver Betrieb</a:t>
            </a:r>
          </a:p>
          <a:p>
            <a:pPr algn="ctr"/>
            <a:r>
              <a:rPr sz="1019" b="0">
                <a:solidFill>
                  <a:srgbClr val="2E3440"/>
                </a:solidFill>
                <a:latin typeface="Arial"/>
              </a:rPr>
              <a:t>Cloud-Deployment, Monitoring, Reporting</a:t>
            </a:r>
          </a:p>
        </p:txBody>
      </p:sp>
      <p:sp>
        <p:nvSpPr>
          <p:cNvPr id="403" name="TextBox 402"/>
          <p:cNvSpPr txBox="1"/>
          <p:nvPr/>
        </p:nvSpPr>
        <p:spPr>
          <a:xfrm>
            <a:off x="868680" y="4224528"/>
            <a:ext cx="4389120" cy="274320"/>
          </a:xfrm>
          <a:prstGeom prst="rect">
            <a:avLst/>
          </a:prstGeom>
          <a:noFill/>
        </p:spPr>
        <p:txBody>
          <a:bodyPr wrap="square" lIns="73152" rIns="73152" tIns="27432" bIns="27432">
            <a:spAutoFit/>
          </a:bodyPr>
          <a:lstStyle/>
          <a:p>
            <a:r>
              <a:rPr sz="1400" b="1">
                <a:solidFill>
                  <a:srgbClr val="C8752A"/>
                </a:solidFill>
                <a:latin typeface="Arial"/>
              </a:rPr>
              <a:t>Nächste sinnvolle Investitionen</a:t>
            </a:r>
          </a:p>
        </p:txBody>
      </p:sp>
      <p:sp>
        <p:nvSpPr>
          <p:cNvPr id="404" name="Rounded Rectangle 403"/>
          <p:cNvSpPr/>
          <p:nvPr/>
        </p:nvSpPr>
        <p:spPr>
          <a:xfrm>
            <a:off x="868680" y="4590288"/>
            <a:ext cx="164592" cy="16459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TextBox 404"/>
          <p:cNvSpPr txBox="1"/>
          <p:nvPr/>
        </p:nvSpPr>
        <p:spPr>
          <a:xfrm>
            <a:off x="1170432" y="4535424"/>
            <a:ext cx="4572000" cy="256032"/>
          </a:xfrm>
          <a:prstGeom prst="rect">
            <a:avLst/>
          </a:prstGeom>
          <a:noFill/>
        </p:spPr>
        <p:txBody>
          <a:bodyPr wrap="square" lIns="73152" rIns="73152" tIns="27432" bIns="27432">
            <a:spAutoFit/>
          </a:bodyPr>
          <a:lstStyle/>
          <a:p>
            <a:r>
              <a:rPr sz="1010" b="0">
                <a:solidFill>
                  <a:srgbClr val="2E3440"/>
                </a:solidFill>
                <a:latin typeface="Arial"/>
              </a:rPr>
              <a:t>Zahlungs- und Versandprozess vollständig integrieren</a:t>
            </a:r>
          </a:p>
        </p:txBody>
      </p:sp>
      <p:sp>
        <p:nvSpPr>
          <p:cNvPr id="406" name="Rounded Rectangle 405"/>
          <p:cNvSpPr/>
          <p:nvPr/>
        </p:nvSpPr>
        <p:spPr>
          <a:xfrm>
            <a:off x="868680" y="4901183"/>
            <a:ext cx="164592" cy="16459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TextBox 406"/>
          <p:cNvSpPr txBox="1"/>
          <p:nvPr/>
        </p:nvSpPr>
        <p:spPr>
          <a:xfrm>
            <a:off x="1170432" y="4846320"/>
            <a:ext cx="4572000" cy="256032"/>
          </a:xfrm>
          <a:prstGeom prst="rect">
            <a:avLst/>
          </a:prstGeom>
          <a:noFill/>
        </p:spPr>
        <p:txBody>
          <a:bodyPr wrap="square" lIns="73152" rIns="73152" tIns="27432" bIns="27432">
            <a:spAutoFit/>
          </a:bodyPr>
          <a:lstStyle/>
          <a:p>
            <a:r>
              <a:rPr sz="1010" b="0">
                <a:solidFill>
                  <a:srgbClr val="2E3440"/>
                </a:solidFill>
                <a:latin typeface="Arial"/>
              </a:rPr>
              <a:t>Admin-Dashboard für operative Steuerung ausbauen</a:t>
            </a:r>
          </a:p>
        </p:txBody>
      </p:sp>
      <p:sp>
        <p:nvSpPr>
          <p:cNvPr id="408" name="Rounded Rectangle 407"/>
          <p:cNvSpPr/>
          <p:nvPr/>
        </p:nvSpPr>
        <p:spPr>
          <a:xfrm>
            <a:off x="868680" y="5212079"/>
            <a:ext cx="164592" cy="16459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TextBox 408"/>
          <p:cNvSpPr txBox="1"/>
          <p:nvPr/>
        </p:nvSpPr>
        <p:spPr>
          <a:xfrm>
            <a:off x="1170432" y="5157216"/>
            <a:ext cx="4572000" cy="256032"/>
          </a:xfrm>
          <a:prstGeom prst="rect">
            <a:avLst/>
          </a:prstGeom>
          <a:noFill/>
        </p:spPr>
        <p:txBody>
          <a:bodyPr wrap="square" lIns="73152" rIns="73152" tIns="27432" bIns="27432">
            <a:spAutoFit/>
          </a:bodyPr>
          <a:lstStyle/>
          <a:p>
            <a:r>
              <a:rPr sz="1010" b="0">
                <a:solidFill>
                  <a:srgbClr val="2E3440"/>
                </a:solidFill>
                <a:latin typeface="Arial"/>
              </a:rPr>
              <a:t>Produktvarianten, Bilder und Lagerprozesse verfeinern</a:t>
            </a:r>
          </a:p>
        </p:txBody>
      </p:sp>
      <p:sp>
        <p:nvSpPr>
          <p:cNvPr id="410" name="Rounded Rectangle 409"/>
          <p:cNvSpPr/>
          <p:nvPr/>
        </p:nvSpPr>
        <p:spPr>
          <a:xfrm>
            <a:off x="868680" y="5522975"/>
            <a:ext cx="164592" cy="164592"/>
          </a:xfrm>
          <a:prstGeom prst="roundRect">
            <a:avLst/>
          </a:prstGeom>
          <a:solidFill>
            <a:srgbClr val="C8752A"/>
          </a:solidFill>
          <a:ln w="12700">
            <a:solidFill>
              <a:srgbClr val="C8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TextBox 410"/>
          <p:cNvSpPr txBox="1"/>
          <p:nvPr/>
        </p:nvSpPr>
        <p:spPr>
          <a:xfrm>
            <a:off x="1170432" y="5468112"/>
            <a:ext cx="4572000" cy="256032"/>
          </a:xfrm>
          <a:prstGeom prst="rect">
            <a:avLst/>
          </a:prstGeom>
          <a:noFill/>
        </p:spPr>
        <p:txBody>
          <a:bodyPr wrap="square" lIns="73152" rIns="73152" tIns="27432" bIns="27432">
            <a:spAutoFit/>
          </a:bodyPr>
          <a:lstStyle/>
          <a:p>
            <a:r>
              <a:rPr sz="1010" b="0">
                <a:solidFill>
                  <a:srgbClr val="2E3440"/>
                </a:solidFill>
                <a:latin typeface="Arial"/>
              </a:rPr>
              <a:t>Reporting für Verkäufe, Retouren und Kundenverhalten ergänzen</a:t>
            </a:r>
          </a:p>
        </p:txBody>
      </p:sp>
      <p:sp>
        <p:nvSpPr>
          <p:cNvPr id="412" name="TextBox 411"/>
          <p:cNvSpPr txBox="1"/>
          <p:nvPr/>
        </p:nvSpPr>
        <p:spPr>
          <a:xfrm>
            <a:off x="6400800" y="4224528"/>
            <a:ext cx="4389120" cy="274320"/>
          </a:xfrm>
          <a:prstGeom prst="rect">
            <a:avLst/>
          </a:prstGeom>
          <a:noFill/>
        </p:spPr>
        <p:txBody>
          <a:bodyPr wrap="square" lIns="73152" rIns="73152" tIns="27432" bIns="27432">
            <a:spAutoFit/>
          </a:bodyPr>
          <a:lstStyle/>
          <a:p>
            <a:r>
              <a:rPr sz="1400" b="1">
                <a:solidFill>
                  <a:srgbClr val="C8752A"/>
                </a:solidFill>
                <a:latin typeface="Arial"/>
              </a:rPr>
              <a:t>Fazit</a:t>
            </a:r>
          </a:p>
        </p:txBody>
      </p:sp>
      <p:sp>
        <p:nvSpPr>
          <p:cNvPr id="413" name="Rounded Rectangle 412"/>
          <p:cNvSpPr/>
          <p:nvPr/>
        </p:nvSpPr>
        <p:spPr>
          <a:xfrm>
            <a:off x="6400800" y="4590288"/>
            <a:ext cx="4069080" cy="1078992"/>
          </a:xfrm>
          <a:prstGeom prst="roundRect">
            <a:avLst/>
          </a:prstGeom>
          <a:solidFill>
            <a:srgbClr val="F8F5F1"/>
          </a:solidFill>
          <a:ln w="12700">
            <a:solidFill>
              <a:srgbClr val="DCD4C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500" b="1">
                <a:solidFill>
                  <a:srgbClr val="2E3440"/>
                </a:solidFill>
                <a:latin typeface="Arial"/>
              </a:rPr>
              <a:t>MavaziHub zeigt, dass der digitale Vertrieb von Tamu Fashion realistisch umsetzbar ist.</a:t>
            </a:r>
          </a:p>
        </p:txBody>
      </p:sp>
      <p:sp>
        <p:nvSpPr>
          <p:cNvPr id="414" name="TextBox 413"/>
          <p:cNvSpPr txBox="1"/>
          <p:nvPr/>
        </p:nvSpPr>
        <p:spPr>
          <a:xfrm>
            <a:off x="6537960" y="5742432"/>
            <a:ext cx="3703320" cy="402336"/>
          </a:xfrm>
          <a:prstGeom prst="rect">
            <a:avLst/>
          </a:prstGeom>
          <a:noFill/>
        </p:spPr>
        <p:txBody>
          <a:bodyPr wrap="square" lIns="73152" rIns="73152" tIns="27432" bIns="27432">
            <a:spAutoFit/>
          </a:bodyPr>
          <a:lstStyle/>
          <a:p>
            <a:pPr algn="ctr"/>
            <a:r>
              <a:rPr sz="1019" b="0">
                <a:solidFill>
                  <a:srgbClr val="77716A"/>
                </a:solidFill>
                <a:latin typeface="Arial"/>
              </a:rPr>
              <a:t>Der MVP schafft eine Grundlage für Investitionen in Wachstum, Automatisierung und professionellen Online-Handel.</a:t>
            </a:r>
          </a:p>
        </p:txBody>
      </p:sp>
      <p:sp>
        <p:nvSpPr>
          <p:cNvPr id="415" name="TextBox 414"/>
          <p:cNvSpPr txBox="1"/>
          <p:nvPr/>
        </p:nvSpPr>
        <p:spPr>
          <a:xfrm>
            <a:off x="11109960" y="6355080"/>
            <a:ext cx="548640" cy="201168"/>
          </a:xfrm>
          <a:prstGeom prst="rect">
            <a:avLst/>
          </a:prstGeom>
          <a:noFill/>
        </p:spPr>
        <p:txBody>
          <a:bodyPr wrap="square" lIns="73152" rIns="73152" tIns="27432" bIns="27432">
            <a:spAutoFit/>
          </a:bodyPr>
          <a:lstStyle/>
          <a:p>
            <a:pPr algn="ctr"/>
            <a:r>
              <a:rPr sz="850" b="0">
                <a:solidFill>
                  <a:srgbClr val="77716A"/>
                </a:solidFill>
                <a:latin typeface="Arial"/>
              </a:rPr>
              <a:t>14</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